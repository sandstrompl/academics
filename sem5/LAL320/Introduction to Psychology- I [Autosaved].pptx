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6" r:id="rId2"/>
    <p:sldId id="257" r:id="rId3"/>
    <p:sldId id="258" r:id="rId4"/>
    <p:sldId id="259" r:id="rId5"/>
    <p:sldId id="260" r:id="rId6"/>
    <p:sldId id="267" r:id="rId7"/>
    <p:sldId id="268" r:id="rId8"/>
    <p:sldId id="261" r:id="rId9"/>
    <p:sldId id="262" r:id="rId10"/>
    <p:sldId id="263" r:id="rId11"/>
    <p:sldId id="274" r:id="rId12"/>
    <p:sldId id="264" r:id="rId13"/>
    <p:sldId id="265" r:id="rId14"/>
    <p:sldId id="266" r:id="rId15"/>
    <p:sldId id="271" r:id="rId16"/>
    <p:sldId id="269" r:id="rId17"/>
    <p:sldId id="270" r:id="rId18"/>
    <p:sldId id="272" r:id="rId19"/>
    <p:sldId id="275" r:id="rId20"/>
    <p:sldId id="273" r:id="rId21"/>
    <p:sldId id="277" r:id="rId22"/>
    <p:sldId id="276" r:id="rId23"/>
    <p:sldId id="278" r:id="rId24"/>
    <p:sldId id="279" r:id="rId25"/>
    <p:sldId id="280" r:id="rId26"/>
    <p:sldId id="281" r:id="rId27"/>
    <p:sldId id="282" r:id="rId28"/>
    <p:sldId id="283" r:id="rId29"/>
    <p:sldId id="284" r:id="rId30"/>
    <p:sldId id="289" r:id="rId31"/>
    <p:sldId id="286" r:id="rId32"/>
    <p:sldId id="287" r:id="rId33"/>
    <p:sldId id="288" r:id="rId34"/>
    <p:sldId id="285" r:id="rId35"/>
    <p:sldId id="290" r:id="rId36"/>
    <p:sldId id="354" r:id="rId37"/>
    <p:sldId id="355" r:id="rId38"/>
    <p:sldId id="311" r:id="rId39"/>
    <p:sldId id="316" r:id="rId40"/>
    <p:sldId id="353" r:id="rId41"/>
    <p:sldId id="357" r:id="rId42"/>
    <p:sldId id="359" r:id="rId43"/>
    <p:sldId id="358" r:id="rId44"/>
    <p:sldId id="360" r:id="rId45"/>
    <p:sldId id="361" r:id="rId46"/>
    <p:sldId id="362" r:id="rId47"/>
    <p:sldId id="366" r:id="rId48"/>
    <p:sldId id="363" r:id="rId49"/>
    <p:sldId id="364" r:id="rId50"/>
    <p:sldId id="365" r:id="rId51"/>
    <p:sldId id="343" r:id="rId52"/>
    <p:sldId id="367" r:id="rId53"/>
    <p:sldId id="368" r:id="rId54"/>
    <p:sldId id="369" r:id="rId55"/>
    <p:sldId id="371" r:id="rId56"/>
    <p:sldId id="372" r:id="rId57"/>
    <p:sldId id="370" r:id="rId58"/>
    <p:sldId id="373" r:id="rId59"/>
    <p:sldId id="377" r:id="rId60"/>
    <p:sldId id="376" r:id="rId61"/>
    <p:sldId id="318" r:id="rId62"/>
    <p:sldId id="375" r:id="rId63"/>
    <p:sldId id="374"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0A91A-B081-454E-B216-0E3755904A12}"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3FFDB430-19AA-44B2-BD17-EAC7C82DB389}">
      <dgm:prSet/>
      <dgm:spPr/>
      <dgm:t>
        <a:bodyPr/>
        <a:lstStyle/>
        <a:p>
          <a:r>
            <a:rPr lang="en-IN" b="1"/>
            <a:t>Emotional expression is mostly same in all members of a particular species</a:t>
          </a:r>
          <a:endParaRPr lang="en-US"/>
        </a:p>
      </dgm:t>
    </dgm:pt>
    <dgm:pt modelId="{335D84A3-314F-4A32-B843-5D23FAA3E7A6}" type="parTrans" cxnId="{D242B68F-842A-4C33-995E-6CE556DF08B4}">
      <dgm:prSet/>
      <dgm:spPr/>
      <dgm:t>
        <a:bodyPr/>
        <a:lstStyle/>
        <a:p>
          <a:endParaRPr lang="en-US"/>
        </a:p>
      </dgm:t>
    </dgm:pt>
    <dgm:pt modelId="{39B022EF-C8C8-4708-9997-581E5A7237B7}" type="sibTrans" cxnId="{D242B68F-842A-4C33-995E-6CE556DF08B4}">
      <dgm:prSet/>
      <dgm:spPr/>
      <dgm:t>
        <a:bodyPr/>
        <a:lstStyle/>
        <a:p>
          <a:endParaRPr lang="en-US"/>
        </a:p>
      </dgm:t>
    </dgm:pt>
    <dgm:pt modelId="{D5B9884E-6A53-4DB8-9ADD-A1CC4A685695}">
      <dgm:prSet/>
      <dgm:spPr/>
      <dgm:t>
        <a:bodyPr/>
        <a:lstStyle/>
        <a:p>
          <a:r>
            <a:rPr lang="en-IN"/>
            <a:t>Crucial for  social interactions of species members</a:t>
          </a:r>
          <a:endParaRPr lang="en-US"/>
        </a:p>
      </dgm:t>
    </dgm:pt>
    <dgm:pt modelId="{F5A5E406-5A6F-49A4-BACF-623FB5495221}" type="parTrans" cxnId="{0E56D57C-6870-488B-AB55-C7E719D1AA49}">
      <dgm:prSet/>
      <dgm:spPr/>
      <dgm:t>
        <a:bodyPr/>
        <a:lstStyle/>
        <a:p>
          <a:endParaRPr lang="en-US"/>
        </a:p>
      </dgm:t>
    </dgm:pt>
    <dgm:pt modelId="{7DB0AB05-47C0-4458-B8C9-C71E584C801F}" type="sibTrans" cxnId="{0E56D57C-6870-488B-AB55-C7E719D1AA49}">
      <dgm:prSet/>
      <dgm:spPr/>
      <dgm:t>
        <a:bodyPr/>
        <a:lstStyle/>
        <a:p>
          <a:endParaRPr lang="en-US"/>
        </a:p>
      </dgm:t>
    </dgm:pt>
    <dgm:pt modelId="{74618520-FABA-42B3-9DBD-4AA2F04D9EC2}">
      <dgm:prSet/>
      <dgm:spPr/>
      <dgm:t>
        <a:bodyPr/>
        <a:lstStyle/>
        <a:p>
          <a:r>
            <a:rPr lang="en-IN"/>
            <a:t>Among humans it provides signals about other animal’s or person’s emotional state and consequently behaviour that may be forthcoming </a:t>
          </a:r>
          <a:endParaRPr lang="en-US"/>
        </a:p>
      </dgm:t>
    </dgm:pt>
    <dgm:pt modelId="{1261D0E5-15BC-47BE-A07E-D79A0E23C9AC}" type="parTrans" cxnId="{4A208297-D34C-4F4B-A11C-6337044A566B}">
      <dgm:prSet/>
      <dgm:spPr/>
      <dgm:t>
        <a:bodyPr/>
        <a:lstStyle/>
        <a:p>
          <a:endParaRPr lang="en-US"/>
        </a:p>
      </dgm:t>
    </dgm:pt>
    <dgm:pt modelId="{3AF4AC8A-6058-4313-96C5-55557685F3EC}" type="sibTrans" cxnId="{4A208297-D34C-4F4B-A11C-6337044A566B}">
      <dgm:prSet/>
      <dgm:spPr/>
      <dgm:t>
        <a:bodyPr/>
        <a:lstStyle/>
        <a:p>
          <a:endParaRPr lang="en-US"/>
        </a:p>
      </dgm:t>
    </dgm:pt>
    <dgm:pt modelId="{41A79554-7300-41D8-B2AD-EFF142F09819}" type="pres">
      <dgm:prSet presAssocID="{F7A0A91A-B081-454E-B216-0E3755904A12}" presName="linear" presStyleCnt="0">
        <dgm:presLayoutVars>
          <dgm:animLvl val="lvl"/>
          <dgm:resizeHandles val="exact"/>
        </dgm:presLayoutVars>
      </dgm:prSet>
      <dgm:spPr/>
    </dgm:pt>
    <dgm:pt modelId="{A8A33EAA-2B00-4403-A66B-262EC34D8E14}" type="pres">
      <dgm:prSet presAssocID="{3FFDB430-19AA-44B2-BD17-EAC7C82DB389}" presName="parentText" presStyleLbl="node1" presStyleIdx="0" presStyleCnt="1">
        <dgm:presLayoutVars>
          <dgm:chMax val="0"/>
          <dgm:bulletEnabled val="1"/>
        </dgm:presLayoutVars>
      </dgm:prSet>
      <dgm:spPr/>
    </dgm:pt>
    <dgm:pt modelId="{808224C0-A8A0-461F-88B2-DC07753EB88D}" type="pres">
      <dgm:prSet presAssocID="{3FFDB430-19AA-44B2-BD17-EAC7C82DB389}" presName="childText" presStyleLbl="revTx" presStyleIdx="0" presStyleCnt="1">
        <dgm:presLayoutVars>
          <dgm:bulletEnabled val="1"/>
        </dgm:presLayoutVars>
      </dgm:prSet>
      <dgm:spPr/>
    </dgm:pt>
  </dgm:ptLst>
  <dgm:cxnLst>
    <dgm:cxn modelId="{AFF21218-C973-495A-9361-C8823460EABE}" type="presOf" srcId="{D5B9884E-6A53-4DB8-9ADD-A1CC4A685695}" destId="{808224C0-A8A0-461F-88B2-DC07753EB88D}" srcOrd="0" destOrd="0" presId="urn:microsoft.com/office/officeart/2005/8/layout/vList2"/>
    <dgm:cxn modelId="{C4A6F778-9953-426D-A9BF-093B196AC548}" type="presOf" srcId="{F7A0A91A-B081-454E-B216-0E3755904A12}" destId="{41A79554-7300-41D8-B2AD-EFF142F09819}" srcOrd="0" destOrd="0" presId="urn:microsoft.com/office/officeart/2005/8/layout/vList2"/>
    <dgm:cxn modelId="{0E56D57C-6870-488B-AB55-C7E719D1AA49}" srcId="{3FFDB430-19AA-44B2-BD17-EAC7C82DB389}" destId="{D5B9884E-6A53-4DB8-9ADD-A1CC4A685695}" srcOrd="0" destOrd="0" parTransId="{F5A5E406-5A6F-49A4-BACF-623FB5495221}" sibTransId="{7DB0AB05-47C0-4458-B8C9-C71E584C801F}"/>
    <dgm:cxn modelId="{D242B68F-842A-4C33-995E-6CE556DF08B4}" srcId="{F7A0A91A-B081-454E-B216-0E3755904A12}" destId="{3FFDB430-19AA-44B2-BD17-EAC7C82DB389}" srcOrd="0" destOrd="0" parTransId="{335D84A3-314F-4A32-B843-5D23FAA3E7A6}" sibTransId="{39B022EF-C8C8-4708-9997-581E5A7237B7}"/>
    <dgm:cxn modelId="{4A208297-D34C-4F4B-A11C-6337044A566B}" srcId="{3FFDB430-19AA-44B2-BD17-EAC7C82DB389}" destId="{74618520-FABA-42B3-9DBD-4AA2F04D9EC2}" srcOrd="1" destOrd="0" parTransId="{1261D0E5-15BC-47BE-A07E-D79A0E23C9AC}" sibTransId="{3AF4AC8A-6058-4313-96C5-55557685F3EC}"/>
    <dgm:cxn modelId="{7365B0A9-A3E7-40E0-93B2-45123A7796C7}" type="presOf" srcId="{74618520-FABA-42B3-9DBD-4AA2F04D9EC2}" destId="{808224C0-A8A0-461F-88B2-DC07753EB88D}" srcOrd="0" destOrd="1" presId="urn:microsoft.com/office/officeart/2005/8/layout/vList2"/>
    <dgm:cxn modelId="{F32B11DB-B2E8-46DC-840E-25CA2B3D06D2}" type="presOf" srcId="{3FFDB430-19AA-44B2-BD17-EAC7C82DB389}" destId="{A8A33EAA-2B00-4403-A66B-262EC34D8E14}" srcOrd="0" destOrd="0" presId="urn:microsoft.com/office/officeart/2005/8/layout/vList2"/>
    <dgm:cxn modelId="{C9641D36-6C0C-4B90-89F8-402F36C1AEB6}" type="presParOf" srcId="{41A79554-7300-41D8-B2AD-EFF142F09819}" destId="{A8A33EAA-2B00-4403-A66B-262EC34D8E14}" srcOrd="0" destOrd="0" presId="urn:microsoft.com/office/officeart/2005/8/layout/vList2"/>
    <dgm:cxn modelId="{D12291BD-148E-4463-B1DE-16F9643C9367}" type="presParOf" srcId="{41A79554-7300-41D8-B2AD-EFF142F09819}" destId="{808224C0-A8A0-461F-88B2-DC07753EB88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3A1EF4-D8FD-424C-A948-BF638F892D40}"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IN"/>
        </a:p>
      </dgm:t>
    </dgm:pt>
    <dgm:pt modelId="{A2C930BB-2CF2-46E0-891F-AF746245FE4B}">
      <dgm:prSet/>
      <dgm:spPr/>
      <dgm:t>
        <a:bodyPr/>
        <a:lstStyle/>
        <a:p>
          <a:r>
            <a:rPr lang="en-IN"/>
            <a:t>Expression of certain emotions are species typical behaviours in humans  </a:t>
          </a:r>
        </a:p>
      </dgm:t>
    </dgm:pt>
    <dgm:pt modelId="{40280D8F-4638-455E-9BFB-DCADD21AE069}" type="parTrans" cxnId="{9EE403AA-0166-4176-85A2-90E9867CD329}">
      <dgm:prSet/>
      <dgm:spPr/>
      <dgm:t>
        <a:bodyPr/>
        <a:lstStyle/>
        <a:p>
          <a:endParaRPr lang="en-IN"/>
        </a:p>
      </dgm:t>
    </dgm:pt>
    <dgm:pt modelId="{E1CC926D-78E6-4199-85EE-767824810956}" type="sibTrans" cxnId="{9EE403AA-0166-4176-85A2-90E9867CD329}">
      <dgm:prSet/>
      <dgm:spPr/>
      <dgm:t>
        <a:bodyPr/>
        <a:lstStyle/>
        <a:p>
          <a:endParaRPr lang="en-IN"/>
        </a:p>
      </dgm:t>
    </dgm:pt>
    <dgm:pt modelId="{A5E81A12-FB9D-4461-A629-42FDAEC6DD1B}" type="pres">
      <dgm:prSet presAssocID="{983A1EF4-D8FD-424C-A948-BF638F892D40}" presName="linear" presStyleCnt="0">
        <dgm:presLayoutVars>
          <dgm:animLvl val="lvl"/>
          <dgm:resizeHandles val="exact"/>
        </dgm:presLayoutVars>
      </dgm:prSet>
      <dgm:spPr/>
    </dgm:pt>
    <dgm:pt modelId="{F3F7D04E-A4A3-493B-A03B-15C0C5CEBF16}" type="pres">
      <dgm:prSet presAssocID="{A2C930BB-2CF2-46E0-891F-AF746245FE4B}" presName="parentText" presStyleLbl="node1" presStyleIdx="0" presStyleCnt="1">
        <dgm:presLayoutVars>
          <dgm:chMax val="0"/>
          <dgm:bulletEnabled val="1"/>
        </dgm:presLayoutVars>
      </dgm:prSet>
      <dgm:spPr/>
    </dgm:pt>
  </dgm:ptLst>
  <dgm:cxnLst>
    <dgm:cxn modelId="{9EE403AA-0166-4176-85A2-90E9867CD329}" srcId="{983A1EF4-D8FD-424C-A948-BF638F892D40}" destId="{A2C930BB-2CF2-46E0-891F-AF746245FE4B}" srcOrd="0" destOrd="0" parTransId="{40280D8F-4638-455E-9BFB-DCADD21AE069}" sibTransId="{E1CC926D-78E6-4199-85EE-767824810956}"/>
    <dgm:cxn modelId="{CC3492C1-5A62-499B-B0A1-1C365736580C}" type="presOf" srcId="{983A1EF4-D8FD-424C-A948-BF638F892D40}" destId="{A5E81A12-FB9D-4461-A629-42FDAEC6DD1B}" srcOrd="0" destOrd="0" presId="urn:microsoft.com/office/officeart/2005/8/layout/vList2"/>
    <dgm:cxn modelId="{E33E54E9-F660-4B6F-BBB4-0EB05F7F420E}" type="presOf" srcId="{A2C930BB-2CF2-46E0-891F-AF746245FE4B}" destId="{F3F7D04E-A4A3-493B-A03B-15C0C5CEBF16}" srcOrd="0" destOrd="0" presId="urn:microsoft.com/office/officeart/2005/8/layout/vList2"/>
    <dgm:cxn modelId="{D71BA799-0E56-4D53-9F74-1B93819D4E32}" type="presParOf" srcId="{A5E81A12-FB9D-4461-A629-42FDAEC6DD1B}" destId="{F3F7D04E-A4A3-493B-A03B-15C0C5CEBF1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28E4F6-0D91-4509-BB3E-9887E86B4A2D}"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IN"/>
        </a:p>
      </dgm:t>
    </dgm:pt>
    <dgm:pt modelId="{EAF01150-F418-4365-8DC4-C031D10303E9}">
      <dgm:prSet/>
      <dgm:spPr/>
      <dgm:t>
        <a:bodyPr/>
        <a:lstStyle/>
        <a:p>
          <a:r>
            <a:rPr lang="en-IN"/>
            <a:t>While not prominent, we do have some species specific behaviours as part of our animal natures. </a:t>
          </a:r>
        </a:p>
      </dgm:t>
    </dgm:pt>
    <dgm:pt modelId="{A7412F96-0132-48BC-9329-4CCF21E09B2E}" type="parTrans" cxnId="{2BC27B76-3473-42E6-B6D7-DFDBC20B4717}">
      <dgm:prSet/>
      <dgm:spPr/>
      <dgm:t>
        <a:bodyPr/>
        <a:lstStyle/>
        <a:p>
          <a:endParaRPr lang="en-IN"/>
        </a:p>
      </dgm:t>
    </dgm:pt>
    <dgm:pt modelId="{B650D7CC-5EA2-4F1C-90D8-F7B57B5B7C04}" type="sibTrans" cxnId="{2BC27B76-3473-42E6-B6D7-DFDBC20B4717}">
      <dgm:prSet/>
      <dgm:spPr/>
      <dgm:t>
        <a:bodyPr/>
        <a:lstStyle/>
        <a:p>
          <a:endParaRPr lang="en-IN"/>
        </a:p>
      </dgm:t>
    </dgm:pt>
    <dgm:pt modelId="{90909638-F9A7-4664-8BD6-65D777C6B523}" type="pres">
      <dgm:prSet presAssocID="{0B28E4F6-0D91-4509-BB3E-9887E86B4A2D}" presName="linear" presStyleCnt="0">
        <dgm:presLayoutVars>
          <dgm:animLvl val="lvl"/>
          <dgm:resizeHandles val="exact"/>
        </dgm:presLayoutVars>
      </dgm:prSet>
      <dgm:spPr/>
    </dgm:pt>
    <dgm:pt modelId="{9B692547-A89B-4257-A832-F5A31B0D72CA}" type="pres">
      <dgm:prSet presAssocID="{EAF01150-F418-4365-8DC4-C031D10303E9}" presName="parentText" presStyleLbl="node1" presStyleIdx="0" presStyleCnt="1" custScaleY="100212">
        <dgm:presLayoutVars>
          <dgm:chMax val="0"/>
          <dgm:bulletEnabled val="1"/>
        </dgm:presLayoutVars>
      </dgm:prSet>
      <dgm:spPr/>
    </dgm:pt>
  </dgm:ptLst>
  <dgm:cxnLst>
    <dgm:cxn modelId="{2BC27B76-3473-42E6-B6D7-DFDBC20B4717}" srcId="{0B28E4F6-0D91-4509-BB3E-9887E86B4A2D}" destId="{EAF01150-F418-4365-8DC4-C031D10303E9}" srcOrd="0" destOrd="0" parTransId="{A7412F96-0132-48BC-9329-4CCF21E09B2E}" sibTransId="{B650D7CC-5EA2-4F1C-90D8-F7B57B5B7C04}"/>
    <dgm:cxn modelId="{A6442984-5B2C-4B92-8AB3-936B4ADEE05E}" type="presOf" srcId="{0B28E4F6-0D91-4509-BB3E-9887E86B4A2D}" destId="{90909638-F9A7-4664-8BD6-65D777C6B523}" srcOrd="0" destOrd="0" presId="urn:microsoft.com/office/officeart/2005/8/layout/vList2"/>
    <dgm:cxn modelId="{FB631ABA-A635-4CE8-80E1-8ECC559F8ADC}" type="presOf" srcId="{EAF01150-F418-4365-8DC4-C031D10303E9}" destId="{9B692547-A89B-4257-A832-F5A31B0D72CA}" srcOrd="0" destOrd="0" presId="urn:microsoft.com/office/officeart/2005/8/layout/vList2"/>
    <dgm:cxn modelId="{B393E9B6-277B-4F3A-8A67-CED6D4571ED5}" type="presParOf" srcId="{90909638-F9A7-4664-8BD6-65D777C6B523}" destId="{9B692547-A89B-4257-A832-F5A31B0D72C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A95E59-D6AC-49AF-8633-96D08C83DF49}"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25471A00-1EA9-473C-8E66-E895ADD78E0F}">
      <dgm:prSet/>
      <dgm:spPr/>
      <dgm:t>
        <a:bodyPr/>
        <a:lstStyle/>
        <a:p>
          <a:r>
            <a:rPr lang="en-IN"/>
            <a:t>Tendencies towards competition and aggression- especially in males is innate</a:t>
          </a:r>
          <a:endParaRPr lang="en-US"/>
        </a:p>
      </dgm:t>
    </dgm:pt>
    <dgm:pt modelId="{B9E65F5E-D3CE-4001-958F-097BF581AE73}" type="parTrans" cxnId="{158728C1-6D33-4E5F-8084-E50E22D488D4}">
      <dgm:prSet/>
      <dgm:spPr/>
      <dgm:t>
        <a:bodyPr/>
        <a:lstStyle/>
        <a:p>
          <a:endParaRPr lang="en-US"/>
        </a:p>
      </dgm:t>
    </dgm:pt>
    <dgm:pt modelId="{6D39A66E-BCE6-4E7F-AEFB-3E7607341EA1}" type="sibTrans" cxnId="{158728C1-6D33-4E5F-8084-E50E22D488D4}">
      <dgm:prSet/>
      <dgm:spPr/>
      <dgm:t>
        <a:bodyPr/>
        <a:lstStyle/>
        <a:p>
          <a:endParaRPr lang="en-US"/>
        </a:p>
      </dgm:t>
    </dgm:pt>
    <dgm:pt modelId="{03009608-535A-4080-B3C2-DFB7F558DB74}">
      <dgm:prSet/>
      <dgm:spPr/>
      <dgm:t>
        <a:bodyPr/>
        <a:lstStyle/>
        <a:p>
          <a:r>
            <a:rPr lang="en-IN"/>
            <a:t>Territoriality, need for organization with leaders, certain child rearing behaviours, male female roles – a thought to be innate behavioural potentialities- having a basis in evolution </a:t>
          </a:r>
          <a:endParaRPr lang="en-US"/>
        </a:p>
      </dgm:t>
    </dgm:pt>
    <dgm:pt modelId="{659116DE-086E-4BFF-AB8E-7B786021CD38}" type="parTrans" cxnId="{DDDA72E1-64EC-468E-BC3A-8AF0A3FBC8C6}">
      <dgm:prSet/>
      <dgm:spPr/>
      <dgm:t>
        <a:bodyPr/>
        <a:lstStyle/>
        <a:p>
          <a:endParaRPr lang="en-US"/>
        </a:p>
      </dgm:t>
    </dgm:pt>
    <dgm:pt modelId="{917C4C09-3319-49EC-B330-F50360C59FC7}" type="sibTrans" cxnId="{DDDA72E1-64EC-468E-BC3A-8AF0A3FBC8C6}">
      <dgm:prSet/>
      <dgm:spPr/>
      <dgm:t>
        <a:bodyPr/>
        <a:lstStyle/>
        <a:p>
          <a:endParaRPr lang="en-US"/>
        </a:p>
      </dgm:t>
    </dgm:pt>
    <dgm:pt modelId="{9F91846B-62C8-4EBA-8AC5-8854BEAAC24D}">
      <dgm:prSet/>
      <dgm:spPr/>
      <dgm:t>
        <a:bodyPr/>
        <a:lstStyle/>
        <a:p>
          <a:r>
            <a:rPr lang="en-IN"/>
            <a:t>This is controversial- though anthropological evidence of stone age cultures support innate basis of behavioural tendencies- e.g. aggression- other evidences do not. </a:t>
          </a:r>
          <a:endParaRPr lang="en-US"/>
        </a:p>
      </dgm:t>
    </dgm:pt>
    <dgm:pt modelId="{01D98F92-92E3-4DB0-8980-81C47B2E3D72}" type="parTrans" cxnId="{FCA80E6C-9224-4D61-995E-1C2D1AA5960C}">
      <dgm:prSet/>
      <dgm:spPr/>
      <dgm:t>
        <a:bodyPr/>
        <a:lstStyle/>
        <a:p>
          <a:endParaRPr lang="en-US"/>
        </a:p>
      </dgm:t>
    </dgm:pt>
    <dgm:pt modelId="{FB6FBA83-FF16-443C-80F0-B73E943F15F1}" type="sibTrans" cxnId="{FCA80E6C-9224-4D61-995E-1C2D1AA5960C}">
      <dgm:prSet/>
      <dgm:spPr/>
      <dgm:t>
        <a:bodyPr/>
        <a:lstStyle/>
        <a:p>
          <a:endParaRPr lang="en-US"/>
        </a:p>
      </dgm:t>
    </dgm:pt>
    <dgm:pt modelId="{49B071EF-05EF-4ECA-B583-CA48979774AA}">
      <dgm:prSet/>
      <dgm:spPr/>
      <dgm:t>
        <a:bodyPr/>
        <a:lstStyle/>
        <a:p>
          <a:r>
            <a:rPr lang="en-IN" dirty="0"/>
            <a:t>Evidence for nurture- elder Eskimos choosing to stay behind and die rather than slowing the whole group, search and rescue parties looking for lost persons even under dire circumstances. </a:t>
          </a:r>
          <a:endParaRPr lang="en-US" dirty="0"/>
        </a:p>
      </dgm:t>
    </dgm:pt>
    <dgm:pt modelId="{7A8AFE75-8826-40DE-87FA-4C2F771B1A2B}" type="parTrans" cxnId="{B9C44E22-354A-49F0-A11B-D2BCA3A08D98}">
      <dgm:prSet/>
      <dgm:spPr/>
      <dgm:t>
        <a:bodyPr/>
        <a:lstStyle/>
        <a:p>
          <a:endParaRPr lang="en-US"/>
        </a:p>
      </dgm:t>
    </dgm:pt>
    <dgm:pt modelId="{EC81CA80-4883-4DC6-8A7F-0AEDE002141A}" type="sibTrans" cxnId="{B9C44E22-354A-49F0-A11B-D2BCA3A08D98}">
      <dgm:prSet/>
      <dgm:spPr/>
      <dgm:t>
        <a:bodyPr/>
        <a:lstStyle/>
        <a:p>
          <a:endParaRPr lang="en-US"/>
        </a:p>
      </dgm:t>
    </dgm:pt>
    <dgm:pt modelId="{B665BC11-D6C2-4822-810E-CD945D9ECC73}" type="pres">
      <dgm:prSet presAssocID="{FBA95E59-D6AC-49AF-8633-96D08C83DF49}" presName="linear" presStyleCnt="0">
        <dgm:presLayoutVars>
          <dgm:animLvl val="lvl"/>
          <dgm:resizeHandles val="exact"/>
        </dgm:presLayoutVars>
      </dgm:prSet>
      <dgm:spPr/>
    </dgm:pt>
    <dgm:pt modelId="{C9208AB8-E102-4FF9-8FF1-B7F2EBA06FFD}" type="pres">
      <dgm:prSet presAssocID="{25471A00-1EA9-473C-8E66-E895ADD78E0F}" presName="parentText" presStyleLbl="node1" presStyleIdx="0" presStyleCnt="4">
        <dgm:presLayoutVars>
          <dgm:chMax val="0"/>
          <dgm:bulletEnabled val="1"/>
        </dgm:presLayoutVars>
      </dgm:prSet>
      <dgm:spPr/>
    </dgm:pt>
    <dgm:pt modelId="{42FB1985-FC48-45FC-9986-36A6875BE4D8}" type="pres">
      <dgm:prSet presAssocID="{6D39A66E-BCE6-4E7F-AEFB-3E7607341EA1}" presName="spacer" presStyleCnt="0"/>
      <dgm:spPr/>
    </dgm:pt>
    <dgm:pt modelId="{D0002E6C-B12A-4B70-893E-85556C553751}" type="pres">
      <dgm:prSet presAssocID="{03009608-535A-4080-B3C2-DFB7F558DB74}" presName="parentText" presStyleLbl="node1" presStyleIdx="1" presStyleCnt="4">
        <dgm:presLayoutVars>
          <dgm:chMax val="0"/>
          <dgm:bulletEnabled val="1"/>
        </dgm:presLayoutVars>
      </dgm:prSet>
      <dgm:spPr/>
    </dgm:pt>
    <dgm:pt modelId="{14AE1235-5E74-4113-A47A-F4E233FD1640}" type="pres">
      <dgm:prSet presAssocID="{917C4C09-3319-49EC-B330-F50360C59FC7}" presName="spacer" presStyleCnt="0"/>
      <dgm:spPr/>
    </dgm:pt>
    <dgm:pt modelId="{428D9729-FF51-4EE3-AE7E-34F91AE91731}" type="pres">
      <dgm:prSet presAssocID="{9F91846B-62C8-4EBA-8AC5-8854BEAAC24D}" presName="parentText" presStyleLbl="node1" presStyleIdx="2" presStyleCnt="4">
        <dgm:presLayoutVars>
          <dgm:chMax val="0"/>
          <dgm:bulletEnabled val="1"/>
        </dgm:presLayoutVars>
      </dgm:prSet>
      <dgm:spPr/>
    </dgm:pt>
    <dgm:pt modelId="{B2834140-4F82-439F-B981-34B64F4FC4AE}" type="pres">
      <dgm:prSet presAssocID="{FB6FBA83-FF16-443C-80F0-B73E943F15F1}" presName="spacer" presStyleCnt="0"/>
      <dgm:spPr/>
    </dgm:pt>
    <dgm:pt modelId="{8B1A94DA-FAD2-4448-8D4B-36DDE5C0ACBB}" type="pres">
      <dgm:prSet presAssocID="{49B071EF-05EF-4ECA-B583-CA48979774AA}" presName="parentText" presStyleLbl="node1" presStyleIdx="3" presStyleCnt="4">
        <dgm:presLayoutVars>
          <dgm:chMax val="0"/>
          <dgm:bulletEnabled val="1"/>
        </dgm:presLayoutVars>
      </dgm:prSet>
      <dgm:spPr/>
    </dgm:pt>
  </dgm:ptLst>
  <dgm:cxnLst>
    <dgm:cxn modelId="{1DC4F30D-5DAF-42EC-A285-829B68BE8A30}" type="presOf" srcId="{03009608-535A-4080-B3C2-DFB7F558DB74}" destId="{D0002E6C-B12A-4B70-893E-85556C553751}" srcOrd="0" destOrd="0" presId="urn:microsoft.com/office/officeart/2005/8/layout/vList2"/>
    <dgm:cxn modelId="{B9C44E22-354A-49F0-A11B-D2BCA3A08D98}" srcId="{FBA95E59-D6AC-49AF-8633-96D08C83DF49}" destId="{49B071EF-05EF-4ECA-B583-CA48979774AA}" srcOrd="3" destOrd="0" parTransId="{7A8AFE75-8826-40DE-87FA-4C2F771B1A2B}" sibTransId="{EC81CA80-4883-4DC6-8A7F-0AEDE002141A}"/>
    <dgm:cxn modelId="{FCA80E6C-9224-4D61-995E-1C2D1AA5960C}" srcId="{FBA95E59-D6AC-49AF-8633-96D08C83DF49}" destId="{9F91846B-62C8-4EBA-8AC5-8854BEAAC24D}" srcOrd="2" destOrd="0" parTransId="{01D98F92-92E3-4DB0-8980-81C47B2E3D72}" sibTransId="{FB6FBA83-FF16-443C-80F0-B73E943F15F1}"/>
    <dgm:cxn modelId="{4B9B6688-45CF-40E1-B8D9-AC956984FC8F}" type="presOf" srcId="{49B071EF-05EF-4ECA-B583-CA48979774AA}" destId="{8B1A94DA-FAD2-4448-8D4B-36DDE5C0ACBB}" srcOrd="0" destOrd="0" presId="urn:microsoft.com/office/officeart/2005/8/layout/vList2"/>
    <dgm:cxn modelId="{29362898-3702-44BD-83EF-D0325FD8F327}" type="presOf" srcId="{9F91846B-62C8-4EBA-8AC5-8854BEAAC24D}" destId="{428D9729-FF51-4EE3-AE7E-34F91AE91731}" srcOrd="0" destOrd="0" presId="urn:microsoft.com/office/officeart/2005/8/layout/vList2"/>
    <dgm:cxn modelId="{739FC2B8-E208-474B-A0B0-A1256391D254}" type="presOf" srcId="{FBA95E59-D6AC-49AF-8633-96D08C83DF49}" destId="{B665BC11-D6C2-4822-810E-CD945D9ECC73}" srcOrd="0" destOrd="0" presId="urn:microsoft.com/office/officeart/2005/8/layout/vList2"/>
    <dgm:cxn modelId="{158728C1-6D33-4E5F-8084-E50E22D488D4}" srcId="{FBA95E59-D6AC-49AF-8633-96D08C83DF49}" destId="{25471A00-1EA9-473C-8E66-E895ADD78E0F}" srcOrd="0" destOrd="0" parTransId="{B9E65F5E-D3CE-4001-958F-097BF581AE73}" sibTransId="{6D39A66E-BCE6-4E7F-AEFB-3E7607341EA1}"/>
    <dgm:cxn modelId="{BD4FC4C6-954B-4FCD-B898-BF80AD03EA47}" type="presOf" srcId="{25471A00-1EA9-473C-8E66-E895ADD78E0F}" destId="{C9208AB8-E102-4FF9-8FF1-B7F2EBA06FFD}" srcOrd="0" destOrd="0" presId="urn:microsoft.com/office/officeart/2005/8/layout/vList2"/>
    <dgm:cxn modelId="{DDDA72E1-64EC-468E-BC3A-8AF0A3FBC8C6}" srcId="{FBA95E59-D6AC-49AF-8633-96D08C83DF49}" destId="{03009608-535A-4080-B3C2-DFB7F558DB74}" srcOrd="1" destOrd="0" parTransId="{659116DE-086E-4BFF-AB8E-7B786021CD38}" sibTransId="{917C4C09-3319-49EC-B330-F50360C59FC7}"/>
    <dgm:cxn modelId="{41E38A11-F234-4F2A-BC97-1F1D2213A7E5}" type="presParOf" srcId="{B665BC11-D6C2-4822-810E-CD945D9ECC73}" destId="{C9208AB8-E102-4FF9-8FF1-B7F2EBA06FFD}" srcOrd="0" destOrd="0" presId="urn:microsoft.com/office/officeart/2005/8/layout/vList2"/>
    <dgm:cxn modelId="{133F60EC-B8D2-452C-9982-C466EF287C8F}" type="presParOf" srcId="{B665BC11-D6C2-4822-810E-CD945D9ECC73}" destId="{42FB1985-FC48-45FC-9986-36A6875BE4D8}" srcOrd="1" destOrd="0" presId="urn:microsoft.com/office/officeart/2005/8/layout/vList2"/>
    <dgm:cxn modelId="{A5F6A660-2D30-4C73-B098-3F47EED85A61}" type="presParOf" srcId="{B665BC11-D6C2-4822-810E-CD945D9ECC73}" destId="{D0002E6C-B12A-4B70-893E-85556C553751}" srcOrd="2" destOrd="0" presId="urn:microsoft.com/office/officeart/2005/8/layout/vList2"/>
    <dgm:cxn modelId="{7410E65D-20D4-41FE-9527-9DD8D817585B}" type="presParOf" srcId="{B665BC11-D6C2-4822-810E-CD945D9ECC73}" destId="{14AE1235-5E74-4113-A47A-F4E233FD1640}" srcOrd="3" destOrd="0" presId="urn:microsoft.com/office/officeart/2005/8/layout/vList2"/>
    <dgm:cxn modelId="{5B3645B4-1AFD-475C-8707-9E6B2F9F3822}" type="presParOf" srcId="{B665BC11-D6C2-4822-810E-CD945D9ECC73}" destId="{428D9729-FF51-4EE3-AE7E-34F91AE91731}" srcOrd="4" destOrd="0" presId="urn:microsoft.com/office/officeart/2005/8/layout/vList2"/>
    <dgm:cxn modelId="{86C21288-C14D-41AC-858D-B7DEE32CFEE2}" type="presParOf" srcId="{B665BC11-D6C2-4822-810E-CD945D9ECC73}" destId="{B2834140-4F82-439F-B981-34B64F4FC4AE}" srcOrd="5" destOrd="0" presId="urn:microsoft.com/office/officeart/2005/8/layout/vList2"/>
    <dgm:cxn modelId="{FEC5A889-3EE9-4F37-8A8A-7959C6390F80}" type="presParOf" srcId="{B665BC11-D6C2-4822-810E-CD945D9ECC73}" destId="{8B1A94DA-FAD2-4448-8D4B-36DDE5C0ACB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1D0ACEB-309F-4DB0-BD5A-FB32E019C9B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IN"/>
        </a:p>
      </dgm:t>
    </dgm:pt>
    <dgm:pt modelId="{9B359C4C-4979-4F74-AE24-E8FF423BBB78}">
      <dgm:prSet/>
      <dgm:spPr/>
      <dgm:t>
        <a:bodyPr/>
        <a:lstStyle/>
        <a:p>
          <a:r>
            <a:rPr lang="en-IN" dirty="0"/>
            <a:t>In the Somatic System/ Sensory division</a:t>
          </a:r>
        </a:p>
      </dgm:t>
    </dgm:pt>
    <dgm:pt modelId="{70A07D1F-C150-4FF8-B152-CD211EB1044B}" type="parTrans" cxnId="{3EBECFD9-701D-49AB-B496-C29E9B6C9782}">
      <dgm:prSet/>
      <dgm:spPr/>
      <dgm:t>
        <a:bodyPr/>
        <a:lstStyle/>
        <a:p>
          <a:endParaRPr lang="en-IN"/>
        </a:p>
      </dgm:t>
    </dgm:pt>
    <dgm:pt modelId="{0705B042-5CBF-4EE6-9730-CBF9B12F4454}" type="sibTrans" cxnId="{3EBECFD9-701D-49AB-B496-C29E9B6C9782}">
      <dgm:prSet/>
      <dgm:spPr/>
      <dgm:t>
        <a:bodyPr/>
        <a:lstStyle/>
        <a:p>
          <a:endParaRPr lang="en-IN"/>
        </a:p>
      </dgm:t>
    </dgm:pt>
    <dgm:pt modelId="{14A67570-3811-487D-8A03-43D1FC0D5969}" type="pres">
      <dgm:prSet presAssocID="{A1D0ACEB-309F-4DB0-BD5A-FB32E019C9BE}" presName="linear" presStyleCnt="0">
        <dgm:presLayoutVars>
          <dgm:animLvl val="lvl"/>
          <dgm:resizeHandles val="exact"/>
        </dgm:presLayoutVars>
      </dgm:prSet>
      <dgm:spPr/>
    </dgm:pt>
    <dgm:pt modelId="{1CEB6E4D-8596-46FB-B006-50571F08DC41}" type="pres">
      <dgm:prSet presAssocID="{9B359C4C-4979-4F74-AE24-E8FF423BBB78}" presName="parentText" presStyleLbl="node1" presStyleIdx="0" presStyleCnt="1" custScaleY="68635">
        <dgm:presLayoutVars>
          <dgm:chMax val="0"/>
          <dgm:bulletEnabled val="1"/>
        </dgm:presLayoutVars>
      </dgm:prSet>
      <dgm:spPr/>
    </dgm:pt>
  </dgm:ptLst>
  <dgm:cxnLst>
    <dgm:cxn modelId="{AC23F64A-F15F-4CC3-9A1F-4EDB4E8C69E5}" type="presOf" srcId="{A1D0ACEB-309F-4DB0-BD5A-FB32E019C9BE}" destId="{14A67570-3811-487D-8A03-43D1FC0D5969}" srcOrd="0" destOrd="0" presId="urn:microsoft.com/office/officeart/2005/8/layout/vList2"/>
    <dgm:cxn modelId="{FED69950-3469-4370-93C5-677D168C4323}" type="presOf" srcId="{9B359C4C-4979-4F74-AE24-E8FF423BBB78}" destId="{1CEB6E4D-8596-46FB-B006-50571F08DC41}" srcOrd="0" destOrd="0" presId="urn:microsoft.com/office/officeart/2005/8/layout/vList2"/>
    <dgm:cxn modelId="{3EBECFD9-701D-49AB-B496-C29E9B6C9782}" srcId="{A1D0ACEB-309F-4DB0-BD5A-FB32E019C9BE}" destId="{9B359C4C-4979-4F74-AE24-E8FF423BBB78}" srcOrd="0" destOrd="0" parTransId="{70A07D1F-C150-4FF8-B152-CD211EB1044B}" sibTransId="{0705B042-5CBF-4EE6-9730-CBF9B12F4454}"/>
    <dgm:cxn modelId="{0B53248C-F799-4C9E-813E-3C46B55BC0FD}" type="presParOf" srcId="{14A67570-3811-487D-8A03-43D1FC0D5969}" destId="{1CEB6E4D-8596-46FB-B006-50571F08DC4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DD481B-EEF3-43F1-9B96-1DC55A75838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1B20DB99-DC21-4C2D-AC59-0FA07A208B68}">
      <dgm:prSet custT="1"/>
      <dgm:spPr/>
      <dgm:t>
        <a:bodyPr/>
        <a:lstStyle/>
        <a:p>
          <a:r>
            <a:rPr lang="en-IN" sz="2000"/>
            <a:t>Mood regulation </a:t>
          </a:r>
          <a:endParaRPr lang="en-US" sz="2000"/>
        </a:p>
      </dgm:t>
    </dgm:pt>
    <dgm:pt modelId="{C60F03E1-B785-4794-A2B4-9175DD1BB2F1}" type="parTrans" cxnId="{888E953C-0004-48D3-A1EB-A544F6F9903B}">
      <dgm:prSet/>
      <dgm:spPr/>
      <dgm:t>
        <a:bodyPr/>
        <a:lstStyle/>
        <a:p>
          <a:endParaRPr lang="en-US" sz="2000"/>
        </a:p>
      </dgm:t>
    </dgm:pt>
    <dgm:pt modelId="{1ADC964D-8C50-426A-AB4A-18E9B538D16F}" type="sibTrans" cxnId="{888E953C-0004-48D3-A1EB-A544F6F9903B}">
      <dgm:prSet/>
      <dgm:spPr/>
      <dgm:t>
        <a:bodyPr/>
        <a:lstStyle/>
        <a:p>
          <a:endParaRPr lang="en-US" sz="2000"/>
        </a:p>
      </dgm:t>
    </dgm:pt>
    <dgm:pt modelId="{A8DF0FC0-FDB0-498B-BAF7-5937C3077E6F}">
      <dgm:prSet custT="1"/>
      <dgm:spPr/>
      <dgm:t>
        <a:bodyPr/>
        <a:lstStyle/>
        <a:p>
          <a:r>
            <a:rPr lang="en-IN" sz="2000"/>
            <a:t>Low levels: feeling depression</a:t>
          </a:r>
          <a:endParaRPr lang="en-US" sz="2000"/>
        </a:p>
      </dgm:t>
    </dgm:pt>
    <dgm:pt modelId="{BD4CB6CE-313C-4105-93B6-27166A183826}" type="parTrans" cxnId="{B03E56A7-0540-4B44-BB8A-62D11044514A}">
      <dgm:prSet/>
      <dgm:spPr/>
      <dgm:t>
        <a:bodyPr/>
        <a:lstStyle/>
        <a:p>
          <a:endParaRPr lang="en-US" sz="2000"/>
        </a:p>
      </dgm:t>
    </dgm:pt>
    <dgm:pt modelId="{B064DEBE-2F7A-4DF8-BFAB-DAD643E17F00}" type="sibTrans" cxnId="{B03E56A7-0540-4B44-BB8A-62D11044514A}">
      <dgm:prSet/>
      <dgm:spPr/>
      <dgm:t>
        <a:bodyPr/>
        <a:lstStyle/>
        <a:p>
          <a:endParaRPr lang="en-US" sz="2000"/>
        </a:p>
      </dgm:t>
    </dgm:pt>
    <dgm:pt modelId="{C74F1BC7-896F-406E-A5E2-5407E73FE0B1}">
      <dgm:prSet custT="1"/>
      <dgm:spPr/>
      <dgm:t>
        <a:bodyPr/>
        <a:lstStyle/>
        <a:p>
          <a:r>
            <a:rPr lang="en-IN" sz="2000" dirty="0"/>
            <a:t>Serotonin reuptake inhibitors are used as anti depressants that increase serotonin n the brain by blocking its uptake. (Prozac, Zoloft, Paxil)</a:t>
          </a:r>
          <a:endParaRPr lang="en-US" sz="2000" dirty="0"/>
        </a:p>
      </dgm:t>
    </dgm:pt>
    <dgm:pt modelId="{E9D64AFF-BA4A-404B-A504-DD2681B9F8C2}" type="parTrans" cxnId="{1F44DA2A-2585-426C-8D5F-657D97488086}">
      <dgm:prSet/>
      <dgm:spPr/>
      <dgm:t>
        <a:bodyPr/>
        <a:lstStyle/>
        <a:p>
          <a:endParaRPr lang="en-US" sz="2000"/>
        </a:p>
      </dgm:t>
    </dgm:pt>
    <dgm:pt modelId="{BBBDFDBB-764D-485D-9923-B8F33934DA2F}" type="sibTrans" cxnId="{1F44DA2A-2585-426C-8D5F-657D97488086}">
      <dgm:prSet/>
      <dgm:spPr/>
      <dgm:t>
        <a:bodyPr/>
        <a:lstStyle/>
        <a:p>
          <a:endParaRPr lang="en-US" sz="2000"/>
        </a:p>
      </dgm:t>
    </dgm:pt>
    <dgm:pt modelId="{C64DCFE7-B312-434B-B436-3DAAB1C5D69F}">
      <dgm:prSet custT="1"/>
      <dgm:spPr/>
      <dgm:t>
        <a:bodyPr/>
        <a:lstStyle/>
        <a:p>
          <a:r>
            <a:rPr lang="en-IN" sz="2000" dirty="0"/>
            <a:t>Important in regulation of sleep and appetite – used to treat eating disorder of bulimia</a:t>
          </a:r>
          <a:endParaRPr lang="en-US" sz="2000" dirty="0"/>
        </a:p>
      </dgm:t>
    </dgm:pt>
    <dgm:pt modelId="{F5427B1C-48C2-41F0-ADFC-1AF0D01CC226}" type="parTrans" cxnId="{3687DC2B-43D3-4FEC-9F81-97554D440CED}">
      <dgm:prSet/>
      <dgm:spPr/>
      <dgm:t>
        <a:bodyPr/>
        <a:lstStyle/>
        <a:p>
          <a:endParaRPr lang="en-US" sz="2000"/>
        </a:p>
      </dgm:t>
    </dgm:pt>
    <dgm:pt modelId="{CDDE914B-D539-4565-9DCC-043C1D795FE6}" type="sibTrans" cxnId="{3687DC2B-43D3-4FEC-9F81-97554D440CED}">
      <dgm:prSet/>
      <dgm:spPr/>
      <dgm:t>
        <a:bodyPr/>
        <a:lstStyle/>
        <a:p>
          <a:endParaRPr lang="en-US" sz="2000"/>
        </a:p>
      </dgm:t>
    </dgm:pt>
    <dgm:pt modelId="{D9E06470-34D2-41F7-B3F7-BEAAE7826ED4}">
      <dgm:prSet custT="1"/>
      <dgm:spPr/>
      <dgm:t>
        <a:bodyPr/>
        <a:lstStyle/>
        <a:p>
          <a:r>
            <a:rPr lang="en-IN" sz="2000"/>
            <a:t>Lysergic acid dietylamide (LSD) induces the effects of serotonin by binding to its receptors in the brain</a:t>
          </a:r>
          <a:endParaRPr lang="en-US" sz="2000"/>
        </a:p>
      </dgm:t>
    </dgm:pt>
    <dgm:pt modelId="{561D2D25-2EB6-4860-95F2-2A6282000835}" type="parTrans" cxnId="{80BEB6E0-ED34-44D0-BF1E-142949909134}">
      <dgm:prSet/>
      <dgm:spPr/>
      <dgm:t>
        <a:bodyPr/>
        <a:lstStyle/>
        <a:p>
          <a:endParaRPr lang="en-US" sz="2000"/>
        </a:p>
      </dgm:t>
    </dgm:pt>
    <dgm:pt modelId="{EA7D1EF3-E071-49B8-B1FF-1E28BF3CD4E4}" type="sibTrans" cxnId="{80BEB6E0-ED34-44D0-BF1E-142949909134}">
      <dgm:prSet/>
      <dgm:spPr/>
      <dgm:t>
        <a:bodyPr/>
        <a:lstStyle/>
        <a:p>
          <a:endParaRPr lang="en-US" sz="2000"/>
        </a:p>
      </dgm:t>
    </dgm:pt>
    <dgm:pt modelId="{2E2AD7D6-D285-43F4-AF1E-5012EEC5742C}" type="pres">
      <dgm:prSet presAssocID="{D0DD481B-EEF3-43F1-9B96-1DC55A75838B}" presName="linear" presStyleCnt="0">
        <dgm:presLayoutVars>
          <dgm:animLvl val="lvl"/>
          <dgm:resizeHandles val="exact"/>
        </dgm:presLayoutVars>
      </dgm:prSet>
      <dgm:spPr/>
    </dgm:pt>
    <dgm:pt modelId="{1562AA94-9030-4F75-9818-91952E250B69}" type="pres">
      <dgm:prSet presAssocID="{1B20DB99-DC21-4C2D-AC59-0FA07A208B68}" presName="parentText" presStyleLbl="node1" presStyleIdx="0" presStyleCnt="5">
        <dgm:presLayoutVars>
          <dgm:chMax val="0"/>
          <dgm:bulletEnabled val="1"/>
        </dgm:presLayoutVars>
      </dgm:prSet>
      <dgm:spPr/>
    </dgm:pt>
    <dgm:pt modelId="{3C2E6F21-43F6-4E09-8218-A4E362F03E36}" type="pres">
      <dgm:prSet presAssocID="{1ADC964D-8C50-426A-AB4A-18E9B538D16F}" presName="spacer" presStyleCnt="0"/>
      <dgm:spPr/>
    </dgm:pt>
    <dgm:pt modelId="{EB8FADA7-B945-498C-9B7E-51018BA63130}" type="pres">
      <dgm:prSet presAssocID="{A8DF0FC0-FDB0-498B-BAF7-5937C3077E6F}" presName="parentText" presStyleLbl="node1" presStyleIdx="1" presStyleCnt="5">
        <dgm:presLayoutVars>
          <dgm:chMax val="0"/>
          <dgm:bulletEnabled val="1"/>
        </dgm:presLayoutVars>
      </dgm:prSet>
      <dgm:spPr/>
    </dgm:pt>
    <dgm:pt modelId="{1B950499-2C18-4002-8701-49A75A957B89}" type="pres">
      <dgm:prSet presAssocID="{B064DEBE-2F7A-4DF8-BFAB-DAD643E17F00}" presName="spacer" presStyleCnt="0"/>
      <dgm:spPr/>
    </dgm:pt>
    <dgm:pt modelId="{BBB7A76C-8270-4D70-94D5-63A5816A5616}" type="pres">
      <dgm:prSet presAssocID="{C74F1BC7-896F-406E-A5E2-5407E73FE0B1}" presName="parentText" presStyleLbl="node1" presStyleIdx="2" presStyleCnt="5" custScaleY="146206">
        <dgm:presLayoutVars>
          <dgm:chMax val="0"/>
          <dgm:bulletEnabled val="1"/>
        </dgm:presLayoutVars>
      </dgm:prSet>
      <dgm:spPr/>
    </dgm:pt>
    <dgm:pt modelId="{2AF71869-4740-4B35-940E-4804AB8B7271}" type="pres">
      <dgm:prSet presAssocID="{BBBDFDBB-764D-485D-9923-B8F33934DA2F}" presName="spacer" presStyleCnt="0"/>
      <dgm:spPr/>
    </dgm:pt>
    <dgm:pt modelId="{AD7DC8A8-69D4-44BC-8DE8-53E50232AC33}" type="pres">
      <dgm:prSet presAssocID="{C64DCFE7-B312-434B-B436-3DAAB1C5D69F}" presName="parentText" presStyleLbl="node1" presStyleIdx="3" presStyleCnt="5">
        <dgm:presLayoutVars>
          <dgm:chMax val="0"/>
          <dgm:bulletEnabled val="1"/>
        </dgm:presLayoutVars>
      </dgm:prSet>
      <dgm:spPr/>
    </dgm:pt>
    <dgm:pt modelId="{C355EE5B-4E0E-4983-8022-39A9694A4C41}" type="pres">
      <dgm:prSet presAssocID="{CDDE914B-D539-4565-9DCC-043C1D795FE6}" presName="spacer" presStyleCnt="0"/>
      <dgm:spPr/>
    </dgm:pt>
    <dgm:pt modelId="{E6320222-AC8B-450E-9E8D-D88FF8B555BA}" type="pres">
      <dgm:prSet presAssocID="{D9E06470-34D2-41F7-B3F7-BEAAE7826ED4}" presName="parentText" presStyleLbl="node1" presStyleIdx="4" presStyleCnt="5">
        <dgm:presLayoutVars>
          <dgm:chMax val="0"/>
          <dgm:bulletEnabled val="1"/>
        </dgm:presLayoutVars>
      </dgm:prSet>
      <dgm:spPr/>
    </dgm:pt>
  </dgm:ptLst>
  <dgm:cxnLst>
    <dgm:cxn modelId="{1875E522-EF3E-480F-9B11-D3A90FD24A40}" type="presOf" srcId="{A8DF0FC0-FDB0-498B-BAF7-5937C3077E6F}" destId="{EB8FADA7-B945-498C-9B7E-51018BA63130}" srcOrd="0" destOrd="0" presId="urn:microsoft.com/office/officeart/2005/8/layout/vList2"/>
    <dgm:cxn modelId="{1F44DA2A-2585-426C-8D5F-657D97488086}" srcId="{D0DD481B-EEF3-43F1-9B96-1DC55A75838B}" destId="{C74F1BC7-896F-406E-A5E2-5407E73FE0B1}" srcOrd="2" destOrd="0" parTransId="{E9D64AFF-BA4A-404B-A504-DD2681B9F8C2}" sibTransId="{BBBDFDBB-764D-485D-9923-B8F33934DA2F}"/>
    <dgm:cxn modelId="{3687DC2B-43D3-4FEC-9F81-97554D440CED}" srcId="{D0DD481B-EEF3-43F1-9B96-1DC55A75838B}" destId="{C64DCFE7-B312-434B-B436-3DAAB1C5D69F}" srcOrd="3" destOrd="0" parTransId="{F5427B1C-48C2-41F0-ADFC-1AF0D01CC226}" sibTransId="{CDDE914B-D539-4565-9DCC-043C1D795FE6}"/>
    <dgm:cxn modelId="{C0B45B39-96D6-4B99-B347-D4D81CEE72B7}" type="presOf" srcId="{D0DD481B-EEF3-43F1-9B96-1DC55A75838B}" destId="{2E2AD7D6-D285-43F4-AF1E-5012EEC5742C}" srcOrd="0" destOrd="0" presId="urn:microsoft.com/office/officeart/2005/8/layout/vList2"/>
    <dgm:cxn modelId="{888E953C-0004-48D3-A1EB-A544F6F9903B}" srcId="{D0DD481B-EEF3-43F1-9B96-1DC55A75838B}" destId="{1B20DB99-DC21-4C2D-AC59-0FA07A208B68}" srcOrd="0" destOrd="0" parTransId="{C60F03E1-B785-4794-A2B4-9175DD1BB2F1}" sibTransId="{1ADC964D-8C50-426A-AB4A-18E9B538D16F}"/>
    <dgm:cxn modelId="{7D92637B-2E5B-44DA-81B9-D3FCC0DCE452}" type="presOf" srcId="{1B20DB99-DC21-4C2D-AC59-0FA07A208B68}" destId="{1562AA94-9030-4F75-9818-91952E250B69}" srcOrd="0" destOrd="0" presId="urn:microsoft.com/office/officeart/2005/8/layout/vList2"/>
    <dgm:cxn modelId="{9236368B-C1CA-4367-944E-4C6FA0B6BA73}" type="presOf" srcId="{C64DCFE7-B312-434B-B436-3DAAB1C5D69F}" destId="{AD7DC8A8-69D4-44BC-8DE8-53E50232AC33}" srcOrd="0" destOrd="0" presId="urn:microsoft.com/office/officeart/2005/8/layout/vList2"/>
    <dgm:cxn modelId="{658A8193-0E4D-4F00-A17D-CAFEA9DBA2AA}" type="presOf" srcId="{D9E06470-34D2-41F7-B3F7-BEAAE7826ED4}" destId="{E6320222-AC8B-450E-9E8D-D88FF8B555BA}" srcOrd="0" destOrd="0" presId="urn:microsoft.com/office/officeart/2005/8/layout/vList2"/>
    <dgm:cxn modelId="{B03E56A7-0540-4B44-BB8A-62D11044514A}" srcId="{D0DD481B-EEF3-43F1-9B96-1DC55A75838B}" destId="{A8DF0FC0-FDB0-498B-BAF7-5937C3077E6F}" srcOrd="1" destOrd="0" parTransId="{BD4CB6CE-313C-4105-93B6-27166A183826}" sibTransId="{B064DEBE-2F7A-4DF8-BFAB-DAD643E17F00}"/>
    <dgm:cxn modelId="{CB091FAD-C1F4-4C95-B40A-47514CD75ED9}" type="presOf" srcId="{C74F1BC7-896F-406E-A5E2-5407E73FE0B1}" destId="{BBB7A76C-8270-4D70-94D5-63A5816A5616}" srcOrd="0" destOrd="0" presId="urn:microsoft.com/office/officeart/2005/8/layout/vList2"/>
    <dgm:cxn modelId="{80BEB6E0-ED34-44D0-BF1E-142949909134}" srcId="{D0DD481B-EEF3-43F1-9B96-1DC55A75838B}" destId="{D9E06470-34D2-41F7-B3F7-BEAAE7826ED4}" srcOrd="4" destOrd="0" parTransId="{561D2D25-2EB6-4860-95F2-2A6282000835}" sibTransId="{EA7D1EF3-E071-49B8-B1FF-1E28BF3CD4E4}"/>
    <dgm:cxn modelId="{8DB7EFE0-30D5-4C1F-80B1-A6C9C6E6AD4C}" type="presParOf" srcId="{2E2AD7D6-D285-43F4-AF1E-5012EEC5742C}" destId="{1562AA94-9030-4F75-9818-91952E250B69}" srcOrd="0" destOrd="0" presId="urn:microsoft.com/office/officeart/2005/8/layout/vList2"/>
    <dgm:cxn modelId="{B2CE5C33-3514-40E9-9C56-9217FC7EACE3}" type="presParOf" srcId="{2E2AD7D6-D285-43F4-AF1E-5012EEC5742C}" destId="{3C2E6F21-43F6-4E09-8218-A4E362F03E36}" srcOrd="1" destOrd="0" presId="urn:microsoft.com/office/officeart/2005/8/layout/vList2"/>
    <dgm:cxn modelId="{28E84CB5-91E2-4504-9AD7-797A63EE943B}" type="presParOf" srcId="{2E2AD7D6-D285-43F4-AF1E-5012EEC5742C}" destId="{EB8FADA7-B945-498C-9B7E-51018BA63130}" srcOrd="2" destOrd="0" presId="urn:microsoft.com/office/officeart/2005/8/layout/vList2"/>
    <dgm:cxn modelId="{6A1C64E1-098B-4344-A29B-11406DDC7D3E}" type="presParOf" srcId="{2E2AD7D6-D285-43F4-AF1E-5012EEC5742C}" destId="{1B950499-2C18-4002-8701-49A75A957B89}" srcOrd="3" destOrd="0" presId="urn:microsoft.com/office/officeart/2005/8/layout/vList2"/>
    <dgm:cxn modelId="{683CA20F-8CDF-4750-B3FE-34DC529987D0}" type="presParOf" srcId="{2E2AD7D6-D285-43F4-AF1E-5012EEC5742C}" destId="{BBB7A76C-8270-4D70-94D5-63A5816A5616}" srcOrd="4" destOrd="0" presId="urn:microsoft.com/office/officeart/2005/8/layout/vList2"/>
    <dgm:cxn modelId="{048C4F8A-892B-49AB-8232-BF593DA0FEF9}" type="presParOf" srcId="{2E2AD7D6-D285-43F4-AF1E-5012EEC5742C}" destId="{2AF71869-4740-4B35-940E-4804AB8B7271}" srcOrd="5" destOrd="0" presId="urn:microsoft.com/office/officeart/2005/8/layout/vList2"/>
    <dgm:cxn modelId="{CB363EA9-8278-4B84-8457-EE6532505B41}" type="presParOf" srcId="{2E2AD7D6-D285-43F4-AF1E-5012EEC5742C}" destId="{AD7DC8A8-69D4-44BC-8DE8-53E50232AC33}" srcOrd="6" destOrd="0" presId="urn:microsoft.com/office/officeart/2005/8/layout/vList2"/>
    <dgm:cxn modelId="{25EBE68B-5419-4B0E-BE8D-351A1DD3D008}" type="presParOf" srcId="{2E2AD7D6-D285-43F4-AF1E-5012EEC5742C}" destId="{C355EE5B-4E0E-4983-8022-39A9694A4C41}" srcOrd="7" destOrd="0" presId="urn:microsoft.com/office/officeart/2005/8/layout/vList2"/>
    <dgm:cxn modelId="{E0BCA254-DA51-466B-99E2-4A687F5B2BBC}" type="presParOf" srcId="{2E2AD7D6-D285-43F4-AF1E-5012EEC5742C}" destId="{E6320222-AC8B-450E-9E8D-D88FF8B555B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6F83DA7-76F0-43E9-9E49-21DCB898C2C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0052F12-8F1F-439C-964E-3BE0312CD7E1}">
      <dgm:prSet custT="1"/>
      <dgm:spPr/>
      <dgm:t>
        <a:bodyPr/>
        <a:lstStyle/>
        <a:p>
          <a:r>
            <a:rPr lang="en-IN" sz="2000"/>
            <a:t>Gamma-aminobutyric acid</a:t>
          </a:r>
          <a:endParaRPr lang="en-US" sz="2000"/>
        </a:p>
      </dgm:t>
    </dgm:pt>
    <dgm:pt modelId="{F8DF0263-9223-4FB1-BD03-5CD2EFF7ECF8}" type="parTrans" cxnId="{01F86F79-9399-481C-9572-63ABBE0FC220}">
      <dgm:prSet/>
      <dgm:spPr/>
      <dgm:t>
        <a:bodyPr/>
        <a:lstStyle/>
        <a:p>
          <a:endParaRPr lang="en-US" sz="2000"/>
        </a:p>
      </dgm:t>
    </dgm:pt>
    <dgm:pt modelId="{B18A3EDF-4B40-49B6-9BA9-B9C2D5D04B82}" type="sibTrans" cxnId="{01F86F79-9399-481C-9572-63ABBE0FC220}">
      <dgm:prSet/>
      <dgm:spPr/>
      <dgm:t>
        <a:bodyPr/>
        <a:lstStyle/>
        <a:p>
          <a:endParaRPr lang="en-US" sz="2000"/>
        </a:p>
      </dgm:t>
    </dgm:pt>
    <dgm:pt modelId="{9DC67040-B6B6-463C-8334-7EEC393F0C7F}">
      <dgm:prSet custT="1"/>
      <dgm:spPr/>
      <dgm:t>
        <a:bodyPr/>
        <a:lstStyle/>
        <a:p>
          <a:r>
            <a:rPr lang="en-IN" sz="2000"/>
            <a:t>Major inhibitory transmitter</a:t>
          </a:r>
          <a:endParaRPr lang="en-US" sz="2000"/>
        </a:p>
      </dgm:t>
    </dgm:pt>
    <dgm:pt modelId="{0E49E90F-552A-44A2-AA1A-A0A1E415D876}" type="parTrans" cxnId="{857AB4A0-BE41-4B18-8F6F-7AC5E2A16F95}">
      <dgm:prSet/>
      <dgm:spPr/>
      <dgm:t>
        <a:bodyPr/>
        <a:lstStyle/>
        <a:p>
          <a:endParaRPr lang="en-US" sz="2000"/>
        </a:p>
      </dgm:t>
    </dgm:pt>
    <dgm:pt modelId="{1FE456AC-AE74-480F-9C5D-E4743152B5B3}" type="sibTrans" cxnId="{857AB4A0-BE41-4B18-8F6F-7AC5E2A16F95}">
      <dgm:prSet/>
      <dgm:spPr/>
      <dgm:t>
        <a:bodyPr/>
        <a:lstStyle/>
        <a:p>
          <a:endParaRPr lang="en-US" sz="2000"/>
        </a:p>
      </dgm:t>
    </dgm:pt>
    <dgm:pt modelId="{A0BC7407-253D-4A23-9F6E-0D80641996AF}">
      <dgm:prSet custT="1"/>
      <dgm:spPr/>
      <dgm:t>
        <a:bodyPr/>
        <a:lstStyle/>
        <a:p>
          <a:r>
            <a:rPr lang="en-IN" sz="2000"/>
            <a:t>Most synapses in the brain use GABA</a:t>
          </a:r>
          <a:endParaRPr lang="en-US" sz="2000"/>
        </a:p>
      </dgm:t>
    </dgm:pt>
    <dgm:pt modelId="{B74F48F0-EE37-4B96-B36D-25536335E3EC}" type="parTrans" cxnId="{485F4015-7343-440C-B3A8-A73D0109A175}">
      <dgm:prSet/>
      <dgm:spPr/>
      <dgm:t>
        <a:bodyPr/>
        <a:lstStyle/>
        <a:p>
          <a:endParaRPr lang="en-US" sz="2000"/>
        </a:p>
      </dgm:t>
    </dgm:pt>
    <dgm:pt modelId="{45946800-21C4-4D7C-B7DF-CC5ACDCE64B6}" type="sibTrans" cxnId="{485F4015-7343-440C-B3A8-A73D0109A175}">
      <dgm:prSet/>
      <dgm:spPr/>
      <dgm:t>
        <a:bodyPr/>
        <a:lstStyle/>
        <a:p>
          <a:endParaRPr lang="en-US" sz="2000"/>
        </a:p>
      </dgm:t>
    </dgm:pt>
    <dgm:pt modelId="{997E307F-C6BA-4ED5-9278-E3BB06DD172A}">
      <dgm:prSet custT="1"/>
      <dgm:spPr/>
      <dgm:t>
        <a:bodyPr/>
        <a:lstStyle/>
        <a:p>
          <a:r>
            <a:rPr lang="en-IN" sz="2000"/>
            <a:t>Blocking of GABA receptors produces convolutions as muscle movements cannot be controlled without GABA’s inhibitory influence.</a:t>
          </a:r>
          <a:endParaRPr lang="en-US" sz="2000"/>
        </a:p>
      </dgm:t>
    </dgm:pt>
    <dgm:pt modelId="{FAABA6ED-58D7-439A-ABBB-D45F7B329CF9}" type="parTrans" cxnId="{6DEF35EE-E146-411B-9D71-F9C47CA48A30}">
      <dgm:prSet/>
      <dgm:spPr/>
      <dgm:t>
        <a:bodyPr/>
        <a:lstStyle/>
        <a:p>
          <a:endParaRPr lang="en-US" sz="2000"/>
        </a:p>
      </dgm:t>
    </dgm:pt>
    <dgm:pt modelId="{F1CFA772-651D-490C-A6B8-2445EF635DA9}" type="sibTrans" cxnId="{6DEF35EE-E146-411B-9D71-F9C47CA48A30}">
      <dgm:prSet/>
      <dgm:spPr/>
      <dgm:t>
        <a:bodyPr/>
        <a:lstStyle/>
        <a:p>
          <a:endParaRPr lang="en-US" sz="2000"/>
        </a:p>
      </dgm:t>
    </dgm:pt>
    <dgm:pt modelId="{836FA1E1-E630-4955-AB29-E5ABC89E90DE}">
      <dgm:prSet custT="1"/>
      <dgm:spPr/>
      <dgm:t>
        <a:bodyPr/>
        <a:lstStyle/>
        <a:p>
          <a:r>
            <a:rPr lang="en-IN" sz="2000"/>
            <a:t>Tranquilizing effects od certain anti-anxiety drugs (benzodiazepines) are a result of GABA’s inhibitory actions</a:t>
          </a:r>
          <a:endParaRPr lang="en-US" sz="2000"/>
        </a:p>
      </dgm:t>
    </dgm:pt>
    <dgm:pt modelId="{A731CD60-707E-4BCF-A794-846D4F97217E}" type="parTrans" cxnId="{B3D0B2EB-5160-4E07-AA12-C0F7FD84BED6}">
      <dgm:prSet/>
      <dgm:spPr/>
      <dgm:t>
        <a:bodyPr/>
        <a:lstStyle/>
        <a:p>
          <a:endParaRPr lang="en-US" sz="2000"/>
        </a:p>
      </dgm:t>
    </dgm:pt>
    <dgm:pt modelId="{941DDAF0-F47E-4388-A5B0-ED9B630A1140}" type="sibTrans" cxnId="{B3D0B2EB-5160-4E07-AA12-C0F7FD84BED6}">
      <dgm:prSet/>
      <dgm:spPr/>
      <dgm:t>
        <a:bodyPr/>
        <a:lstStyle/>
        <a:p>
          <a:endParaRPr lang="en-US" sz="2000"/>
        </a:p>
      </dgm:t>
    </dgm:pt>
    <dgm:pt modelId="{F74DA4B9-D8AC-4756-A128-53F5F691E454}" type="pres">
      <dgm:prSet presAssocID="{46F83DA7-76F0-43E9-9E49-21DCB898C2CE}" presName="linear" presStyleCnt="0">
        <dgm:presLayoutVars>
          <dgm:animLvl val="lvl"/>
          <dgm:resizeHandles val="exact"/>
        </dgm:presLayoutVars>
      </dgm:prSet>
      <dgm:spPr/>
    </dgm:pt>
    <dgm:pt modelId="{060FCD61-753B-4C98-9B73-E09E140C2BEF}" type="pres">
      <dgm:prSet presAssocID="{40052F12-8F1F-439C-964E-3BE0312CD7E1}" presName="parentText" presStyleLbl="node1" presStyleIdx="0" presStyleCnt="5">
        <dgm:presLayoutVars>
          <dgm:chMax val="0"/>
          <dgm:bulletEnabled val="1"/>
        </dgm:presLayoutVars>
      </dgm:prSet>
      <dgm:spPr/>
    </dgm:pt>
    <dgm:pt modelId="{183785C2-6FF5-4EDC-96E3-7AFEFFC3BCFD}" type="pres">
      <dgm:prSet presAssocID="{B18A3EDF-4B40-49B6-9BA9-B9C2D5D04B82}" presName="spacer" presStyleCnt="0"/>
      <dgm:spPr/>
    </dgm:pt>
    <dgm:pt modelId="{4CE73853-9D3D-4B30-8DA0-30DD3264B16A}" type="pres">
      <dgm:prSet presAssocID="{9DC67040-B6B6-463C-8334-7EEC393F0C7F}" presName="parentText" presStyleLbl="node1" presStyleIdx="1" presStyleCnt="5">
        <dgm:presLayoutVars>
          <dgm:chMax val="0"/>
          <dgm:bulletEnabled val="1"/>
        </dgm:presLayoutVars>
      </dgm:prSet>
      <dgm:spPr/>
    </dgm:pt>
    <dgm:pt modelId="{79463D73-9579-4517-A7F5-0BE9ACDB6AE0}" type="pres">
      <dgm:prSet presAssocID="{1FE456AC-AE74-480F-9C5D-E4743152B5B3}" presName="spacer" presStyleCnt="0"/>
      <dgm:spPr/>
    </dgm:pt>
    <dgm:pt modelId="{55DADAFA-DA18-4603-A3A9-DCBC5473D12B}" type="pres">
      <dgm:prSet presAssocID="{A0BC7407-253D-4A23-9F6E-0D80641996AF}" presName="parentText" presStyleLbl="node1" presStyleIdx="2" presStyleCnt="5">
        <dgm:presLayoutVars>
          <dgm:chMax val="0"/>
          <dgm:bulletEnabled val="1"/>
        </dgm:presLayoutVars>
      </dgm:prSet>
      <dgm:spPr/>
    </dgm:pt>
    <dgm:pt modelId="{5A7D994D-57BB-44B3-A1A7-AD44B850A965}" type="pres">
      <dgm:prSet presAssocID="{45946800-21C4-4D7C-B7DF-CC5ACDCE64B6}" presName="spacer" presStyleCnt="0"/>
      <dgm:spPr/>
    </dgm:pt>
    <dgm:pt modelId="{8B3075E8-0292-4E9F-97F7-144D44939A4B}" type="pres">
      <dgm:prSet presAssocID="{997E307F-C6BA-4ED5-9278-E3BB06DD172A}" presName="parentText" presStyleLbl="node1" presStyleIdx="3" presStyleCnt="5">
        <dgm:presLayoutVars>
          <dgm:chMax val="0"/>
          <dgm:bulletEnabled val="1"/>
        </dgm:presLayoutVars>
      </dgm:prSet>
      <dgm:spPr/>
    </dgm:pt>
    <dgm:pt modelId="{02F3FC51-DC12-4852-9D6F-449A44C3DD5C}" type="pres">
      <dgm:prSet presAssocID="{F1CFA772-651D-490C-A6B8-2445EF635DA9}" presName="spacer" presStyleCnt="0"/>
      <dgm:spPr/>
    </dgm:pt>
    <dgm:pt modelId="{4863C853-5CCB-4F21-B317-6F13690183FE}" type="pres">
      <dgm:prSet presAssocID="{836FA1E1-E630-4955-AB29-E5ABC89E90DE}" presName="parentText" presStyleLbl="node1" presStyleIdx="4" presStyleCnt="5">
        <dgm:presLayoutVars>
          <dgm:chMax val="0"/>
          <dgm:bulletEnabled val="1"/>
        </dgm:presLayoutVars>
      </dgm:prSet>
      <dgm:spPr/>
    </dgm:pt>
  </dgm:ptLst>
  <dgm:cxnLst>
    <dgm:cxn modelId="{485F4015-7343-440C-B3A8-A73D0109A175}" srcId="{46F83DA7-76F0-43E9-9E49-21DCB898C2CE}" destId="{A0BC7407-253D-4A23-9F6E-0D80641996AF}" srcOrd="2" destOrd="0" parTransId="{B74F48F0-EE37-4B96-B36D-25536335E3EC}" sibTransId="{45946800-21C4-4D7C-B7DF-CC5ACDCE64B6}"/>
    <dgm:cxn modelId="{63B70937-CBD2-44F5-9D51-4E77E97E51E8}" type="presOf" srcId="{46F83DA7-76F0-43E9-9E49-21DCB898C2CE}" destId="{F74DA4B9-D8AC-4756-A128-53F5F691E454}" srcOrd="0" destOrd="0" presId="urn:microsoft.com/office/officeart/2005/8/layout/vList2"/>
    <dgm:cxn modelId="{2D1B353D-B67A-4A57-B28C-7298EB67B328}" type="presOf" srcId="{A0BC7407-253D-4A23-9F6E-0D80641996AF}" destId="{55DADAFA-DA18-4603-A3A9-DCBC5473D12B}" srcOrd="0" destOrd="0" presId="urn:microsoft.com/office/officeart/2005/8/layout/vList2"/>
    <dgm:cxn modelId="{2BBD7B67-C26C-4154-808E-B2D9DCB40683}" type="presOf" srcId="{836FA1E1-E630-4955-AB29-E5ABC89E90DE}" destId="{4863C853-5CCB-4F21-B317-6F13690183FE}" srcOrd="0" destOrd="0" presId="urn:microsoft.com/office/officeart/2005/8/layout/vList2"/>
    <dgm:cxn modelId="{43C90F4F-25E0-40BC-8BF8-9AC8F74AAD16}" type="presOf" srcId="{9DC67040-B6B6-463C-8334-7EEC393F0C7F}" destId="{4CE73853-9D3D-4B30-8DA0-30DD3264B16A}" srcOrd="0" destOrd="0" presId="urn:microsoft.com/office/officeart/2005/8/layout/vList2"/>
    <dgm:cxn modelId="{01F86F79-9399-481C-9572-63ABBE0FC220}" srcId="{46F83DA7-76F0-43E9-9E49-21DCB898C2CE}" destId="{40052F12-8F1F-439C-964E-3BE0312CD7E1}" srcOrd="0" destOrd="0" parTransId="{F8DF0263-9223-4FB1-BD03-5CD2EFF7ECF8}" sibTransId="{B18A3EDF-4B40-49B6-9BA9-B9C2D5D04B82}"/>
    <dgm:cxn modelId="{A047BD7A-C036-4607-A1FA-8873509BBCB0}" type="presOf" srcId="{40052F12-8F1F-439C-964E-3BE0312CD7E1}" destId="{060FCD61-753B-4C98-9B73-E09E140C2BEF}" srcOrd="0" destOrd="0" presId="urn:microsoft.com/office/officeart/2005/8/layout/vList2"/>
    <dgm:cxn modelId="{857AB4A0-BE41-4B18-8F6F-7AC5E2A16F95}" srcId="{46F83DA7-76F0-43E9-9E49-21DCB898C2CE}" destId="{9DC67040-B6B6-463C-8334-7EEC393F0C7F}" srcOrd="1" destOrd="0" parTransId="{0E49E90F-552A-44A2-AA1A-A0A1E415D876}" sibTransId="{1FE456AC-AE74-480F-9C5D-E4743152B5B3}"/>
    <dgm:cxn modelId="{99B5ADD0-72DD-4A52-8904-CB44A16C8198}" type="presOf" srcId="{997E307F-C6BA-4ED5-9278-E3BB06DD172A}" destId="{8B3075E8-0292-4E9F-97F7-144D44939A4B}" srcOrd="0" destOrd="0" presId="urn:microsoft.com/office/officeart/2005/8/layout/vList2"/>
    <dgm:cxn modelId="{B3D0B2EB-5160-4E07-AA12-C0F7FD84BED6}" srcId="{46F83DA7-76F0-43E9-9E49-21DCB898C2CE}" destId="{836FA1E1-E630-4955-AB29-E5ABC89E90DE}" srcOrd="4" destOrd="0" parTransId="{A731CD60-707E-4BCF-A794-846D4F97217E}" sibTransId="{941DDAF0-F47E-4388-A5B0-ED9B630A1140}"/>
    <dgm:cxn modelId="{6DEF35EE-E146-411B-9D71-F9C47CA48A30}" srcId="{46F83DA7-76F0-43E9-9E49-21DCB898C2CE}" destId="{997E307F-C6BA-4ED5-9278-E3BB06DD172A}" srcOrd="3" destOrd="0" parTransId="{FAABA6ED-58D7-439A-ABBB-D45F7B329CF9}" sibTransId="{F1CFA772-651D-490C-A6B8-2445EF635DA9}"/>
    <dgm:cxn modelId="{4AF32B3A-70D2-4DDC-B567-7EA8CB2935B5}" type="presParOf" srcId="{F74DA4B9-D8AC-4756-A128-53F5F691E454}" destId="{060FCD61-753B-4C98-9B73-E09E140C2BEF}" srcOrd="0" destOrd="0" presId="urn:microsoft.com/office/officeart/2005/8/layout/vList2"/>
    <dgm:cxn modelId="{0D0AE451-83C1-4A7B-863C-8BD9E34EDD6F}" type="presParOf" srcId="{F74DA4B9-D8AC-4756-A128-53F5F691E454}" destId="{183785C2-6FF5-4EDC-96E3-7AFEFFC3BCFD}" srcOrd="1" destOrd="0" presId="urn:microsoft.com/office/officeart/2005/8/layout/vList2"/>
    <dgm:cxn modelId="{F6326D74-AACF-46D8-9366-EC316ACF4A76}" type="presParOf" srcId="{F74DA4B9-D8AC-4756-A128-53F5F691E454}" destId="{4CE73853-9D3D-4B30-8DA0-30DD3264B16A}" srcOrd="2" destOrd="0" presId="urn:microsoft.com/office/officeart/2005/8/layout/vList2"/>
    <dgm:cxn modelId="{044D2193-EB3A-4EE7-B18E-37CAC8BD0EF5}" type="presParOf" srcId="{F74DA4B9-D8AC-4756-A128-53F5F691E454}" destId="{79463D73-9579-4517-A7F5-0BE9ACDB6AE0}" srcOrd="3" destOrd="0" presId="urn:microsoft.com/office/officeart/2005/8/layout/vList2"/>
    <dgm:cxn modelId="{5E91CF79-F7DE-4AAB-8B49-992AAF9B454D}" type="presParOf" srcId="{F74DA4B9-D8AC-4756-A128-53F5F691E454}" destId="{55DADAFA-DA18-4603-A3A9-DCBC5473D12B}" srcOrd="4" destOrd="0" presId="urn:microsoft.com/office/officeart/2005/8/layout/vList2"/>
    <dgm:cxn modelId="{FA4AF08D-3DC6-4C57-8B79-BB4E31BE83D8}" type="presParOf" srcId="{F74DA4B9-D8AC-4756-A128-53F5F691E454}" destId="{5A7D994D-57BB-44B3-A1A7-AD44B850A965}" srcOrd="5" destOrd="0" presId="urn:microsoft.com/office/officeart/2005/8/layout/vList2"/>
    <dgm:cxn modelId="{DAD15D69-3AC0-47B5-A282-81E7D0B8586A}" type="presParOf" srcId="{F74DA4B9-D8AC-4756-A128-53F5F691E454}" destId="{8B3075E8-0292-4E9F-97F7-144D44939A4B}" srcOrd="6" destOrd="0" presId="urn:microsoft.com/office/officeart/2005/8/layout/vList2"/>
    <dgm:cxn modelId="{77F4BBC0-091F-449A-AB39-4F2AC2362AF1}" type="presParOf" srcId="{F74DA4B9-D8AC-4756-A128-53F5F691E454}" destId="{02F3FC51-DC12-4852-9D6F-449A44C3DD5C}" srcOrd="7" destOrd="0" presId="urn:microsoft.com/office/officeart/2005/8/layout/vList2"/>
    <dgm:cxn modelId="{FE35930A-D5F1-4147-A710-3EFB38647AE6}" type="presParOf" srcId="{F74DA4B9-D8AC-4756-A128-53F5F691E454}" destId="{4863C853-5CCB-4F21-B317-6F13690183F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6BA49E3-5278-4EB8-9BBF-84EFA4B3F43F}" type="doc">
      <dgm:prSet loTypeId="urn:microsoft.com/office/officeart/2005/8/layout/vList2" loCatId="list" qsTypeId="urn:microsoft.com/office/officeart/2005/8/quickstyle/simple1" qsCatId="simple" csTypeId="urn:microsoft.com/office/officeart/2005/8/colors/accent6_2" csCatId="accent6"/>
      <dgm:spPr/>
      <dgm:t>
        <a:bodyPr/>
        <a:lstStyle/>
        <a:p>
          <a:endParaRPr lang="en-IN"/>
        </a:p>
      </dgm:t>
    </dgm:pt>
    <dgm:pt modelId="{A0F49298-0DA3-4060-A7E2-25A4AF72C738}">
      <dgm:prSet/>
      <dgm:spPr/>
      <dgm:t>
        <a:bodyPr/>
        <a:lstStyle/>
        <a:p>
          <a:r>
            <a:rPr lang="en-IN"/>
            <a:t>The Spinal Cord </a:t>
          </a:r>
        </a:p>
      </dgm:t>
    </dgm:pt>
    <dgm:pt modelId="{F963F9D8-0CC1-4B84-8568-6E45100879DE}" type="parTrans" cxnId="{DEF9BE94-7335-44A7-99CB-A90A66E8722D}">
      <dgm:prSet/>
      <dgm:spPr/>
      <dgm:t>
        <a:bodyPr/>
        <a:lstStyle/>
        <a:p>
          <a:endParaRPr lang="en-IN"/>
        </a:p>
      </dgm:t>
    </dgm:pt>
    <dgm:pt modelId="{D98E4CB5-8531-4D63-B9D2-96E96CEF7213}" type="sibTrans" cxnId="{DEF9BE94-7335-44A7-99CB-A90A66E8722D}">
      <dgm:prSet/>
      <dgm:spPr/>
      <dgm:t>
        <a:bodyPr/>
        <a:lstStyle/>
        <a:p>
          <a:endParaRPr lang="en-IN"/>
        </a:p>
      </dgm:t>
    </dgm:pt>
    <dgm:pt modelId="{225A8F76-AA12-4870-8922-38394D5AFE6C}" type="pres">
      <dgm:prSet presAssocID="{D6BA49E3-5278-4EB8-9BBF-84EFA4B3F43F}" presName="linear" presStyleCnt="0">
        <dgm:presLayoutVars>
          <dgm:animLvl val="lvl"/>
          <dgm:resizeHandles val="exact"/>
        </dgm:presLayoutVars>
      </dgm:prSet>
      <dgm:spPr/>
    </dgm:pt>
    <dgm:pt modelId="{AFF2C527-D003-4A18-BEE7-16E261619DF3}" type="pres">
      <dgm:prSet presAssocID="{A0F49298-0DA3-4060-A7E2-25A4AF72C738}" presName="parentText" presStyleLbl="node1" presStyleIdx="0" presStyleCnt="1">
        <dgm:presLayoutVars>
          <dgm:chMax val="0"/>
          <dgm:bulletEnabled val="1"/>
        </dgm:presLayoutVars>
      </dgm:prSet>
      <dgm:spPr/>
    </dgm:pt>
  </dgm:ptLst>
  <dgm:cxnLst>
    <dgm:cxn modelId="{BF6E544F-2B40-470A-9ED3-311B03F1B036}" type="presOf" srcId="{D6BA49E3-5278-4EB8-9BBF-84EFA4B3F43F}" destId="{225A8F76-AA12-4870-8922-38394D5AFE6C}" srcOrd="0" destOrd="0" presId="urn:microsoft.com/office/officeart/2005/8/layout/vList2"/>
    <dgm:cxn modelId="{F737F47A-40BD-4DC1-8C0F-FC98EBC800AB}" type="presOf" srcId="{A0F49298-0DA3-4060-A7E2-25A4AF72C738}" destId="{AFF2C527-D003-4A18-BEE7-16E261619DF3}" srcOrd="0" destOrd="0" presId="urn:microsoft.com/office/officeart/2005/8/layout/vList2"/>
    <dgm:cxn modelId="{DEF9BE94-7335-44A7-99CB-A90A66E8722D}" srcId="{D6BA49E3-5278-4EB8-9BBF-84EFA4B3F43F}" destId="{A0F49298-0DA3-4060-A7E2-25A4AF72C738}" srcOrd="0" destOrd="0" parTransId="{F963F9D8-0CC1-4B84-8568-6E45100879DE}" sibTransId="{D98E4CB5-8531-4D63-B9D2-96E96CEF7213}"/>
    <dgm:cxn modelId="{8D84FD77-B35E-4A6C-81A9-C08EC4127317}" type="presParOf" srcId="{225A8F76-AA12-4870-8922-38394D5AFE6C}" destId="{AFF2C527-D003-4A18-BEE7-16E261619DF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BC11BF-A954-4DF5-95DE-38F231EEB2A2}"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IN"/>
        </a:p>
      </dgm:t>
    </dgm:pt>
    <dgm:pt modelId="{49E151A4-416D-448C-851A-3414A9D1FC44}">
      <dgm:prSet/>
      <dgm:spPr/>
      <dgm:t>
        <a:bodyPr/>
        <a:lstStyle/>
        <a:p>
          <a:r>
            <a:rPr lang="en-IN" b="0" i="0" baseline="0"/>
            <a:t>REGENERATION AND REPAIR OF NERVOUS TISSUE</a:t>
          </a:r>
          <a:endParaRPr lang="en-IN"/>
        </a:p>
      </dgm:t>
    </dgm:pt>
    <dgm:pt modelId="{86327823-CAFB-4D39-95D8-F79D95F3DDEF}" type="parTrans" cxnId="{E8B16A61-DFB6-4168-8974-E547598B4280}">
      <dgm:prSet/>
      <dgm:spPr/>
      <dgm:t>
        <a:bodyPr/>
        <a:lstStyle/>
        <a:p>
          <a:endParaRPr lang="en-IN"/>
        </a:p>
      </dgm:t>
    </dgm:pt>
    <dgm:pt modelId="{46AFF582-5D64-4734-AF7F-BDCE0CEAE4C6}" type="sibTrans" cxnId="{E8B16A61-DFB6-4168-8974-E547598B4280}">
      <dgm:prSet/>
      <dgm:spPr/>
      <dgm:t>
        <a:bodyPr/>
        <a:lstStyle/>
        <a:p>
          <a:endParaRPr lang="en-IN"/>
        </a:p>
      </dgm:t>
    </dgm:pt>
    <dgm:pt modelId="{B4840831-DD8F-43B6-A7F6-A41B49AA8932}" type="pres">
      <dgm:prSet presAssocID="{F7BC11BF-A954-4DF5-95DE-38F231EEB2A2}" presName="linear" presStyleCnt="0">
        <dgm:presLayoutVars>
          <dgm:animLvl val="lvl"/>
          <dgm:resizeHandles val="exact"/>
        </dgm:presLayoutVars>
      </dgm:prSet>
      <dgm:spPr/>
    </dgm:pt>
    <dgm:pt modelId="{64663C9D-633F-4EFD-99EB-814139BD6D18}" type="pres">
      <dgm:prSet presAssocID="{49E151A4-416D-448C-851A-3414A9D1FC44}" presName="parentText" presStyleLbl="node1" presStyleIdx="0" presStyleCnt="1">
        <dgm:presLayoutVars>
          <dgm:chMax val="0"/>
          <dgm:bulletEnabled val="1"/>
        </dgm:presLayoutVars>
      </dgm:prSet>
      <dgm:spPr/>
    </dgm:pt>
  </dgm:ptLst>
  <dgm:cxnLst>
    <dgm:cxn modelId="{4AE46E5E-44DC-4932-8289-C01452324CAF}" type="presOf" srcId="{49E151A4-416D-448C-851A-3414A9D1FC44}" destId="{64663C9D-633F-4EFD-99EB-814139BD6D18}" srcOrd="0" destOrd="0" presId="urn:microsoft.com/office/officeart/2005/8/layout/vList2"/>
    <dgm:cxn modelId="{E8B16A61-DFB6-4168-8974-E547598B4280}" srcId="{F7BC11BF-A954-4DF5-95DE-38F231EEB2A2}" destId="{49E151A4-416D-448C-851A-3414A9D1FC44}" srcOrd="0" destOrd="0" parTransId="{86327823-CAFB-4D39-95D8-F79D95F3DDEF}" sibTransId="{46AFF582-5D64-4734-AF7F-BDCE0CEAE4C6}"/>
    <dgm:cxn modelId="{FB74B2C3-05CB-42B2-8474-0CBFBF570270}" type="presOf" srcId="{F7BC11BF-A954-4DF5-95DE-38F231EEB2A2}" destId="{B4840831-DD8F-43B6-A7F6-A41B49AA8932}" srcOrd="0" destOrd="0" presId="urn:microsoft.com/office/officeart/2005/8/layout/vList2"/>
    <dgm:cxn modelId="{1A185014-1ACF-445B-AD3F-1CAEA5681120}" type="presParOf" srcId="{B4840831-DD8F-43B6-A7F6-A41B49AA8932}" destId="{64663C9D-633F-4EFD-99EB-814139BD6D1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7648229-FF8C-4F39-9D25-890377ECDA5E}" type="doc">
      <dgm:prSet loTypeId="urn:microsoft.com/office/officeart/2005/8/layout/vList2" loCatId="list" qsTypeId="urn:microsoft.com/office/officeart/2005/8/quickstyle/simple1" qsCatId="simple" csTypeId="urn:microsoft.com/office/officeart/2005/8/colors/accent2_3" csCatId="accent2"/>
      <dgm:spPr/>
      <dgm:t>
        <a:bodyPr/>
        <a:lstStyle/>
        <a:p>
          <a:endParaRPr lang="en-IN"/>
        </a:p>
      </dgm:t>
    </dgm:pt>
    <dgm:pt modelId="{B5372BE5-BA19-4773-8DB4-D2F59D6E0BA4}">
      <dgm:prSet/>
      <dgm:spPr/>
      <dgm:t>
        <a:bodyPr/>
        <a:lstStyle/>
        <a:p>
          <a:r>
            <a:rPr lang="en-US" dirty="0"/>
            <a:t>Principles of Learning</a:t>
          </a:r>
          <a:endParaRPr lang="en-IN" dirty="0"/>
        </a:p>
      </dgm:t>
    </dgm:pt>
    <dgm:pt modelId="{5C161A44-6FA4-4627-9582-404EA3BBC65D}" type="parTrans" cxnId="{FA256DD9-90D6-406E-965D-017E14498610}">
      <dgm:prSet/>
      <dgm:spPr/>
      <dgm:t>
        <a:bodyPr/>
        <a:lstStyle/>
        <a:p>
          <a:endParaRPr lang="en-IN"/>
        </a:p>
      </dgm:t>
    </dgm:pt>
    <dgm:pt modelId="{23460701-FEE2-4A70-BED8-26CC20ED6CF9}" type="sibTrans" cxnId="{FA256DD9-90D6-406E-965D-017E14498610}">
      <dgm:prSet/>
      <dgm:spPr/>
      <dgm:t>
        <a:bodyPr/>
        <a:lstStyle/>
        <a:p>
          <a:endParaRPr lang="en-IN"/>
        </a:p>
      </dgm:t>
    </dgm:pt>
    <dgm:pt modelId="{E6D75752-F0BF-4085-9666-19DE76FC3168}" type="pres">
      <dgm:prSet presAssocID="{E7648229-FF8C-4F39-9D25-890377ECDA5E}" presName="linear" presStyleCnt="0">
        <dgm:presLayoutVars>
          <dgm:animLvl val="lvl"/>
          <dgm:resizeHandles val="exact"/>
        </dgm:presLayoutVars>
      </dgm:prSet>
      <dgm:spPr/>
    </dgm:pt>
    <dgm:pt modelId="{640BD0D6-0139-44F6-AE01-8C8F8EED6B5B}" type="pres">
      <dgm:prSet presAssocID="{B5372BE5-BA19-4773-8DB4-D2F59D6E0BA4}" presName="parentText" presStyleLbl="node1" presStyleIdx="0" presStyleCnt="1">
        <dgm:presLayoutVars>
          <dgm:chMax val="0"/>
          <dgm:bulletEnabled val="1"/>
        </dgm:presLayoutVars>
      </dgm:prSet>
      <dgm:spPr/>
    </dgm:pt>
  </dgm:ptLst>
  <dgm:cxnLst>
    <dgm:cxn modelId="{225C7E9C-81BA-4943-BC84-0FF7B99A9C43}" type="presOf" srcId="{B5372BE5-BA19-4773-8DB4-D2F59D6E0BA4}" destId="{640BD0D6-0139-44F6-AE01-8C8F8EED6B5B}" srcOrd="0" destOrd="0" presId="urn:microsoft.com/office/officeart/2005/8/layout/vList2"/>
    <dgm:cxn modelId="{D0852AB7-0BD6-48E9-B29F-5C7EDF4155AE}" type="presOf" srcId="{E7648229-FF8C-4F39-9D25-890377ECDA5E}" destId="{E6D75752-F0BF-4085-9666-19DE76FC3168}" srcOrd="0" destOrd="0" presId="urn:microsoft.com/office/officeart/2005/8/layout/vList2"/>
    <dgm:cxn modelId="{FA256DD9-90D6-406E-965D-017E14498610}" srcId="{E7648229-FF8C-4F39-9D25-890377ECDA5E}" destId="{B5372BE5-BA19-4773-8DB4-D2F59D6E0BA4}" srcOrd="0" destOrd="0" parTransId="{5C161A44-6FA4-4627-9582-404EA3BBC65D}" sibTransId="{23460701-FEE2-4A70-BED8-26CC20ED6CF9}"/>
    <dgm:cxn modelId="{470BAD25-4817-4BB7-B6AC-097598D49D84}" type="presParOf" srcId="{E6D75752-F0BF-4085-9666-19DE76FC3168}" destId="{640BD0D6-0139-44F6-AE01-8C8F8EED6B5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DF8D34D-87DC-4C4E-8205-AC91553D3445}" type="doc">
      <dgm:prSet loTypeId="urn:microsoft.com/office/officeart/2005/8/layout/default" loCatId="list" qsTypeId="urn:microsoft.com/office/officeart/2005/8/quickstyle/simple3" qsCatId="simple" csTypeId="urn:microsoft.com/office/officeart/2005/8/colors/accent1_2" csCatId="accent1" phldr="1"/>
      <dgm:spPr/>
      <dgm:t>
        <a:bodyPr/>
        <a:lstStyle/>
        <a:p>
          <a:endParaRPr lang="en-US"/>
        </a:p>
      </dgm:t>
    </dgm:pt>
    <dgm:pt modelId="{2B18375D-C8F5-48F8-A0F8-2120D07D4FC7}">
      <dgm:prSet/>
      <dgm:spPr/>
      <dgm:t>
        <a:bodyPr/>
        <a:lstStyle/>
        <a:p>
          <a:r>
            <a:rPr lang="en-IN" b="1" i="1" dirty="0"/>
            <a:t>Learning</a:t>
          </a:r>
          <a:r>
            <a:rPr lang="en-IN" dirty="0"/>
            <a:t>: </a:t>
          </a:r>
          <a:r>
            <a:rPr lang="en-US" dirty="0"/>
            <a:t>Learning may be defined as a relatively permanent change in </a:t>
          </a:r>
          <a:r>
            <a:rPr lang="en-US" dirty="0" err="1"/>
            <a:t>behaviour</a:t>
          </a:r>
          <a:r>
            <a:rPr lang="en-US" dirty="0"/>
            <a:t> that occurs as the result of prior experience. (Atkinson &amp; Hilgard, 2019)</a:t>
          </a:r>
        </a:p>
      </dgm:t>
    </dgm:pt>
    <dgm:pt modelId="{98214122-0BE8-456B-A2DB-FD8A45D1366A}" type="parTrans" cxnId="{6DF2ADFB-DF08-4A0B-8FFF-D776DACBA00D}">
      <dgm:prSet/>
      <dgm:spPr/>
      <dgm:t>
        <a:bodyPr/>
        <a:lstStyle/>
        <a:p>
          <a:endParaRPr lang="en-US"/>
        </a:p>
      </dgm:t>
    </dgm:pt>
    <dgm:pt modelId="{E535DC53-6248-4E77-8DDC-EE046AC98B49}" type="sibTrans" cxnId="{6DF2ADFB-DF08-4A0B-8FFF-D776DACBA00D}">
      <dgm:prSet/>
      <dgm:spPr/>
      <dgm:t>
        <a:bodyPr/>
        <a:lstStyle/>
        <a:p>
          <a:endParaRPr lang="en-US"/>
        </a:p>
      </dgm:t>
    </dgm:pt>
    <dgm:pt modelId="{24BC9CA4-F2E7-452C-A4D0-3F552562B1C9}">
      <dgm:prSet/>
      <dgm:spPr/>
      <dgm:t>
        <a:bodyPr/>
        <a:lstStyle/>
        <a:p>
          <a:r>
            <a:rPr lang="en-US" b="1" dirty="0"/>
            <a:t>“Relatively permanent”: </a:t>
          </a:r>
          <a:r>
            <a:rPr lang="en-US" dirty="0"/>
            <a:t>when people learn anything, some part of the brain is changed to record this (Farmer et al. 2013) </a:t>
          </a:r>
        </a:p>
      </dgm:t>
    </dgm:pt>
    <dgm:pt modelId="{C4F6ACFE-8B00-4552-BA3C-DDF9BDACFDD8}" type="parTrans" cxnId="{214F5037-9C26-4779-BCD8-0C8A1811911F}">
      <dgm:prSet/>
      <dgm:spPr/>
      <dgm:t>
        <a:bodyPr/>
        <a:lstStyle/>
        <a:p>
          <a:endParaRPr lang="en-US"/>
        </a:p>
      </dgm:t>
    </dgm:pt>
    <dgm:pt modelId="{EBE9ADB3-EF72-4C4F-85C0-8EFFB50B3E79}" type="sibTrans" cxnId="{214F5037-9C26-4779-BCD8-0C8A1811911F}">
      <dgm:prSet/>
      <dgm:spPr/>
      <dgm:t>
        <a:bodyPr/>
        <a:lstStyle/>
        <a:p>
          <a:endParaRPr lang="en-US"/>
        </a:p>
      </dgm:t>
    </dgm:pt>
    <dgm:pt modelId="{2D805215-E5AD-4A92-9DFA-B9F5A7893890}">
      <dgm:prSet/>
      <dgm:spPr/>
      <dgm:t>
        <a:bodyPr/>
        <a:lstStyle/>
        <a:p>
          <a:r>
            <a:rPr lang="en-US" b="1" dirty="0"/>
            <a:t>Process of memory- </a:t>
          </a:r>
          <a:r>
            <a:rPr lang="en-US" dirty="0"/>
            <a:t>without the ability to remember what happens learning cannot take place.</a:t>
          </a:r>
        </a:p>
      </dgm:t>
    </dgm:pt>
    <dgm:pt modelId="{9ECCA5BB-DC5A-445B-BF82-1482D1D349D7}" type="parTrans" cxnId="{A847D49D-B455-4CC3-87EF-D50F6B6475B1}">
      <dgm:prSet/>
      <dgm:spPr/>
      <dgm:t>
        <a:bodyPr/>
        <a:lstStyle/>
        <a:p>
          <a:endParaRPr lang="en-US"/>
        </a:p>
      </dgm:t>
    </dgm:pt>
    <dgm:pt modelId="{37F7BE50-BD5B-4981-A9DA-37FE18A83034}" type="sibTrans" cxnId="{A847D49D-B455-4CC3-87EF-D50F6B6475B1}">
      <dgm:prSet/>
      <dgm:spPr/>
      <dgm:t>
        <a:bodyPr/>
        <a:lstStyle/>
        <a:p>
          <a:endParaRPr lang="en-US"/>
        </a:p>
      </dgm:t>
    </dgm:pt>
    <dgm:pt modelId="{20F6C779-F4B2-4CB7-942D-F84FF4EA06ED}">
      <dgm:prSet/>
      <dgm:spPr/>
      <dgm:t>
        <a:bodyPr/>
        <a:lstStyle/>
        <a:p>
          <a:r>
            <a:rPr lang="en-US" b="1" dirty="0"/>
            <a:t>“experience or practice”: </a:t>
          </a:r>
          <a:r>
            <a:rPr lang="en-US" dirty="0"/>
            <a:t>e.g. last time you experienced pain- we learn. Vice versa for pleasure experience.</a:t>
          </a:r>
        </a:p>
      </dgm:t>
    </dgm:pt>
    <dgm:pt modelId="{0AF7E869-7E58-4274-9173-29E73452FF4C}" type="parTrans" cxnId="{72A58943-D85F-498B-8278-F2F735204CF4}">
      <dgm:prSet/>
      <dgm:spPr/>
      <dgm:t>
        <a:bodyPr/>
        <a:lstStyle/>
        <a:p>
          <a:endParaRPr lang="en-US"/>
        </a:p>
      </dgm:t>
    </dgm:pt>
    <dgm:pt modelId="{6E6E2FA7-5594-4F23-840C-09B25B36C383}" type="sibTrans" cxnId="{72A58943-D85F-498B-8278-F2F735204CF4}">
      <dgm:prSet/>
      <dgm:spPr/>
      <dgm:t>
        <a:bodyPr/>
        <a:lstStyle/>
        <a:p>
          <a:endParaRPr lang="en-US"/>
        </a:p>
      </dgm:t>
    </dgm:pt>
    <dgm:pt modelId="{88661566-5030-4FED-A6BB-EEF99CAC4CCE}">
      <dgm:prSet/>
      <dgm:spPr/>
      <dgm:t>
        <a:bodyPr/>
        <a:lstStyle/>
        <a:p>
          <a:r>
            <a:rPr lang="en-US" dirty="0"/>
            <a:t>Not all change is accomplished through learning</a:t>
          </a:r>
        </a:p>
      </dgm:t>
    </dgm:pt>
    <dgm:pt modelId="{F7596193-D0EB-4869-8E76-DBD740D34F8E}" type="parTrans" cxnId="{12A54A70-0573-445C-A1BE-74E9D0C5A24F}">
      <dgm:prSet/>
      <dgm:spPr/>
      <dgm:t>
        <a:bodyPr/>
        <a:lstStyle/>
        <a:p>
          <a:endParaRPr lang="en-US"/>
        </a:p>
      </dgm:t>
    </dgm:pt>
    <dgm:pt modelId="{ABB6622D-3D55-42D5-9A1A-8DC02FFC2C5B}" type="sibTrans" cxnId="{12A54A70-0573-445C-A1BE-74E9D0C5A24F}">
      <dgm:prSet/>
      <dgm:spPr/>
      <dgm:t>
        <a:bodyPr/>
        <a:lstStyle/>
        <a:p>
          <a:endParaRPr lang="en-US"/>
        </a:p>
      </dgm:t>
    </dgm:pt>
    <dgm:pt modelId="{A602D597-BF1B-4CE0-9D9F-90207ADE64F8}">
      <dgm:prSet/>
      <dgm:spPr/>
      <dgm:t>
        <a:bodyPr/>
        <a:lstStyle/>
        <a:p>
          <a:r>
            <a:rPr lang="en-US"/>
            <a:t>Maturation: height, size of the brain, practice alone will not allow a child to walk. – genetic blueprint </a:t>
          </a:r>
        </a:p>
      </dgm:t>
    </dgm:pt>
    <dgm:pt modelId="{9B699F2D-27E8-4A87-B6BB-CEA68AA8173D}" type="parTrans" cxnId="{EA0BB2F2-D7D6-4040-949D-1BAB9A51FA64}">
      <dgm:prSet/>
      <dgm:spPr/>
      <dgm:t>
        <a:bodyPr/>
        <a:lstStyle/>
        <a:p>
          <a:endParaRPr lang="en-US"/>
        </a:p>
      </dgm:t>
    </dgm:pt>
    <dgm:pt modelId="{04305B43-7388-43DC-B8C0-50B5453D9AC1}" type="sibTrans" cxnId="{EA0BB2F2-D7D6-4040-949D-1BAB9A51FA64}">
      <dgm:prSet/>
      <dgm:spPr/>
      <dgm:t>
        <a:bodyPr/>
        <a:lstStyle/>
        <a:p>
          <a:endParaRPr lang="en-US"/>
        </a:p>
      </dgm:t>
    </dgm:pt>
    <dgm:pt modelId="{9199D8D3-1834-4A7A-B058-B7200B4A9E10}" type="pres">
      <dgm:prSet presAssocID="{7DF8D34D-87DC-4C4E-8205-AC91553D3445}" presName="diagram" presStyleCnt="0">
        <dgm:presLayoutVars>
          <dgm:dir/>
          <dgm:resizeHandles val="exact"/>
        </dgm:presLayoutVars>
      </dgm:prSet>
      <dgm:spPr/>
    </dgm:pt>
    <dgm:pt modelId="{B6DE79D1-AC32-4D17-9D8D-9958E0CC44CA}" type="pres">
      <dgm:prSet presAssocID="{2B18375D-C8F5-48F8-A0F8-2120D07D4FC7}" presName="node" presStyleLbl="node1" presStyleIdx="0" presStyleCnt="6">
        <dgm:presLayoutVars>
          <dgm:bulletEnabled val="1"/>
        </dgm:presLayoutVars>
      </dgm:prSet>
      <dgm:spPr/>
    </dgm:pt>
    <dgm:pt modelId="{A74DC1DD-BD36-45DA-959D-DD22F0E41F1D}" type="pres">
      <dgm:prSet presAssocID="{E535DC53-6248-4E77-8DDC-EE046AC98B49}" presName="sibTrans" presStyleCnt="0"/>
      <dgm:spPr/>
    </dgm:pt>
    <dgm:pt modelId="{ED1CE089-6DAA-4B10-BEA2-9F4A111B54E5}" type="pres">
      <dgm:prSet presAssocID="{24BC9CA4-F2E7-452C-A4D0-3F552562B1C9}" presName="node" presStyleLbl="node1" presStyleIdx="1" presStyleCnt="6">
        <dgm:presLayoutVars>
          <dgm:bulletEnabled val="1"/>
        </dgm:presLayoutVars>
      </dgm:prSet>
      <dgm:spPr/>
    </dgm:pt>
    <dgm:pt modelId="{2AB06605-26ED-422D-ADC2-5D916FFDC3F2}" type="pres">
      <dgm:prSet presAssocID="{EBE9ADB3-EF72-4C4F-85C0-8EFFB50B3E79}" presName="sibTrans" presStyleCnt="0"/>
      <dgm:spPr/>
    </dgm:pt>
    <dgm:pt modelId="{C88EDF68-7B4A-438A-9407-2A62996C223C}" type="pres">
      <dgm:prSet presAssocID="{2D805215-E5AD-4A92-9DFA-B9F5A7893890}" presName="node" presStyleLbl="node1" presStyleIdx="2" presStyleCnt="6">
        <dgm:presLayoutVars>
          <dgm:bulletEnabled val="1"/>
        </dgm:presLayoutVars>
      </dgm:prSet>
      <dgm:spPr/>
    </dgm:pt>
    <dgm:pt modelId="{6BD10C40-F53A-4503-8620-468472CE4D5E}" type="pres">
      <dgm:prSet presAssocID="{37F7BE50-BD5B-4981-A9DA-37FE18A83034}" presName="sibTrans" presStyleCnt="0"/>
      <dgm:spPr/>
    </dgm:pt>
    <dgm:pt modelId="{00C57430-3F9F-4724-8504-D13BBB93936A}" type="pres">
      <dgm:prSet presAssocID="{20F6C779-F4B2-4CB7-942D-F84FF4EA06ED}" presName="node" presStyleLbl="node1" presStyleIdx="3" presStyleCnt="6">
        <dgm:presLayoutVars>
          <dgm:bulletEnabled val="1"/>
        </dgm:presLayoutVars>
      </dgm:prSet>
      <dgm:spPr/>
    </dgm:pt>
    <dgm:pt modelId="{D9ED9036-705A-4BCC-9E14-A46D6D6C11C8}" type="pres">
      <dgm:prSet presAssocID="{6E6E2FA7-5594-4F23-840C-09B25B36C383}" presName="sibTrans" presStyleCnt="0"/>
      <dgm:spPr/>
    </dgm:pt>
    <dgm:pt modelId="{F5B5EBAE-08D3-4AFC-A110-89EA3F9F6ABC}" type="pres">
      <dgm:prSet presAssocID="{88661566-5030-4FED-A6BB-EEF99CAC4CCE}" presName="node" presStyleLbl="node1" presStyleIdx="4" presStyleCnt="6">
        <dgm:presLayoutVars>
          <dgm:bulletEnabled val="1"/>
        </dgm:presLayoutVars>
      </dgm:prSet>
      <dgm:spPr/>
    </dgm:pt>
    <dgm:pt modelId="{A23CD11C-314C-4F8A-850E-005CE7F02D2D}" type="pres">
      <dgm:prSet presAssocID="{ABB6622D-3D55-42D5-9A1A-8DC02FFC2C5B}" presName="sibTrans" presStyleCnt="0"/>
      <dgm:spPr/>
    </dgm:pt>
    <dgm:pt modelId="{C5916733-F548-4FD2-ACF8-3CD08A7DACE8}" type="pres">
      <dgm:prSet presAssocID="{A602D597-BF1B-4CE0-9D9F-90207ADE64F8}" presName="node" presStyleLbl="node1" presStyleIdx="5" presStyleCnt="6">
        <dgm:presLayoutVars>
          <dgm:bulletEnabled val="1"/>
        </dgm:presLayoutVars>
      </dgm:prSet>
      <dgm:spPr/>
    </dgm:pt>
  </dgm:ptLst>
  <dgm:cxnLst>
    <dgm:cxn modelId="{2259D20A-7B3F-4C1E-B92F-FD6BE27C6A14}" type="presOf" srcId="{24BC9CA4-F2E7-452C-A4D0-3F552562B1C9}" destId="{ED1CE089-6DAA-4B10-BEA2-9F4A111B54E5}" srcOrd="0" destOrd="0" presId="urn:microsoft.com/office/officeart/2005/8/layout/default"/>
    <dgm:cxn modelId="{87EA2521-5285-4435-BCC4-CEFAADBD7E25}" type="presOf" srcId="{A602D597-BF1B-4CE0-9D9F-90207ADE64F8}" destId="{C5916733-F548-4FD2-ACF8-3CD08A7DACE8}" srcOrd="0" destOrd="0" presId="urn:microsoft.com/office/officeart/2005/8/layout/default"/>
    <dgm:cxn modelId="{56D9B324-131C-40CD-AC23-6DEF8057D9C4}" type="presOf" srcId="{2B18375D-C8F5-48F8-A0F8-2120D07D4FC7}" destId="{B6DE79D1-AC32-4D17-9D8D-9958E0CC44CA}" srcOrd="0" destOrd="0" presId="urn:microsoft.com/office/officeart/2005/8/layout/default"/>
    <dgm:cxn modelId="{214F5037-9C26-4779-BCD8-0C8A1811911F}" srcId="{7DF8D34D-87DC-4C4E-8205-AC91553D3445}" destId="{24BC9CA4-F2E7-452C-A4D0-3F552562B1C9}" srcOrd="1" destOrd="0" parTransId="{C4F6ACFE-8B00-4552-BA3C-DDF9BDACFDD8}" sibTransId="{EBE9ADB3-EF72-4C4F-85C0-8EFFB50B3E79}"/>
    <dgm:cxn modelId="{72A58943-D85F-498B-8278-F2F735204CF4}" srcId="{7DF8D34D-87DC-4C4E-8205-AC91553D3445}" destId="{20F6C779-F4B2-4CB7-942D-F84FF4EA06ED}" srcOrd="3" destOrd="0" parTransId="{0AF7E869-7E58-4274-9173-29E73452FF4C}" sibTransId="{6E6E2FA7-5594-4F23-840C-09B25B36C383}"/>
    <dgm:cxn modelId="{12A54A70-0573-445C-A1BE-74E9D0C5A24F}" srcId="{7DF8D34D-87DC-4C4E-8205-AC91553D3445}" destId="{88661566-5030-4FED-A6BB-EEF99CAC4CCE}" srcOrd="4" destOrd="0" parTransId="{F7596193-D0EB-4869-8E76-DBD740D34F8E}" sibTransId="{ABB6622D-3D55-42D5-9A1A-8DC02FFC2C5B}"/>
    <dgm:cxn modelId="{CE08B572-5BEE-486D-8765-D22E753E0E27}" type="presOf" srcId="{88661566-5030-4FED-A6BB-EEF99CAC4CCE}" destId="{F5B5EBAE-08D3-4AFC-A110-89EA3F9F6ABC}" srcOrd="0" destOrd="0" presId="urn:microsoft.com/office/officeart/2005/8/layout/default"/>
    <dgm:cxn modelId="{66956A9C-8033-4059-A3A8-0FA3CCEEE089}" type="presOf" srcId="{7DF8D34D-87DC-4C4E-8205-AC91553D3445}" destId="{9199D8D3-1834-4A7A-B058-B7200B4A9E10}" srcOrd="0" destOrd="0" presId="urn:microsoft.com/office/officeart/2005/8/layout/default"/>
    <dgm:cxn modelId="{A847D49D-B455-4CC3-87EF-D50F6B6475B1}" srcId="{7DF8D34D-87DC-4C4E-8205-AC91553D3445}" destId="{2D805215-E5AD-4A92-9DFA-B9F5A7893890}" srcOrd="2" destOrd="0" parTransId="{9ECCA5BB-DC5A-445B-BF82-1482D1D349D7}" sibTransId="{37F7BE50-BD5B-4981-A9DA-37FE18A83034}"/>
    <dgm:cxn modelId="{CE316FB5-ECF7-4B3B-99A1-8F4CCB9FD418}" type="presOf" srcId="{20F6C779-F4B2-4CB7-942D-F84FF4EA06ED}" destId="{00C57430-3F9F-4724-8504-D13BBB93936A}" srcOrd="0" destOrd="0" presId="urn:microsoft.com/office/officeart/2005/8/layout/default"/>
    <dgm:cxn modelId="{DB009FDE-E35F-4873-9671-59026840B809}" type="presOf" srcId="{2D805215-E5AD-4A92-9DFA-B9F5A7893890}" destId="{C88EDF68-7B4A-438A-9407-2A62996C223C}" srcOrd="0" destOrd="0" presId="urn:microsoft.com/office/officeart/2005/8/layout/default"/>
    <dgm:cxn modelId="{EA0BB2F2-D7D6-4040-949D-1BAB9A51FA64}" srcId="{7DF8D34D-87DC-4C4E-8205-AC91553D3445}" destId="{A602D597-BF1B-4CE0-9D9F-90207ADE64F8}" srcOrd="5" destOrd="0" parTransId="{9B699F2D-27E8-4A87-B6BB-CEA68AA8173D}" sibTransId="{04305B43-7388-43DC-B8C0-50B5453D9AC1}"/>
    <dgm:cxn modelId="{6DF2ADFB-DF08-4A0B-8FFF-D776DACBA00D}" srcId="{7DF8D34D-87DC-4C4E-8205-AC91553D3445}" destId="{2B18375D-C8F5-48F8-A0F8-2120D07D4FC7}" srcOrd="0" destOrd="0" parTransId="{98214122-0BE8-456B-A2DB-FD8A45D1366A}" sibTransId="{E535DC53-6248-4E77-8DDC-EE046AC98B49}"/>
    <dgm:cxn modelId="{D83C308B-2D62-497A-872B-FF2AE829328F}" type="presParOf" srcId="{9199D8D3-1834-4A7A-B058-B7200B4A9E10}" destId="{B6DE79D1-AC32-4D17-9D8D-9958E0CC44CA}" srcOrd="0" destOrd="0" presId="urn:microsoft.com/office/officeart/2005/8/layout/default"/>
    <dgm:cxn modelId="{B75D2579-A312-4B69-AFA4-720F3627D569}" type="presParOf" srcId="{9199D8D3-1834-4A7A-B058-B7200B4A9E10}" destId="{A74DC1DD-BD36-45DA-959D-DD22F0E41F1D}" srcOrd="1" destOrd="0" presId="urn:microsoft.com/office/officeart/2005/8/layout/default"/>
    <dgm:cxn modelId="{673F652C-CCC8-41B4-AC22-92D08F628097}" type="presParOf" srcId="{9199D8D3-1834-4A7A-B058-B7200B4A9E10}" destId="{ED1CE089-6DAA-4B10-BEA2-9F4A111B54E5}" srcOrd="2" destOrd="0" presId="urn:microsoft.com/office/officeart/2005/8/layout/default"/>
    <dgm:cxn modelId="{2E55C5F3-FC1D-4B50-B109-6C78654C3BC5}" type="presParOf" srcId="{9199D8D3-1834-4A7A-B058-B7200B4A9E10}" destId="{2AB06605-26ED-422D-ADC2-5D916FFDC3F2}" srcOrd="3" destOrd="0" presId="urn:microsoft.com/office/officeart/2005/8/layout/default"/>
    <dgm:cxn modelId="{C57704B2-BA6E-4366-80A1-D3D699094609}" type="presParOf" srcId="{9199D8D3-1834-4A7A-B058-B7200B4A9E10}" destId="{C88EDF68-7B4A-438A-9407-2A62996C223C}" srcOrd="4" destOrd="0" presId="urn:microsoft.com/office/officeart/2005/8/layout/default"/>
    <dgm:cxn modelId="{8FD95E96-676A-492E-BAD4-77D61315A784}" type="presParOf" srcId="{9199D8D3-1834-4A7A-B058-B7200B4A9E10}" destId="{6BD10C40-F53A-4503-8620-468472CE4D5E}" srcOrd="5" destOrd="0" presId="urn:microsoft.com/office/officeart/2005/8/layout/default"/>
    <dgm:cxn modelId="{E176BA75-3E1D-4CF1-B96E-2053179023EC}" type="presParOf" srcId="{9199D8D3-1834-4A7A-B058-B7200B4A9E10}" destId="{00C57430-3F9F-4724-8504-D13BBB93936A}" srcOrd="6" destOrd="0" presId="urn:microsoft.com/office/officeart/2005/8/layout/default"/>
    <dgm:cxn modelId="{18EAB1B2-7FBA-4D2E-A5E2-A20E9C79A13A}" type="presParOf" srcId="{9199D8D3-1834-4A7A-B058-B7200B4A9E10}" destId="{D9ED9036-705A-4BCC-9E14-A46D6D6C11C8}" srcOrd="7" destOrd="0" presId="urn:microsoft.com/office/officeart/2005/8/layout/default"/>
    <dgm:cxn modelId="{8B42552D-88C4-4B84-82AE-351DF3C10355}" type="presParOf" srcId="{9199D8D3-1834-4A7A-B058-B7200B4A9E10}" destId="{F5B5EBAE-08D3-4AFC-A110-89EA3F9F6ABC}" srcOrd="8" destOrd="0" presId="urn:microsoft.com/office/officeart/2005/8/layout/default"/>
    <dgm:cxn modelId="{2D8929EC-69FB-415D-BC69-DF4815CADCCC}" type="presParOf" srcId="{9199D8D3-1834-4A7A-B058-B7200B4A9E10}" destId="{A23CD11C-314C-4F8A-850E-005CE7F02D2D}" srcOrd="9" destOrd="0" presId="urn:microsoft.com/office/officeart/2005/8/layout/default"/>
    <dgm:cxn modelId="{0F6BA0CB-2BAE-4BCC-8A08-0FC40EF82378}" type="presParOf" srcId="{9199D8D3-1834-4A7A-B058-B7200B4A9E10}" destId="{C5916733-F548-4FD2-ACF8-3CD08A7DACE8}" srcOrd="10"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BBA294D-B64A-4F0A-99DA-AF8CC65B9F61}"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en-IN"/>
        </a:p>
      </dgm:t>
    </dgm:pt>
    <dgm:pt modelId="{842868C1-94D6-4196-A018-AF97A91EFC0E}">
      <dgm:prSet/>
      <dgm:spPr/>
      <dgm:t>
        <a:bodyPr/>
        <a:lstStyle/>
        <a:p>
          <a:r>
            <a:rPr lang="en-IN" b="0" i="0" baseline="0"/>
            <a:t>Biological constraints</a:t>
          </a:r>
          <a:endParaRPr lang="en-IN"/>
        </a:p>
      </dgm:t>
    </dgm:pt>
    <dgm:pt modelId="{A087F511-05DF-4942-9364-715E90E5A5EB}" type="parTrans" cxnId="{C4346207-A93D-4C62-85DF-E453BD2117FA}">
      <dgm:prSet/>
      <dgm:spPr/>
      <dgm:t>
        <a:bodyPr/>
        <a:lstStyle/>
        <a:p>
          <a:endParaRPr lang="en-IN"/>
        </a:p>
      </dgm:t>
    </dgm:pt>
    <dgm:pt modelId="{03BFD590-FE27-4203-A6A1-F5E0E1AB3130}" type="sibTrans" cxnId="{C4346207-A93D-4C62-85DF-E453BD2117FA}">
      <dgm:prSet/>
      <dgm:spPr/>
      <dgm:t>
        <a:bodyPr/>
        <a:lstStyle/>
        <a:p>
          <a:endParaRPr lang="en-IN"/>
        </a:p>
      </dgm:t>
    </dgm:pt>
    <dgm:pt modelId="{2E077113-7019-409B-9ACF-85BA9310DE0D}" type="pres">
      <dgm:prSet presAssocID="{9BBA294D-B64A-4F0A-99DA-AF8CC65B9F61}" presName="linear" presStyleCnt="0">
        <dgm:presLayoutVars>
          <dgm:animLvl val="lvl"/>
          <dgm:resizeHandles val="exact"/>
        </dgm:presLayoutVars>
      </dgm:prSet>
      <dgm:spPr/>
    </dgm:pt>
    <dgm:pt modelId="{202B1A71-AD10-49DF-B105-2E28A19C96A1}" type="pres">
      <dgm:prSet presAssocID="{842868C1-94D6-4196-A018-AF97A91EFC0E}" presName="parentText" presStyleLbl="node1" presStyleIdx="0" presStyleCnt="1">
        <dgm:presLayoutVars>
          <dgm:chMax val="0"/>
          <dgm:bulletEnabled val="1"/>
        </dgm:presLayoutVars>
      </dgm:prSet>
      <dgm:spPr/>
    </dgm:pt>
  </dgm:ptLst>
  <dgm:cxnLst>
    <dgm:cxn modelId="{C4346207-A93D-4C62-85DF-E453BD2117FA}" srcId="{9BBA294D-B64A-4F0A-99DA-AF8CC65B9F61}" destId="{842868C1-94D6-4196-A018-AF97A91EFC0E}" srcOrd="0" destOrd="0" parTransId="{A087F511-05DF-4942-9364-715E90E5A5EB}" sibTransId="{03BFD590-FE27-4203-A6A1-F5E0E1AB3130}"/>
    <dgm:cxn modelId="{042ACD4E-7B82-4D73-9199-70E897505FC4}" type="presOf" srcId="{9BBA294D-B64A-4F0A-99DA-AF8CC65B9F61}" destId="{2E077113-7019-409B-9ACF-85BA9310DE0D}" srcOrd="0" destOrd="0" presId="urn:microsoft.com/office/officeart/2005/8/layout/vList2"/>
    <dgm:cxn modelId="{50EAD2FD-137B-4AC1-8139-65B817464B0F}" type="presOf" srcId="{842868C1-94D6-4196-A018-AF97A91EFC0E}" destId="{202B1A71-AD10-49DF-B105-2E28A19C96A1}" srcOrd="0" destOrd="0" presId="urn:microsoft.com/office/officeart/2005/8/layout/vList2"/>
    <dgm:cxn modelId="{8DFAF227-1D21-466B-BC6F-CCFC569FF14E}" type="presParOf" srcId="{2E077113-7019-409B-9ACF-85BA9310DE0D}" destId="{202B1A71-AD10-49DF-B105-2E28A19C96A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4185E19-E8A5-4991-B9FD-E780F694EA5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66CAA48-1428-4F13-95EC-5213ED215C9C}">
      <dgm:prSet/>
      <dgm:spPr/>
      <dgm:t>
        <a:bodyPr/>
        <a:lstStyle/>
        <a:p>
          <a:r>
            <a:rPr lang="en-IN" b="0" i="0" baseline="0" dirty="0"/>
            <a:t>OPERANT CONDITIONING</a:t>
          </a:r>
          <a:endParaRPr lang="en-IN" dirty="0"/>
        </a:p>
      </dgm:t>
    </dgm:pt>
    <dgm:pt modelId="{FF9558FB-BCD8-42BF-8153-A2416BD0CB91}" type="parTrans" cxnId="{D9DE8E2C-2CF1-44B5-A321-D6A57F662520}">
      <dgm:prSet/>
      <dgm:spPr/>
      <dgm:t>
        <a:bodyPr/>
        <a:lstStyle/>
        <a:p>
          <a:endParaRPr lang="en-IN"/>
        </a:p>
      </dgm:t>
    </dgm:pt>
    <dgm:pt modelId="{F9B5850B-1491-4640-988C-2E1EA107A6FB}" type="sibTrans" cxnId="{D9DE8E2C-2CF1-44B5-A321-D6A57F662520}">
      <dgm:prSet/>
      <dgm:spPr/>
      <dgm:t>
        <a:bodyPr/>
        <a:lstStyle/>
        <a:p>
          <a:endParaRPr lang="en-IN"/>
        </a:p>
      </dgm:t>
    </dgm:pt>
    <dgm:pt modelId="{DCAC72F3-8B56-48FC-8E24-AA4FDE172DDC}" type="pres">
      <dgm:prSet presAssocID="{64185E19-E8A5-4991-B9FD-E780F694EA57}" presName="linear" presStyleCnt="0">
        <dgm:presLayoutVars>
          <dgm:animLvl val="lvl"/>
          <dgm:resizeHandles val="exact"/>
        </dgm:presLayoutVars>
      </dgm:prSet>
      <dgm:spPr/>
    </dgm:pt>
    <dgm:pt modelId="{DC6A3802-C42A-4322-8188-2E7B83341FC7}" type="pres">
      <dgm:prSet presAssocID="{366CAA48-1428-4F13-95EC-5213ED215C9C}" presName="parentText" presStyleLbl="node1" presStyleIdx="0" presStyleCnt="1">
        <dgm:presLayoutVars>
          <dgm:chMax val="0"/>
          <dgm:bulletEnabled val="1"/>
        </dgm:presLayoutVars>
      </dgm:prSet>
      <dgm:spPr/>
    </dgm:pt>
  </dgm:ptLst>
  <dgm:cxnLst>
    <dgm:cxn modelId="{14622709-33BE-4FDB-8E8D-37FB6572431B}" type="presOf" srcId="{366CAA48-1428-4F13-95EC-5213ED215C9C}" destId="{DC6A3802-C42A-4322-8188-2E7B83341FC7}" srcOrd="0" destOrd="0" presId="urn:microsoft.com/office/officeart/2005/8/layout/vList2"/>
    <dgm:cxn modelId="{D9DE8E2C-2CF1-44B5-A321-D6A57F662520}" srcId="{64185E19-E8A5-4991-B9FD-E780F694EA57}" destId="{366CAA48-1428-4F13-95EC-5213ED215C9C}" srcOrd="0" destOrd="0" parTransId="{FF9558FB-BCD8-42BF-8153-A2416BD0CB91}" sibTransId="{F9B5850B-1491-4640-988C-2E1EA107A6FB}"/>
    <dgm:cxn modelId="{D5AE26BE-9780-4BF5-A7EF-ABFE16C028A0}" type="presOf" srcId="{64185E19-E8A5-4991-B9FD-E780F694EA57}" destId="{DCAC72F3-8B56-48FC-8E24-AA4FDE172DDC}" srcOrd="0" destOrd="0" presId="urn:microsoft.com/office/officeart/2005/8/layout/vList2"/>
    <dgm:cxn modelId="{2802E1CF-16A6-46D2-8F66-2A5989475C3B}" type="presParOf" srcId="{DCAC72F3-8B56-48FC-8E24-AA4FDE172DDC}" destId="{DC6A3802-C42A-4322-8188-2E7B83341FC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C807CC5-62CB-47A1-9B65-FD522BC44E9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IN"/>
        </a:p>
      </dgm:t>
    </dgm:pt>
    <dgm:pt modelId="{585BC7FA-BC87-4833-86DE-83B906E2B8BD}">
      <dgm:prSet/>
      <dgm:spPr/>
      <dgm:t>
        <a:bodyPr/>
        <a:lstStyle/>
        <a:p>
          <a:r>
            <a:rPr lang="en-IN"/>
            <a:t>Cognitive Learning Theory </a:t>
          </a:r>
        </a:p>
      </dgm:t>
    </dgm:pt>
    <dgm:pt modelId="{3CD6FA1A-7483-420F-A5FA-818F8F6009EC}" type="parTrans" cxnId="{AB8E0CD9-3286-450C-8ACB-A24115F0B7AC}">
      <dgm:prSet/>
      <dgm:spPr/>
      <dgm:t>
        <a:bodyPr/>
        <a:lstStyle/>
        <a:p>
          <a:endParaRPr lang="en-IN"/>
        </a:p>
      </dgm:t>
    </dgm:pt>
    <dgm:pt modelId="{1D659BB7-C7CC-43FC-B6D2-131B64E49C87}" type="sibTrans" cxnId="{AB8E0CD9-3286-450C-8ACB-A24115F0B7AC}">
      <dgm:prSet/>
      <dgm:spPr/>
      <dgm:t>
        <a:bodyPr/>
        <a:lstStyle/>
        <a:p>
          <a:endParaRPr lang="en-IN"/>
        </a:p>
      </dgm:t>
    </dgm:pt>
    <dgm:pt modelId="{A476B715-0999-4956-AA69-79D3B2309150}" type="pres">
      <dgm:prSet presAssocID="{6C807CC5-62CB-47A1-9B65-FD522BC44E9D}" presName="linear" presStyleCnt="0">
        <dgm:presLayoutVars>
          <dgm:animLvl val="lvl"/>
          <dgm:resizeHandles val="exact"/>
        </dgm:presLayoutVars>
      </dgm:prSet>
      <dgm:spPr/>
    </dgm:pt>
    <dgm:pt modelId="{DBA53764-B6C5-42AA-84AE-5819E853D256}" type="pres">
      <dgm:prSet presAssocID="{585BC7FA-BC87-4833-86DE-83B906E2B8BD}" presName="parentText" presStyleLbl="node1" presStyleIdx="0" presStyleCnt="1">
        <dgm:presLayoutVars>
          <dgm:chMax val="0"/>
          <dgm:bulletEnabled val="1"/>
        </dgm:presLayoutVars>
      </dgm:prSet>
      <dgm:spPr/>
    </dgm:pt>
  </dgm:ptLst>
  <dgm:cxnLst>
    <dgm:cxn modelId="{F713652B-FA40-40F7-854D-52FDD3D4C2B8}" type="presOf" srcId="{585BC7FA-BC87-4833-86DE-83B906E2B8BD}" destId="{DBA53764-B6C5-42AA-84AE-5819E853D256}" srcOrd="0" destOrd="0" presId="urn:microsoft.com/office/officeart/2005/8/layout/vList2"/>
    <dgm:cxn modelId="{BB7D8E5E-AB82-4827-8750-0EEEF315331C}" type="presOf" srcId="{6C807CC5-62CB-47A1-9B65-FD522BC44E9D}" destId="{A476B715-0999-4956-AA69-79D3B2309150}" srcOrd="0" destOrd="0" presId="urn:microsoft.com/office/officeart/2005/8/layout/vList2"/>
    <dgm:cxn modelId="{AB8E0CD9-3286-450C-8ACB-A24115F0B7AC}" srcId="{6C807CC5-62CB-47A1-9B65-FD522BC44E9D}" destId="{585BC7FA-BC87-4833-86DE-83B906E2B8BD}" srcOrd="0" destOrd="0" parTransId="{3CD6FA1A-7483-420F-A5FA-818F8F6009EC}" sibTransId="{1D659BB7-C7CC-43FC-B6D2-131B64E49C87}"/>
    <dgm:cxn modelId="{ED4F8555-8E7D-4BE1-BF49-6C7585FB12C4}" type="presParOf" srcId="{A476B715-0999-4956-AA69-79D3B2309150}" destId="{DBA53764-B6C5-42AA-84AE-5819E853D25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5DE7799-B35E-49DC-B4DE-5AC819AF96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94B75CF1-3BDE-4C49-98A1-FBE2BAD5D9F4}">
      <dgm:prSet/>
      <dgm:spPr/>
      <dgm:t>
        <a:bodyPr/>
        <a:lstStyle/>
        <a:p>
          <a:r>
            <a:rPr lang="en-IN"/>
            <a:t>Kholer’s Insight Theory</a:t>
          </a:r>
        </a:p>
      </dgm:t>
    </dgm:pt>
    <dgm:pt modelId="{213324DE-3D5F-4452-8417-4276951D7B81}" type="parTrans" cxnId="{5639A130-8FBC-43CD-A291-597D64E7D37B}">
      <dgm:prSet/>
      <dgm:spPr/>
      <dgm:t>
        <a:bodyPr/>
        <a:lstStyle/>
        <a:p>
          <a:endParaRPr lang="en-IN"/>
        </a:p>
      </dgm:t>
    </dgm:pt>
    <dgm:pt modelId="{154741EE-38A6-4FD2-8F9B-916A2A574999}" type="sibTrans" cxnId="{5639A130-8FBC-43CD-A291-597D64E7D37B}">
      <dgm:prSet/>
      <dgm:spPr/>
      <dgm:t>
        <a:bodyPr/>
        <a:lstStyle/>
        <a:p>
          <a:endParaRPr lang="en-IN"/>
        </a:p>
      </dgm:t>
    </dgm:pt>
    <dgm:pt modelId="{3BF10BD6-5594-49F2-8F48-BB852CA1273B}" type="pres">
      <dgm:prSet presAssocID="{35DE7799-B35E-49DC-B4DE-5AC819AF96D3}" presName="linear" presStyleCnt="0">
        <dgm:presLayoutVars>
          <dgm:animLvl val="lvl"/>
          <dgm:resizeHandles val="exact"/>
        </dgm:presLayoutVars>
      </dgm:prSet>
      <dgm:spPr/>
    </dgm:pt>
    <dgm:pt modelId="{49CF8238-63FB-4B5B-B371-771667031711}" type="pres">
      <dgm:prSet presAssocID="{94B75CF1-3BDE-4C49-98A1-FBE2BAD5D9F4}" presName="parentText" presStyleLbl="node1" presStyleIdx="0" presStyleCnt="1">
        <dgm:presLayoutVars>
          <dgm:chMax val="0"/>
          <dgm:bulletEnabled val="1"/>
        </dgm:presLayoutVars>
      </dgm:prSet>
      <dgm:spPr/>
    </dgm:pt>
  </dgm:ptLst>
  <dgm:cxnLst>
    <dgm:cxn modelId="{5639A130-8FBC-43CD-A291-597D64E7D37B}" srcId="{35DE7799-B35E-49DC-B4DE-5AC819AF96D3}" destId="{94B75CF1-3BDE-4C49-98A1-FBE2BAD5D9F4}" srcOrd="0" destOrd="0" parTransId="{213324DE-3D5F-4452-8417-4276951D7B81}" sibTransId="{154741EE-38A6-4FD2-8F9B-916A2A574999}"/>
    <dgm:cxn modelId="{E47D584E-A48B-4809-B6E4-90454E823F07}" type="presOf" srcId="{94B75CF1-3BDE-4C49-98A1-FBE2BAD5D9F4}" destId="{49CF8238-63FB-4B5B-B371-771667031711}" srcOrd="0" destOrd="0" presId="urn:microsoft.com/office/officeart/2005/8/layout/vList2"/>
    <dgm:cxn modelId="{7CD754E3-EEB0-46CA-A8F8-20A5E1D0ADCE}" type="presOf" srcId="{35DE7799-B35E-49DC-B4DE-5AC819AF96D3}" destId="{3BF10BD6-5594-49F2-8F48-BB852CA1273B}" srcOrd="0" destOrd="0" presId="urn:microsoft.com/office/officeart/2005/8/layout/vList2"/>
    <dgm:cxn modelId="{0103D493-E1CE-4827-A2EE-F93D9884C43C}" type="presParOf" srcId="{3BF10BD6-5594-49F2-8F48-BB852CA1273B}" destId="{49CF8238-63FB-4B5B-B371-77166703171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86E185D-9E6C-42FE-B978-1697B3540A8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F7CF8817-88AC-4598-B943-DCB005531EAC}">
      <dgm:prSet/>
      <dgm:spPr/>
      <dgm:t>
        <a:bodyPr/>
        <a:lstStyle/>
        <a:p>
          <a:r>
            <a:rPr lang="en-IN"/>
            <a:t>Kholer’s Insight Theory</a:t>
          </a:r>
        </a:p>
      </dgm:t>
    </dgm:pt>
    <dgm:pt modelId="{63C29C34-7B0F-4C5B-BAD3-6AD6DAFEC2FC}" type="parTrans" cxnId="{5E8EC91B-C000-4ADB-B8D6-AA2FB2FD55A9}">
      <dgm:prSet/>
      <dgm:spPr/>
      <dgm:t>
        <a:bodyPr/>
        <a:lstStyle/>
        <a:p>
          <a:endParaRPr lang="en-IN"/>
        </a:p>
      </dgm:t>
    </dgm:pt>
    <dgm:pt modelId="{B47FBACE-D8D3-4A93-BB97-A6BB388E5946}" type="sibTrans" cxnId="{5E8EC91B-C000-4ADB-B8D6-AA2FB2FD55A9}">
      <dgm:prSet/>
      <dgm:spPr/>
      <dgm:t>
        <a:bodyPr/>
        <a:lstStyle/>
        <a:p>
          <a:endParaRPr lang="en-IN"/>
        </a:p>
      </dgm:t>
    </dgm:pt>
    <dgm:pt modelId="{D43B10F0-3A39-4DD6-A2AD-30873A9B6551}" type="pres">
      <dgm:prSet presAssocID="{B86E185D-9E6C-42FE-B978-1697B3540A87}" presName="linear" presStyleCnt="0">
        <dgm:presLayoutVars>
          <dgm:animLvl val="lvl"/>
          <dgm:resizeHandles val="exact"/>
        </dgm:presLayoutVars>
      </dgm:prSet>
      <dgm:spPr/>
    </dgm:pt>
    <dgm:pt modelId="{AA8AA6FB-1D6E-4B98-917F-8DA7F3674805}" type="pres">
      <dgm:prSet presAssocID="{F7CF8817-88AC-4598-B943-DCB005531EAC}" presName="parentText" presStyleLbl="node1" presStyleIdx="0" presStyleCnt="1">
        <dgm:presLayoutVars>
          <dgm:chMax val="0"/>
          <dgm:bulletEnabled val="1"/>
        </dgm:presLayoutVars>
      </dgm:prSet>
      <dgm:spPr/>
    </dgm:pt>
  </dgm:ptLst>
  <dgm:cxnLst>
    <dgm:cxn modelId="{C8DF6703-1184-48F2-8DFA-E531590819B9}" type="presOf" srcId="{F7CF8817-88AC-4598-B943-DCB005531EAC}" destId="{AA8AA6FB-1D6E-4B98-917F-8DA7F3674805}" srcOrd="0" destOrd="0" presId="urn:microsoft.com/office/officeart/2005/8/layout/vList2"/>
    <dgm:cxn modelId="{B2EB8917-9972-4EBA-970D-4353D9B6D594}" type="presOf" srcId="{B86E185D-9E6C-42FE-B978-1697B3540A87}" destId="{D43B10F0-3A39-4DD6-A2AD-30873A9B6551}" srcOrd="0" destOrd="0" presId="urn:microsoft.com/office/officeart/2005/8/layout/vList2"/>
    <dgm:cxn modelId="{5E8EC91B-C000-4ADB-B8D6-AA2FB2FD55A9}" srcId="{B86E185D-9E6C-42FE-B978-1697B3540A87}" destId="{F7CF8817-88AC-4598-B943-DCB005531EAC}" srcOrd="0" destOrd="0" parTransId="{63C29C34-7B0F-4C5B-BAD3-6AD6DAFEC2FC}" sibTransId="{B47FBACE-D8D3-4A93-BB97-A6BB388E5946}"/>
    <dgm:cxn modelId="{646FAF4C-28AC-4B26-90B5-B95C399583D4}" type="presParOf" srcId="{D43B10F0-3A39-4DD6-A2AD-30873A9B6551}" destId="{AA8AA6FB-1D6E-4B98-917F-8DA7F367480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95D2BA1-33F3-4A8D-90F6-D1AFC55C6D34}"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en-IN"/>
        </a:p>
      </dgm:t>
    </dgm:pt>
    <dgm:pt modelId="{CFC45BDC-EA56-4B37-AF84-F14B49B686E6}">
      <dgm:prSet/>
      <dgm:spPr/>
      <dgm:t>
        <a:bodyPr/>
        <a:lstStyle/>
        <a:p>
          <a:r>
            <a:rPr lang="en-US" b="0" i="1" baseline="0"/>
            <a:t>Ah, but would that child have imitated the model if the model had been punished? Wouldn’t the consequences of the model’s </a:t>
          </a:r>
          <a:r>
            <a:rPr lang="en-IN" b="0" i="1" baseline="0"/>
            <a:t>behavior make a difference?</a:t>
          </a:r>
          <a:endParaRPr lang="en-IN"/>
        </a:p>
      </dgm:t>
    </dgm:pt>
    <dgm:pt modelId="{19AF03F3-17FA-4BE0-AA15-16422EA176BF}" type="parTrans" cxnId="{4EC75A51-1036-421C-828D-16D4CAE2C4A2}">
      <dgm:prSet/>
      <dgm:spPr/>
      <dgm:t>
        <a:bodyPr/>
        <a:lstStyle/>
        <a:p>
          <a:endParaRPr lang="en-IN"/>
        </a:p>
      </dgm:t>
    </dgm:pt>
    <dgm:pt modelId="{5720966E-8767-45CF-B7B6-4B01C4A8BFEE}" type="sibTrans" cxnId="{4EC75A51-1036-421C-828D-16D4CAE2C4A2}">
      <dgm:prSet/>
      <dgm:spPr/>
      <dgm:t>
        <a:bodyPr/>
        <a:lstStyle/>
        <a:p>
          <a:endParaRPr lang="en-IN"/>
        </a:p>
      </dgm:t>
    </dgm:pt>
    <dgm:pt modelId="{84C6E865-170E-4CE0-B952-22AC02EE6712}" type="pres">
      <dgm:prSet presAssocID="{F95D2BA1-33F3-4A8D-90F6-D1AFC55C6D34}" presName="linear" presStyleCnt="0">
        <dgm:presLayoutVars>
          <dgm:animLvl val="lvl"/>
          <dgm:resizeHandles val="exact"/>
        </dgm:presLayoutVars>
      </dgm:prSet>
      <dgm:spPr/>
    </dgm:pt>
    <dgm:pt modelId="{B236189D-5C6B-4AE8-8299-004C99D0AC51}" type="pres">
      <dgm:prSet presAssocID="{CFC45BDC-EA56-4B37-AF84-F14B49B686E6}" presName="parentText" presStyleLbl="node1" presStyleIdx="0" presStyleCnt="1">
        <dgm:presLayoutVars>
          <dgm:chMax val="0"/>
          <dgm:bulletEnabled val="1"/>
        </dgm:presLayoutVars>
      </dgm:prSet>
      <dgm:spPr/>
    </dgm:pt>
  </dgm:ptLst>
  <dgm:cxnLst>
    <dgm:cxn modelId="{4EC75A51-1036-421C-828D-16D4CAE2C4A2}" srcId="{F95D2BA1-33F3-4A8D-90F6-D1AFC55C6D34}" destId="{CFC45BDC-EA56-4B37-AF84-F14B49B686E6}" srcOrd="0" destOrd="0" parTransId="{19AF03F3-17FA-4BE0-AA15-16422EA176BF}" sibTransId="{5720966E-8767-45CF-B7B6-4B01C4A8BFEE}"/>
    <dgm:cxn modelId="{42C8AD53-B634-464F-8189-FD7966F79DF8}" type="presOf" srcId="{CFC45BDC-EA56-4B37-AF84-F14B49B686E6}" destId="{B236189D-5C6B-4AE8-8299-004C99D0AC51}" srcOrd="0" destOrd="0" presId="urn:microsoft.com/office/officeart/2005/8/layout/vList2"/>
    <dgm:cxn modelId="{20DD9777-6755-4F67-865D-1E2F3BB0ABB5}" type="presOf" srcId="{F95D2BA1-33F3-4A8D-90F6-D1AFC55C6D34}" destId="{84C6E865-170E-4CE0-B952-22AC02EE6712}" srcOrd="0" destOrd="0" presId="urn:microsoft.com/office/officeart/2005/8/layout/vList2"/>
    <dgm:cxn modelId="{EAF5AB39-9B4F-4D59-AFE5-B4D22FA00607}" type="presParOf" srcId="{84C6E865-170E-4CE0-B952-22AC02EE6712}" destId="{B236189D-5C6B-4AE8-8299-004C99D0AC5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EF0DA57-3865-4529-91F0-7987A74616F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9BD3A32-138D-4DB8-B699-B53FFE0FCDEE}">
      <dgm:prSet/>
      <dgm:spPr/>
      <dgm:t>
        <a:bodyPr/>
        <a:lstStyle/>
        <a:p>
          <a:pPr rtl="0"/>
          <a:r>
            <a:rPr lang="en-US" dirty="0"/>
            <a:t>Superstitious </a:t>
          </a:r>
          <a:r>
            <a:rPr lang="en-US" dirty="0" err="1"/>
            <a:t>behaviour</a:t>
          </a:r>
          <a:endParaRPr lang="en-IN" dirty="0"/>
        </a:p>
      </dgm:t>
    </dgm:pt>
    <dgm:pt modelId="{8E67EA1E-A1F5-4949-A372-87DA1D50A809}" type="parTrans" cxnId="{27D44875-C12D-4629-8758-FC539A5B78B4}">
      <dgm:prSet/>
      <dgm:spPr/>
      <dgm:t>
        <a:bodyPr/>
        <a:lstStyle/>
        <a:p>
          <a:endParaRPr lang="en-US"/>
        </a:p>
      </dgm:t>
    </dgm:pt>
    <dgm:pt modelId="{9B7B7FE0-1DFA-4356-BA26-7662963FDFC5}" type="sibTrans" cxnId="{27D44875-C12D-4629-8758-FC539A5B78B4}">
      <dgm:prSet/>
      <dgm:spPr/>
      <dgm:t>
        <a:bodyPr/>
        <a:lstStyle/>
        <a:p>
          <a:endParaRPr lang="en-US"/>
        </a:p>
      </dgm:t>
    </dgm:pt>
    <dgm:pt modelId="{C41B6E7A-6678-4366-9DCB-F1744D64232C}" type="pres">
      <dgm:prSet presAssocID="{0EF0DA57-3865-4529-91F0-7987A74616F3}" presName="linear" presStyleCnt="0">
        <dgm:presLayoutVars>
          <dgm:animLvl val="lvl"/>
          <dgm:resizeHandles val="exact"/>
        </dgm:presLayoutVars>
      </dgm:prSet>
      <dgm:spPr/>
    </dgm:pt>
    <dgm:pt modelId="{CED0541E-8107-48A9-94EC-74F6A602AFB5}" type="pres">
      <dgm:prSet presAssocID="{59BD3A32-138D-4DB8-B699-B53FFE0FCDEE}" presName="parentText" presStyleLbl="node1" presStyleIdx="0" presStyleCnt="1">
        <dgm:presLayoutVars>
          <dgm:chMax val="0"/>
          <dgm:bulletEnabled val="1"/>
        </dgm:presLayoutVars>
      </dgm:prSet>
      <dgm:spPr/>
    </dgm:pt>
  </dgm:ptLst>
  <dgm:cxnLst>
    <dgm:cxn modelId="{B6754E61-4C07-4643-BEBD-2AA5FC352D1D}" type="presOf" srcId="{0EF0DA57-3865-4529-91F0-7987A74616F3}" destId="{C41B6E7A-6678-4366-9DCB-F1744D64232C}" srcOrd="0" destOrd="0" presId="urn:microsoft.com/office/officeart/2005/8/layout/vList2"/>
    <dgm:cxn modelId="{27D44875-C12D-4629-8758-FC539A5B78B4}" srcId="{0EF0DA57-3865-4529-91F0-7987A74616F3}" destId="{59BD3A32-138D-4DB8-B699-B53FFE0FCDEE}" srcOrd="0" destOrd="0" parTransId="{8E67EA1E-A1F5-4949-A372-87DA1D50A809}" sibTransId="{9B7B7FE0-1DFA-4356-BA26-7662963FDFC5}"/>
    <dgm:cxn modelId="{B978D4E5-9F6E-4AF0-BFF6-1427B59F20ED}" type="presOf" srcId="{59BD3A32-138D-4DB8-B699-B53FFE0FCDEE}" destId="{CED0541E-8107-48A9-94EC-74F6A602AFB5}" srcOrd="0" destOrd="0" presId="urn:microsoft.com/office/officeart/2005/8/layout/vList2"/>
    <dgm:cxn modelId="{5617CA39-B43A-43B2-8F4E-C856EE095A0E}" type="presParOf" srcId="{C41B6E7A-6678-4366-9DCB-F1744D64232C}" destId="{CED0541E-8107-48A9-94EC-74F6A602AFB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2719BE1-34E1-4D4F-92C5-7095305FC57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90F79558-20D0-43B9-AA4D-5E50E26A0CF6}">
      <dgm:prSet/>
      <dgm:spPr/>
      <dgm:t>
        <a:bodyPr/>
        <a:lstStyle/>
        <a:p>
          <a:r>
            <a:rPr lang="en-IN"/>
            <a:t>What are some possible waste disposal learning techniques?</a:t>
          </a:r>
        </a:p>
      </dgm:t>
    </dgm:pt>
    <dgm:pt modelId="{01CCAF31-E378-49CC-984B-EFD8C029A056}" type="parTrans" cxnId="{7C52DCF7-D219-409A-8504-74AC5B6DDD8D}">
      <dgm:prSet/>
      <dgm:spPr/>
      <dgm:t>
        <a:bodyPr/>
        <a:lstStyle/>
        <a:p>
          <a:endParaRPr lang="en-IN"/>
        </a:p>
      </dgm:t>
    </dgm:pt>
    <dgm:pt modelId="{7FBE70A3-AE8B-49AF-8BCE-5246CA5A148E}" type="sibTrans" cxnId="{7C52DCF7-D219-409A-8504-74AC5B6DDD8D}">
      <dgm:prSet/>
      <dgm:spPr/>
      <dgm:t>
        <a:bodyPr/>
        <a:lstStyle/>
        <a:p>
          <a:endParaRPr lang="en-IN"/>
        </a:p>
      </dgm:t>
    </dgm:pt>
    <dgm:pt modelId="{1FF53CE9-86A0-461C-ADEC-B50D82A25137}" type="pres">
      <dgm:prSet presAssocID="{D2719BE1-34E1-4D4F-92C5-7095305FC578}" presName="linear" presStyleCnt="0">
        <dgm:presLayoutVars>
          <dgm:animLvl val="lvl"/>
          <dgm:resizeHandles val="exact"/>
        </dgm:presLayoutVars>
      </dgm:prSet>
      <dgm:spPr/>
    </dgm:pt>
    <dgm:pt modelId="{335259B1-4F89-4A45-AE34-96BA65149D12}" type="pres">
      <dgm:prSet presAssocID="{90F79558-20D0-43B9-AA4D-5E50E26A0CF6}" presName="parentText" presStyleLbl="node1" presStyleIdx="0" presStyleCnt="1">
        <dgm:presLayoutVars>
          <dgm:chMax val="0"/>
          <dgm:bulletEnabled val="1"/>
        </dgm:presLayoutVars>
      </dgm:prSet>
      <dgm:spPr/>
    </dgm:pt>
  </dgm:ptLst>
  <dgm:cxnLst>
    <dgm:cxn modelId="{8D873053-E82E-4052-8E62-A1C6A92FCD78}" type="presOf" srcId="{90F79558-20D0-43B9-AA4D-5E50E26A0CF6}" destId="{335259B1-4F89-4A45-AE34-96BA65149D12}" srcOrd="0" destOrd="0" presId="urn:microsoft.com/office/officeart/2005/8/layout/vList2"/>
    <dgm:cxn modelId="{ABA0ADBD-8100-47B5-8322-9B7C8D70C5D2}" type="presOf" srcId="{D2719BE1-34E1-4D4F-92C5-7095305FC578}" destId="{1FF53CE9-86A0-461C-ADEC-B50D82A25137}" srcOrd="0" destOrd="0" presId="urn:microsoft.com/office/officeart/2005/8/layout/vList2"/>
    <dgm:cxn modelId="{7C52DCF7-D219-409A-8504-74AC5B6DDD8D}" srcId="{D2719BE1-34E1-4D4F-92C5-7095305FC578}" destId="{90F79558-20D0-43B9-AA4D-5E50E26A0CF6}" srcOrd="0" destOrd="0" parTransId="{01CCAF31-E378-49CC-984B-EFD8C029A056}" sibTransId="{7FBE70A3-AE8B-49AF-8BCE-5246CA5A148E}"/>
    <dgm:cxn modelId="{1A12E088-7566-4EEA-AC32-7BF3F61A4346}" type="presParOf" srcId="{1FF53CE9-86A0-461C-ADEC-B50D82A25137}" destId="{335259B1-4F89-4A45-AE34-96BA65149D1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33EAA-2B00-4403-A66B-262EC34D8E14}">
      <dsp:nvSpPr>
        <dsp:cNvPr id="0" name=""/>
        <dsp:cNvSpPr/>
      </dsp:nvSpPr>
      <dsp:spPr>
        <a:xfrm>
          <a:off x="0" y="369319"/>
          <a:ext cx="6666833" cy="20346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IN" sz="3700" b="1" kern="1200"/>
            <a:t>Emotional expression is mostly same in all members of a particular species</a:t>
          </a:r>
          <a:endParaRPr lang="en-US" sz="3700" kern="1200"/>
        </a:p>
      </dsp:txBody>
      <dsp:txXfrm>
        <a:off x="99322" y="468641"/>
        <a:ext cx="6468189" cy="1835986"/>
      </dsp:txXfrm>
    </dsp:sp>
    <dsp:sp modelId="{808224C0-A8A0-461F-88B2-DC07753EB88D}">
      <dsp:nvSpPr>
        <dsp:cNvPr id="0" name=""/>
        <dsp:cNvSpPr/>
      </dsp:nvSpPr>
      <dsp:spPr>
        <a:xfrm>
          <a:off x="0" y="2403950"/>
          <a:ext cx="6666833" cy="2680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IN" sz="2900" kern="1200"/>
            <a:t>Crucial for  social interactions of species members</a:t>
          </a:r>
          <a:endParaRPr lang="en-US" sz="2900" kern="1200"/>
        </a:p>
        <a:p>
          <a:pPr marL="285750" lvl="1" indent="-285750" algn="l" defTabSz="1289050">
            <a:lnSpc>
              <a:spcPct val="90000"/>
            </a:lnSpc>
            <a:spcBef>
              <a:spcPct val="0"/>
            </a:spcBef>
            <a:spcAft>
              <a:spcPct val="20000"/>
            </a:spcAft>
            <a:buChar char="•"/>
          </a:pPr>
          <a:r>
            <a:rPr lang="en-IN" sz="2900" kern="1200"/>
            <a:t>Among humans it provides signals about other animal’s or person’s emotional state and consequently behaviour that may be forthcoming </a:t>
          </a:r>
          <a:endParaRPr lang="en-US" sz="2900" kern="1200"/>
        </a:p>
      </dsp:txBody>
      <dsp:txXfrm>
        <a:off x="0" y="2403950"/>
        <a:ext cx="6666833" cy="26806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F7D04E-A4A3-493B-A03B-15C0C5CEBF16}">
      <dsp:nvSpPr>
        <dsp:cNvPr id="0" name=""/>
        <dsp:cNvSpPr/>
      </dsp:nvSpPr>
      <dsp:spPr>
        <a:xfrm>
          <a:off x="0" y="13854"/>
          <a:ext cx="9514114" cy="5651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IN" sz="2300" kern="1200"/>
            <a:t>Expression of certain emotions are species typical behaviours in humans  </a:t>
          </a:r>
        </a:p>
      </dsp:txBody>
      <dsp:txXfrm>
        <a:off x="27586" y="41440"/>
        <a:ext cx="9458942" cy="5099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92547-A89B-4257-A832-F5A31B0D72CA}">
      <dsp:nvSpPr>
        <dsp:cNvPr id="0" name=""/>
        <dsp:cNvSpPr/>
      </dsp:nvSpPr>
      <dsp:spPr>
        <a:xfrm>
          <a:off x="0" y="93696"/>
          <a:ext cx="9758954" cy="44319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t>While not prominent, we do have some species specific behaviours as part of our animal natures. </a:t>
          </a:r>
        </a:p>
      </dsp:txBody>
      <dsp:txXfrm>
        <a:off x="21635" y="115331"/>
        <a:ext cx="9715684" cy="3999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08AB8-E102-4FF9-8FF1-B7F2EBA06FFD}">
      <dsp:nvSpPr>
        <dsp:cNvPr id="0" name=""/>
        <dsp:cNvSpPr/>
      </dsp:nvSpPr>
      <dsp:spPr>
        <a:xfrm>
          <a:off x="0" y="117310"/>
          <a:ext cx="6666833" cy="14880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Tendencies towards competition and aggression- especially in males is innate</a:t>
          </a:r>
          <a:endParaRPr lang="en-US" sz="2100" kern="1200"/>
        </a:p>
      </dsp:txBody>
      <dsp:txXfrm>
        <a:off x="72639" y="189949"/>
        <a:ext cx="6521555" cy="1342742"/>
      </dsp:txXfrm>
    </dsp:sp>
    <dsp:sp modelId="{D0002E6C-B12A-4B70-893E-85556C553751}">
      <dsp:nvSpPr>
        <dsp:cNvPr id="0" name=""/>
        <dsp:cNvSpPr/>
      </dsp:nvSpPr>
      <dsp:spPr>
        <a:xfrm>
          <a:off x="0" y="1665810"/>
          <a:ext cx="6666833" cy="1488020"/>
        </a:xfrm>
        <a:prstGeom prst="roundRect">
          <a:avLst/>
        </a:prstGeom>
        <a:gradFill rotWithShape="0">
          <a:gsLst>
            <a:gs pos="0">
              <a:schemeClr val="accent5">
                <a:hueOff val="-5720238"/>
                <a:satOff val="7661"/>
                <a:lumOff val="5229"/>
                <a:alphaOff val="0"/>
                <a:satMod val="103000"/>
                <a:lumMod val="102000"/>
                <a:tint val="94000"/>
              </a:schemeClr>
            </a:gs>
            <a:gs pos="50000">
              <a:schemeClr val="accent5">
                <a:hueOff val="-5720238"/>
                <a:satOff val="7661"/>
                <a:lumOff val="5229"/>
                <a:alphaOff val="0"/>
                <a:satMod val="110000"/>
                <a:lumMod val="100000"/>
                <a:shade val="100000"/>
              </a:schemeClr>
            </a:gs>
            <a:gs pos="100000">
              <a:schemeClr val="accent5">
                <a:hueOff val="-5720238"/>
                <a:satOff val="7661"/>
                <a:lumOff val="522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Territoriality, need for organization with leaders, certain child rearing behaviours, male female roles – a thought to be innate behavioural potentialities- having a basis in evolution </a:t>
          </a:r>
          <a:endParaRPr lang="en-US" sz="2100" kern="1200"/>
        </a:p>
      </dsp:txBody>
      <dsp:txXfrm>
        <a:off x="72639" y="1738449"/>
        <a:ext cx="6521555" cy="1342742"/>
      </dsp:txXfrm>
    </dsp:sp>
    <dsp:sp modelId="{428D9729-FF51-4EE3-AE7E-34F91AE91731}">
      <dsp:nvSpPr>
        <dsp:cNvPr id="0" name=""/>
        <dsp:cNvSpPr/>
      </dsp:nvSpPr>
      <dsp:spPr>
        <a:xfrm>
          <a:off x="0" y="3214311"/>
          <a:ext cx="6666833" cy="1488020"/>
        </a:xfrm>
        <a:prstGeom prst="roundRect">
          <a:avLst/>
        </a:prstGeom>
        <a:gradFill rotWithShape="0">
          <a:gsLst>
            <a:gs pos="0">
              <a:schemeClr val="accent5">
                <a:hueOff val="-11440476"/>
                <a:satOff val="15322"/>
                <a:lumOff val="10458"/>
                <a:alphaOff val="0"/>
                <a:satMod val="103000"/>
                <a:lumMod val="102000"/>
                <a:tint val="94000"/>
              </a:schemeClr>
            </a:gs>
            <a:gs pos="50000">
              <a:schemeClr val="accent5">
                <a:hueOff val="-11440476"/>
                <a:satOff val="15322"/>
                <a:lumOff val="10458"/>
                <a:alphaOff val="0"/>
                <a:satMod val="110000"/>
                <a:lumMod val="100000"/>
                <a:shade val="100000"/>
              </a:schemeClr>
            </a:gs>
            <a:gs pos="100000">
              <a:schemeClr val="accent5">
                <a:hueOff val="-11440476"/>
                <a:satOff val="15322"/>
                <a:lumOff val="1045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This is controversial- though anthropological evidence of stone age cultures support innate basis of behavioural tendencies- e.g. aggression- other evidences do not. </a:t>
          </a:r>
          <a:endParaRPr lang="en-US" sz="2100" kern="1200"/>
        </a:p>
      </dsp:txBody>
      <dsp:txXfrm>
        <a:off x="72639" y="3286950"/>
        <a:ext cx="6521555" cy="1342742"/>
      </dsp:txXfrm>
    </dsp:sp>
    <dsp:sp modelId="{8B1A94DA-FAD2-4448-8D4B-36DDE5C0ACBB}">
      <dsp:nvSpPr>
        <dsp:cNvPr id="0" name=""/>
        <dsp:cNvSpPr/>
      </dsp:nvSpPr>
      <dsp:spPr>
        <a:xfrm>
          <a:off x="0" y="4762812"/>
          <a:ext cx="6666833" cy="1488020"/>
        </a:xfrm>
        <a:prstGeom prst="roundRect">
          <a:avLst/>
        </a:prstGeom>
        <a:gradFill rotWithShape="0">
          <a:gsLst>
            <a:gs pos="0">
              <a:schemeClr val="accent5">
                <a:hueOff val="-17160714"/>
                <a:satOff val="22983"/>
                <a:lumOff val="15687"/>
                <a:alphaOff val="0"/>
                <a:satMod val="103000"/>
                <a:lumMod val="102000"/>
                <a:tint val="94000"/>
              </a:schemeClr>
            </a:gs>
            <a:gs pos="50000">
              <a:schemeClr val="accent5">
                <a:hueOff val="-17160714"/>
                <a:satOff val="22983"/>
                <a:lumOff val="15687"/>
                <a:alphaOff val="0"/>
                <a:satMod val="110000"/>
                <a:lumMod val="100000"/>
                <a:shade val="100000"/>
              </a:schemeClr>
            </a:gs>
            <a:gs pos="100000">
              <a:schemeClr val="accent5">
                <a:hueOff val="-17160714"/>
                <a:satOff val="22983"/>
                <a:lumOff val="15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dirty="0"/>
            <a:t>Evidence for nurture- elder Eskimos choosing to stay behind and die rather than slowing the whole group, search and rescue parties looking for lost persons even under dire circumstances. </a:t>
          </a:r>
          <a:endParaRPr lang="en-US" sz="2100" kern="1200" dirty="0"/>
        </a:p>
      </dsp:txBody>
      <dsp:txXfrm>
        <a:off x="72639" y="4835451"/>
        <a:ext cx="6521555" cy="13427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EB6E4D-8596-46FB-B006-50571F08DC41}">
      <dsp:nvSpPr>
        <dsp:cNvPr id="0" name=""/>
        <dsp:cNvSpPr/>
      </dsp:nvSpPr>
      <dsp:spPr>
        <a:xfrm>
          <a:off x="0" y="7509"/>
          <a:ext cx="10515600" cy="1310544"/>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IN" sz="4500" kern="1200" dirty="0"/>
            <a:t>In the Somatic System/ Sensory division</a:t>
          </a:r>
        </a:p>
      </dsp:txBody>
      <dsp:txXfrm>
        <a:off x="63975" y="71484"/>
        <a:ext cx="10387650" cy="11825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2AA94-9030-4F75-9818-91952E250B69}">
      <dsp:nvSpPr>
        <dsp:cNvPr id="0" name=""/>
        <dsp:cNvSpPr/>
      </dsp:nvSpPr>
      <dsp:spPr>
        <a:xfrm>
          <a:off x="0" y="766942"/>
          <a:ext cx="6798539" cy="60557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Mood regulation </a:t>
          </a:r>
          <a:endParaRPr lang="en-US" sz="2000" kern="1200"/>
        </a:p>
      </dsp:txBody>
      <dsp:txXfrm>
        <a:off x="29562" y="796504"/>
        <a:ext cx="6739415" cy="546448"/>
      </dsp:txXfrm>
    </dsp:sp>
    <dsp:sp modelId="{EB8FADA7-B945-498C-9B7E-51018BA63130}">
      <dsp:nvSpPr>
        <dsp:cNvPr id="0" name=""/>
        <dsp:cNvSpPr/>
      </dsp:nvSpPr>
      <dsp:spPr>
        <a:xfrm>
          <a:off x="0" y="1384046"/>
          <a:ext cx="6798539" cy="605572"/>
        </a:xfrm>
        <a:prstGeom prst="roundRect">
          <a:avLst/>
        </a:prstGeom>
        <a:solidFill>
          <a:schemeClr val="accent5">
            <a:hueOff val="-4290179"/>
            <a:satOff val="5746"/>
            <a:lumOff val="3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Low levels: feeling depression</a:t>
          </a:r>
          <a:endParaRPr lang="en-US" sz="2000" kern="1200"/>
        </a:p>
      </dsp:txBody>
      <dsp:txXfrm>
        <a:off x="29562" y="1413608"/>
        <a:ext cx="6739415" cy="546448"/>
      </dsp:txXfrm>
    </dsp:sp>
    <dsp:sp modelId="{BBB7A76C-8270-4D70-94D5-63A5816A5616}">
      <dsp:nvSpPr>
        <dsp:cNvPr id="0" name=""/>
        <dsp:cNvSpPr/>
      </dsp:nvSpPr>
      <dsp:spPr>
        <a:xfrm>
          <a:off x="0" y="2001150"/>
          <a:ext cx="6798539" cy="885383"/>
        </a:xfrm>
        <a:prstGeom prst="roundRect">
          <a:avLst/>
        </a:prstGeom>
        <a:solidFill>
          <a:schemeClr val="accent5">
            <a:hueOff val="-8580357"/>
            <a:satOff val="11491"/>
            <a:lumOff val="7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Serotonin reuptake inhibitors are used as anti depressants that increase serotonin n the brain by blocking its uptake. (Prozac, Zoloft, Paxil)</a:t>
          </a:r>
          <a:endParaRPr lang="en-US" sz="2000" kern="1200" dirty="0"/>
        </a:p>
      </dsp:txBody>
      <dsp:txXfrm>
        <a:off x="43221" y="2044371"/>
        <a:ext cx="6712097" cy="798941"/>
      </dsp:txXfrm>
    </dsp:sp>
    <dsp:sp modelId="{AD7DC8A8-69D4-44BC-8DE8-53E50232AC33}">
      <dsp:nvSpPr>
        <dsp:cNvPr id="0" name=""/>
        <dsp:cNvSpPr/>
      </dsp:nvSpPr>
      <dsp:spPr>
        <a:xfrm>
          <a:off x="0" y="2898065"/>
          <a:ext cx="6798539" cy="605572"/>
        </a:xfrm>
        <a:prstGeom prst="roundRect">
          <a:avLst/>
        </a:prstGeom>
        <a:solidFill>
          <a:schemeClr val="accent5">
            <a:hueOff val="-12870536"/>
            <a:satOff val="17237"/>
            <a:lumOff val="11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Important in regulation of sleep and appetite – used to treat eating disorder of bulimia</a:t>
          </a:r>
          <a:endParaRPr lang="en-US" sz="2000" kern="1200" dirty="0"/>
        </a:p>
      </dsp:txBody>
      <dsp:txXfrm>
        <a:off x="29562" y="2927627"/>
        <a:ext cx="6739415" cy="546448"/>
      </dsp:txXfrm>
    </dsp:sp>
    <dsp:sp modelId="{E6320222-AC8B-450E-9E8D-D88FF8B555BA}">
      <dsp:nvSpPr>
        <dsp:cNvPr id="0" name=""/>
        <dsp:cNvSpPr/>
      </dsp:nvSpPr>
      <dsp:spPr>
        <a:xfrm>
          <a:off x="0" y="3515169"/>
          <a:ext cx="6798539" cy="605572"/>
        </a:xfrm>
        <a:prstGeom prst="roundRect">
          <a:avLst/>
        </a:prstGeom>
        <a:solidFill>
          <a:schemeClr val="accent5">
            <a:hueOff val="-17160714"/>
            <a:satOff val="22983"/>
            <a:lumOff val="15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Lysergic acid dietylamide (LSD) induces the effects of serotonin by binding to its receptors in the brain</a:t>
          </a:r>
          <a:endParaRPr lang="en-US" sz="2000" kern="1200"/>
        </a:p>
      </dsp:txBody>
      <dsp:txXfrm>
        <a:off x="29562" y="3544731"/>
        <a:ext cx="6739415" cy="5464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FCD61-753B-4C98-9B73-E09E140C2BEF}">
      <dsp:nvSpPr>
        <dsp:cNvPr id="0" name=""/>
        <dsp:cNvSpPr/>
      </dsp:nvSpPr>
      <dsp:spPr>
        <a:xfrm>
          <a:off x="0" y="1995"/>
          <a:ext cx="6798539" cy="9814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Gamma-aminobutyric acid</a:t>
          </a:r>
          <a:endParaRPr lang="en-US" sz="2000" kern="1200"/>
        </a:p>
      </dsp:txBody>
      <dsp:txXfrm>
        <a:off x="47912" y="49907"/>
        <a:ext cx="6702715" cy="885656"/>
      </dsp:txXfrm>
    </dsp:sp>
    <dsp:sp modelId="{4CE73853-9D3D-4B30-8DA0-30DD3264B16A}">
      <dsp:nvSpPr>
        <dsp:cNvPr id="0" name=""/>
        <dsp:cNvSpPr/>
      </dsp:nvSpPr>
      <dsp:spPr>
        <a:xfrm>
          <a:off x="0" y="996258"/>
          <a:ext cx="6798539" cy="981480"/>
        </a:xfrm>
        <a:prstGeom prst="roundRect">
          <a:avLst/>
        </a:prstGeom>
        <a:solidFill>
          <a:schemeClr val="accent5">
            <a:hueOff val="-4290179"/>
            <a:satOff val="5746"/>
            <a:lumOff val="3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Major inhibitory transmitter</a:t>
          </a:r>
          <a:endParaRPr lang="en-US" sz="2000" kern="1200"/>
        </a:p>
      </dsp:txBody>
      <dsp:txXfrm>
        <a:off x="47912" y="1044170"/>
        <a:ext cx="6702715" cy="885656"/>
      </dsp:txXfrm>
    </dsp:sp>
    <dsp:sp modelId="{55DADAFA-DA18-4603-A3A9-DCBC5473D12B}">
      <dsp:nvSpPr>
        <dsp:cNvPr id="0" name=""/>
        <dsp:cNvSpPr/>
      </dsp:nvSpPr>
      <dsp:spPr>
        <a:xfrm>
          <a:off x="0" y="1990521"/>
          <a:ext cx="6798539" cy="981480"/>
        </a:xfrm>
        <a:prstGeom prst="roundRect">
          <a:avLst/>
        </a:prstGeom>
        <a:solidFill>
          <a:schemeClr val="accent5">
            <a:hueOff val="-8580357"/>
            <a:satOff val="11491"/>
            <a:lumOff val="7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Most synapses in the brain use GABA</a:t>
          </a:r>
          <a:endParaRPr lang="en-US" sz="2000" kern="1200"/>
        </a:p>
      </dsp:txBody>
      <dsp:txXfrm>
        <a:off x="47912" y="2038433"/>
        <a:ext cx="6702715" cy="885656"/>
      </dsp:txXfrm>
    </dsp:sp>
    <dsp:sp modelId="{8B3075E8-0292-4E9F-97F7-144D44939A4B}">
      <dsp:nvSpPr>
        <dsp:cNvPr id="0" name=""/>
        <dsp:cNvSpPr/>
      </dsp:nvSpPr>
      <dsp:spPr>
        <a:xfrm>
          <a:off x="0" y="2984784"/>
          <a:ext cx="6798539" cy="981480"/>
        </a:xfrm>
        <a:prstGeom prst="roundRect">
          <a:avLst/>
        </a:prstGeom>
        <a:solidFill>
          <a:schemeClr val="accent5">
            <a:hueOff val="-12870536"/>
            <a:satOff val="17237"/>
            <a:lumOff val="11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Blocking of GABA receptors produces convolutions as muscle movements cannot be controlled without GABA’s inhibitory influence.</a:t>
          </a:r>
          <a:endParaRPr lang="en-US" sz="2000" kern="1200"/>
        </a:p>
      </dsp:txBody>
      <dsp:txXfrm>
        <a:off x="47912" y="3032696"/>
        <a:ext cx="6702715" cy="885656"/>
      </dsp:txXfrm>
    </dsp:sp>
    <dsp:sp modelId="{4863C853-5CCB-4F21-B317-6F13690183FE}">
      <dsp:nvSpPr>
        <dsp:cNvPr id="0" name=""/>
        <dsp:cNvSpPr/>
      </dsp:nvSpPr>
      <dsp:spPr>
        <a:xfrm>
          <a:off x="0" y="3979047"/>
          <a:ext cx="6798539" cy="981480"/>
        </a:xfrm>
        <a:prstGeom prst="roundRect">
          <a:avLst/>
        </a:prstGeom>
        <a:solidFill>
          <a:schemeClr val="accent5">
            <a:hueOff val="-17160714"/>
            <a:satOff val="22983"/>
            <a:lumOff val="15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Tranquilizing effects od certain anti-anxiety drugs (benzodiazepines) are a result of GABA’s inhibitory actions</a:t>
          </a:r>
          <a:endParaRPr lang="en-US" sz="2000" kern="1200"/>
        </a:p>
      </dsp:txBody>
      <dsp:txXfrm>
        <a:off x="47912" y="4026959"/>
        <a:ext cx="6702715" cy="88565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F2C527-D003-4A18-BEE7-16E261619DF3}">
      <dsp:nvSpPr>
        <dsp:cNvPr id="0" name=""/>
        <dsp:cNvSpPr/>
      </dsp:nvSpPr>
      <dsp:spPr>
        <a:xfrm>
          <a:off x="0" y="10747"/>
          <a:ext cx="5257800" cy="81081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kern="1200"/>
            <a:t>The Spinal Cord </a:t>
          </a:r>
        </a:p>
      </dsp:txBody>
      <dsp:txXfrm>
        <a:off x="39580" y="50327"/>
        <a:ext cx="5178640" cy="73165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663C9D-633F-4EFD-99EB-814139BD6D18}">
      <dsp:nvSpPr>
        <dsp:cNvPr id="0" name=""/>
        <dsp:cNvSpPr/>
      </dsp:nvSpPr>
      <dsp:spPr>
        <a:xfrm>
          <a:off x="0" y="88191"/>
          <a:ext cx="10515600" cy="8845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IN" sz="3600" b="0" i="0" kern="1200" baseline="0"/>
            <a:t>REGENERATION AND REPAIR OF NERVOUS TISSUE</a:t>
          </a:r>
          <a:endParaRPr lang="en-IN" sz="3600" kern="1200"/>
        </a:p>
      </dsp:txBody>
      <dsp:txXfrm>
        <a:off x="43179" y="131370"/>
        <a:ext cx="10429242" cy="79816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BD0D6-0139-44F6-AE01-8C8F8EED6B5B}">
      <dsp:nvSpPr>
        <dsp:cNvPr id="0" name=""/>
        <dsp:cNvSpPr/>
      </dsp:nvSpPr>
      <dsp:spPr>
        <a:xfrm>
          <a:off x="0" y="11676"/>
          <a:ext cx="10515600" cy="1302210"/>
        </a:xfrm>
        <a:prstGeom prst="roundRect">
          <a:avLst/>
        </a:prstGeom>
        <a:solidFill>
          <a:schemeClr val="accent2">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US" sz="5300" kern="1200" dirty="0"/>
            <a:t>Principles of Learning</a:t>
          </a:r>
          <a:endParaRPr lang="en-IN" sz="5300" kern="1200" dirty="0"/>
        </a:p>
      </dsp:txBody>
      <dsp:txXfrm>
        <a:off x="63569" y="75245"/>
        <a:ext cx="10388462" cy="117507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DE79D1-AC32-4D17-9D8D-9958E0CC44CA}">
      <dsp:nvSpPr>
        <dsp:cNvPr id="0" name=""/>
        <dsp:cNvSpPr/>
      </dsp:nvSpPr>
      <dsp:spPr>
        <a:xfrm>
          <a:off x="0" y="39687"/>
          <a:ext cx="3286125" cy="197167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i="1" kern="1200" dirty="0"/>
            <a:t>Learning</a:t>
          </a:r>
          <a:r>
            <a:rPr lang="en-IN" sz="2000" kern="1200" dirty="0"/>
            <a:t>: </a:t>
          </a:r>
          <a:r>
            <a:rPr lang="en-US" sz="2000" kern="1200" dirty="0"/>
            <a:t>Learning may be defined as a relatively permanent change in </a:t>
          </a:r>
          <a:r>
            <a:rPr lang="en-US" sz="2000" kern="1200" dirty="0" err="1"/>
            <a:t>behaviour</a:t>
          </a:r>
          <a:r>
            <a:rPr lang="en-US" sz="2000" kern="1200" dirty="0"/>
            <a:t> that occurs as the result of prior experience. (Atkinson &amp; Hilgard, 2019)</a:t>
          </a:r>
        </a:p>
      </dsp:txBody>
      <dsp:txXfrm>
        <a:off x="0" y="39687"/>
        <a:ext cx="3286125" cy="1971675"/>
      </dsp:txXfrm>
    </dsp:sp>
    <dsp:sp modelId="{ED1CE089-6DAA-4B10-BEA2-9F4A111B54E5}">
      <dsp:nvSpPr>
        <dsp:cNvPr id="0" name=""/>
        <dsp:cNvSpPr/>
      </dsp:nvSpPr>
      <dsp:spPr>
        <a:xfrm>
          <a:off x="3614737" y="39687"/>
          <a:ext cx="3286125" cy="197167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“Relatively permanent”: </a:t>
          </a:r>
          <a:r>
            <a:rPr lang="en-US" sz="2000" kern="1200" dirty="0"/>
            <a:t>when people learn anything, some part of the brain is changed to record this (Farmer et al. 2013) </a:t>
          </a:r>
        </a:p>
      </dsp:txBody>
      <dsp:txXfrm>
        <a:off x="3614737" y="39687"/>
        <a:ext cx="3286125" cy="1971675"/>
      </dsp:txXfrm>
    </dsp:sp>
    <dsp:sp modelId="{C88EDF68-7B4A-438A-9407-2A62996C223C}">
      <dsp:nvSpPr>
        <dsp:cNvPr id="0" name=""/>
        <dsp:cNvSpPr/>
      </dsp:nvSpPr>
      <dsp:spPr>
        <a:xfrm>
          <a:off x="7229475" y="39687"/>
          <a:ext cx="3286125" cy="197167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Process of memory- </a:t>
          </a:r>
          <a:r>
            <a:rPr lang="en-US" sz="2000" kern="1200" dirty="0"/>
            <a:t>without the ability to remember what happens learning cannot take place.</a:t>
          </a:r>
        </a:p>
      </dsp:txBody>
      <dsp:txXfrm>
        <a:off x="7229475" y="39687"/>
        <a:ext cx="3286125" cy="1971675"/>
      </dsp:txXfrm>
    </dsp:sp>
    <dsp:sp modelId="{00C57430-3F9F-4724-8504-D13BBB93936A}">
      <dsp:nvSpPr>
        <dsp:cNvPr id="0" name=""/>
        <dsp:cNvSpPr/>
      </dsp:nvSpPr>
      <dsp:spPr>
        <a:xfrm>
          <a:off x="0" y="2339975"/>
          <a:ext cx="3286125" cy="197167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“experience or practice”: </a:t>
          </a:r>
          <a:r>
            <a:rPr lang="en-US" sz="2000" kern="1200" dirty="0"/>
            <a:t>e.g. last time you experienced pain- we learn. Vice versa for pleasure experience.</a:t>
          </a:r>
        </a:p>
      </dsp:txBody>
      <dsp:txXfrm>
        <a:off x="0" y="2339975"/>
        <a:ext cx="3286125" cy="1971675"/>
      </dsp:txXfrm>
    </dsp:sp>
    <dsp:sp modelId="{F5B5EBAE-08D3-4AFC-A110-89EA3F9F6ABC}">
      <dsp:nvSpPr>
        <dsp:cNvPr id="0" name=""/>
        <dsp:cNvSpPr/>
      </dsp:nvSpPr>
      <dsp:spPr>
        <a:xfrm>
          <a:off x="3614737" y="2339975"/>
          <a:ext cx="3286125" cy="197167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Not all change is accomplished through learning</a:t>
          </a:r>
        </a:p>
      </dsp:txBody>
      <dsp:txXfrm>
        <a:off x="3614737" y="2339975"/>
        <a:ext cx="3286125" cy="1971675"/>
      </dsp:txXfrm>
    </dsp:sp>
    <dsp:sp modelId="{C5916733-F548-4FD2-ACF8-3CD08A7DACE8}">
      <dsp:nvSpPr>
        <dsp:cNvPr id="0" name=""/>
        <dsp:cNvSpPr/>
      </dsp:nvSpPr>
      <dsp:spPr>
        <a:xfrm>
          <a:off x="7229475" y="2339975"/>
          <a:ext cx="3286125" cy="1971675"/>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Maturation: height, size of the brain, practice alone will not allow a child to walk. – genetic blueprint </a:t>
          </a:r>
        </a:p>
      </dsp:txBody>
      <dsp:txXfrm>
        <a:off x="7229475" y="2339975"/>
        <a:ext cx="3286125" cy="19716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B1A71-AD10-49DF-B105-2E28A19C96A1}">
      <dsp:nvSpPr>
        <dsp:cNvPr id="0" name=""/>
        <dsp:cNvSpPr/>
      </dsp:nvSpPr>
      <dsp:spPr>
        <a:xfrm>
          <a:off x="0" y="11676"/>
          <a:ext cx="10515600" cy="13022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IN" sz="5300" b="0" i="0" kern="1200" baseline="0"/>
            <a:t>Biological constraints</a:t>
          </a:r>
          <a:endParaRPr lang="en-IN" sz="5300" kern="1200"/>
        </a:p>
      </dsp:txBody>
      <dsp:txXfrm>
        <a:off x="63569" y="75245"/>
        <a:ext cx="10388462" cy="117507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6A3802-C42A-4322-8188-2E7B83341FC7}">
      <dsp:nvSpPr>
        <dsp:cNvPr id="0" name=""/>
        <dsp:cNvSpPr/>
      </dsp:nvSpPr>
      <dsp:spPr>
        <a:xfrm>
          <a:off x="0" y="11676"/>
          <a:ext cx="10515600" cy="13022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IN" sz="5300" b="0" i="0" kern="1200" baseline="0" dirty="0"/>
            <a:t>OPERANT CONDITIONING</a:t>
          </a:r>
          <a:endParaRPr lang="en-IN" sz="5300" kern="1200" dirty="0"/>
        </a:p>
      </dsp:txBody>
      <dsp:txXfrm>
        <a:off x="63569" y="75245"/>
        <a:ext cx="10388462" cy="117507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53764-B6C5-42AA-84AE-5819E853D256}">
      <dsp:nvSpPr>
        <dsp:cNvPr id="0" name=""/>
        <dsp:cNvSpPr/>
      </dsp:nvSpPr>
      <dsp:spPr>
        <a:xfrm>
          <a:off x="0" y="7639"/>
          <a:ext cx="10515600" cy="105650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IN" sz="4300" kern="1200"/>
            <a:t>Cognitive Learning Theory </a:t>
          </a:r>
        </a:p>
      </dsp:txBody>
      <dsp:txXfrm>
        <a:off x="51575" y="59214"/>
        <a:ext cx="10412450" cy="95335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F8238-63FB-4B5B-B371-771667031711}">
      <dsp:nvSpPr>
        <dsp:cNvPr id="0" name=""/>
        <dsp:cNvSpPr/>
      </dsp:nvSpPr>
      <dsp:spPr>
        <a:xfrm>
          <a:off x="0" y="11682"/>
          <a:ext cx="10515600" cy="10810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IN" sz="4400" kern="1200"/>
            <a:t>Kholer’s Insight Theory</a:t>
          </a:r>
        </a:p>
      </dsp:txBody>
      <dsp:txXfrm>
        <a:off x="52774" y="64456"/>
        <a:ext cx="10410052" cy="97553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AA6FB-1D6E-4B98-917F-8DA7F3674805}">
      <dsp:nvSpPr>
        <dsp:cNvPr id="0" name=""/>
        <dsp:cNvSpPr/>
      </dsp:nvSpPr>
      <dsp:spPr>
        <a:xfrm>
          <a:off x="0" y="11676"/>
          <a:ext cx="10515600" cy="13022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IN" sz="5300" kern="1200"/>
            <a:t>Kholer’s Insight Theory</a:t>
          </a:r>
        </a:p>
      </dsp:txBody>
      <dsp:txXfrm>
        <a:off x="63569" y="75245"/>
        <a:ext cx="10388462" cy="117507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36189D-5C6B-4AE8-8299-004C99D0AC51}">
      <dsp:nvSpPr>
        <dsp:cNvPr id="0" name=""/>
        <dsp:cNvSpPr/>
      </dsp:nvSpPr>
      <dsp:spPr>
        <a:xfrm>
          <a:off x="0" y="49013"/>
          <a:ext cx="5181600" cy="149877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1" kern="1200" baseline="0"/>
            <a:t>Ah, but would that child have imitated the model if the model had been punished? Wouldn’t the consequences of the model’s </a:t>
          </a:r>
          <a:r>
            <a:rPr lang="en-IN" sz="2100" b="0" i="1" kern="1200" baseline="0"/>
            <a:t>behavior make a difference?</a:t>
          </a:r>
          <a:endParaRPr lang="en-IN" sz="2100" kern="1200"/>
        </a:p>
      </dsp:txBody>
      <dsp:txXfrm>
        <a:off x="73164" y="122177"/>
        <a:ext cx="5035272" cy="135244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0541E-8107-48A9-94EC-74F6A602AFB5}">
      <dsp:nvSpPr>
        <dsp:cNvPr id="0" name=""/>
        <dsp:cNvSpPr/>
      </dsp:nvSpPr>
      <dsp:spPr>
        <a:xfrm>
          <a:off x="0" y="40912"/>
          <a:ext cx="3578087"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US" sz="2500" kern="1200" dirty="0"/>
            <a:t>Superstitious </a:t>
          </a:r>
          <a:r>
            <a:rPr lang="en-US" sz="2500" kern="1200" dirty="0" err="1"/>
            <a:t>behaviour</a:t>
          </a:r>
          <a:endParaRPr lang="en-IN" sz="2500" kern="1200" dirty="0"/>
        </a:p>
      </dsp:txBody>
      <dsp:txXfrm>
        <a:off x="29985" y="70897"/>
        <a:ext cx="3518117" cy="55428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5259B1-4F89-4A45-AE34-96BA65149D12}">
      <dsp:nvSpPr>
        <dsp:cNvPr id="0" name=""/>
        <dsp:cNvSpPr/>
      </dsp:nvSpPr>
      <dsp:spPr>
        <a:xfrm>
          <a:off x="0" y="11169"/>
          <a:ext cx="5181600" cy="43290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en-IN" sz="5000" kern="1200"/>
            <a:t>What are some possible waste disposal learning techniques?</a:t>
          </a:r>
        </a:p>
      </dsp:txBody>
      <dsp:txXfrm>
        <a:off x="211324" y="222493"/>
        <a:ext cx="4758952" cy="39063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F4DF-6467-42F0-89AD-181637A402C6}" type="datetimeFigureOut">
              <a:rPr lang="en-IN" smtClean="0"/>
              <a:t>20-04-2025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7406FA-C59A-45A1-ABDA-D5C62335710A}" type="slidenum">
              <a:rPr lang="en-IN" smtClean="0"/>
              <a:t>‹#›</a:t>
            </a:fld>
            <a:endParaRPr lang="en-IN"/>
          </a:p>
        </p:txBody>
      </p:sp>
    </p:spTree>
    <p:extLst>
      <p:ext uri="{BB962C8B-B14F-4D97-AF65-F5344CB8AC3E}">
        <p14:creationId xmlns:p14="http://schemas.microsoft.com/office/powerpoint/2010/main" val="575308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7406FA-C59A-45A1-ABDA-D5C62335710A}" type="slidenum">
              <a:rPr lang="en-IN" smtClean="0"/>
              <a:t>31</a:t>
            </a:fld>
            <a:endParaRPr lang="en-IN"/>
          </a:p>
        </p:txBody>
      </p:sp>
    </p:spTree>
    <p:extLst>
      <p:ext uri="{BB962C8B-B14F-4D97-AF65-F5344CB8AC3E}">
        <p14:creationId xmlns:p14="http://schemas.microsoft.com/office/powerpoint/2010/main" val="2866096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7406FA-C59A-45A1-ABDA-D5C62335710A}" type="slidenum">
              <a:rPr lang="en-IN" smtClean="0"/>
              <a:t>36</a:t>
            </a:fld>
            <a:endParaRPr lang="en-IN"/>
          </a:p>
        </p:txBody>
      </p:sp>
    </p:spTree>
    <p:extLst>
      <p:ext uri="{BB962C8B-B14F-4D97-AF65-F5344CB8AC3E}">
        <p14:creationId xmlns:p14="http://schemas.microsoft.com/office/powerpoint/2010/main" val="1453232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F87908-10B9-4A43-91E8-6E84D077F380}"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813188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F87908-10B9-4A43-91E8-6E84D077F380}"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415551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F87908-10B9-4A43-91E8-6E84D077F380}"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1664907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F87908-10B9-4A43-91E8-6E84D077F380}" type="datetimeFigureOut">
              <a:rPr lang="en-IN" smtClean="0"/>
              <a:t>20-04-2025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4169346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F87908-10B9-4A43-91E8-6E84D077F380}" type="datetimeFigureOut">
              <a:rPr lang="en-IN" smtClean="0"/>
              <a:t>20-04-2025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1812949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F87908-10B9-4A43-91E8-6E84D077F380}" type="datetimeFigureOut">
              <a:rPr lang="en-IN" smtClean="0"/>
              <a:t>20-04-2025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3707221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87908-10B9-4A43-91E8-6E84D077F380}" type="datetimeFigureOut">
              <a:rPr lang="en-IN" smtClean="0"/>
              <a:t>20-04-2025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1161583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87908-10B9-4A43-91E8-6E84D077F380}" type="datetimeFigureOut">
              <a:rPr lang="en-IN" smtClean="0"/>
              <a:t>20-04-2025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4229415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87908-10B9-4A43-91E8-6E84D077F380}" type="datetimeFigureOut">
              <a:rPr lang="en-IN" smtClean="0"/>
              <a:t>20-04-2025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825018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F87908-10B9-4A43-91E8-6E84D077F380}"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1583954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F87908-10B9-4A43-91E8-6E84D077F380}" type="datetimeFigureOut">
              <a:rPr lang="en-IN" smtClean="0"/>
              <a:t>20-04-2025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8EB221-1DA2-4713-BFE7-4E9A6DE7B838}" type="slidenum">
              <a:rPr lang="en-IN" smtClean="0"/>
              <a:t>‹#›</a:t>
            </a:fld>
            <a:endParaRPr lang="en-IN"/>
          </a:p>
        </p:txBody>
      </p:sp>
    </p:spTree>
    <p:extLst>
      <p:ext uri="{BB962C8B-B14F-4D97-AF65-F5344CB8AC3E}">
        <p14:creationId xmlns:p14="http://schemas.microsoft.com/office/powerpoint/2010/main" val="1744458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F87908-10B9-4A43-91E8-6E84D077F380}" type="datetimeFigureOut">
              <a:rPr lang="en-IN" smtClean="0"/>
              <a:t>20-04-2025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8EB221-1DA2-4713-BFE7-4E9A6DE7B838}" type="slidenum">
              <a:rPr lang="en-IN" smtClean="0"/>
              <a:t>‹#›</a:t>
            </a:fld>
            <a:endParaRPr lang="en-IN"/>
          </a:p>
        </p:txBody>
      </p:sp>
    </p:spTree>
    <p:extLst>
      <p:ext uri="{BB962C8B-B14F-4D97-AF65-F5344CB8AC3E}">
        <p14:creationId xmlns:p14="http://schemas.microsoft.com/office/powerpoint/2010/main" val="9137923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Layout" Target="../diagrams/layout2.xml"/><Relationship Id="rId7" Type="http://schemas.openxmlformats.org/officeDocument/2006/relationships/image" Target="../media/image9.png"/><Relationship Id="rId12" Type="http://schemas.microsoft.com/office/2007/relationships/diagramDrawing" Target="../diagrams/drawing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diagramColors" Target="../diagrams/colors3.xml"/><Relationship Id="rId5" Type="http://schemas.openxmlformats.org/officeDocument/2006/relationships/diagramColors" Target="../diagrams/colors2.xml"/><Relationship Id="rId10" Type="http://schemas.openxmlformats.org/officeDocument/2006/relationships/diagramQuickStyle" Target="../diagrams/quickStyle3.xml"/><Relationship Id="rId4" Type="http://schemas.openxmlformats.org/officeDocument/2006/relationships/diagramQuickStyle" Target="../diagrams/quickStyle2.xml"/><Relationship Id="rId9"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41.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image" Target="../media/image47.png"/><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49.gif"/><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50.jpeg"/><Relationship Id="rId1" Type="http://schemas.openxmlformats.org/officeDocument/2006/relationships/slideLayout" Target="../slideLayouts/slideLayout4.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57.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diagramLayout" Target="../diagrams/layout17.xml"/><Relationship Id="rId7" Type="http://schemas.openxmlformats.org/officeDocument/2006/relationships/image" Target="../media/image51.png"/><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569B-F557-4CB0-B907-17E753065418}"/>
              </a:ext>
            </a:extLst>
          </p:cNvPr>
          <p:cNvSpPr>
            <a:spLocks noGrp="1"/>
          </p:cNvSpPr>
          <p:nvPr>
            <p:ph type="ctrTitle"/>
          </p:nvPr>
        </p:nvSpPr>
        <p:spPr>
          <a:xfrm>
            <a:off x="2197101" y="735283"/>
            <a:ext cx="4978399" cy="3165045"/>
          </a:xfrm>
        </p:spPr>
        <p:txBody>
          <a:bodyPr anchor="b">
            <a:normAutofit/>
          </a:bodyPr>
          <a:lstStyle/>
          <a:p>
            <a:pPr algn="l"/>
            <a:r>
              <a:rPr lang="en-IN" sz="5200"/>
              <a:t>Introduction to Psychology- I</a:t>
            </a:r>
          </a:p>
        </p:txBody>
      </p:sp>
      <p:sp>
        <p:nvSpPr>
          <p:cNvPr id="3" name="Subtitle 2">
            <a:extLst>
              <a:ext uri="{FF2B5EF4-FFF2-40B4-BE49-F238E27FC236}">
                <a16:creationId xmlns:a16="http://schemas.microsoft.com/office/drawing/2014/main" id="{2446C8CC-EBAC-5F13-B15B-59F9541079E9}"/>
              </a:ext>
            </a:extLst>
          </p:cNvPr>
          <p:cNvSpPr>
            <a:spLocks noGrp="1"/>
          </p:cNvSpPr>
          <p:nvPr>
            <p:ph type="subTitle" idx="1"/>
          </p:nvPr>
        </p:nvSpPr>
        <p:spPr>
          <a:xfrm>
            <a:off x="2197101" y="4078423"/>
            <a:ext cx="4978399" cy="2058657"/>
          </a:xfrm>
        </p:spPr>
        <p:txBody>
          <a:bodyPr>
            <a:normAutofit/>
          </a:bodyPr>
          <a:lstStyle/>
          <a:p>
            <a:pPr algn="l"/>
            <a:r>
              <a:rPr lang="en-IN" b="0" i="0">
                <a:effectLst/>
                <a:latin typeface="arial" panose="020B0604020202020204" pitchFamily="34" charset="0"/>
              </a:rPr>
              <a:t> LA380 /  LAL320 </a:t>
            </a:r>
            <a:endParaRPr lang="en-IN"/>
          </a:p>
        </p:txBody>
      </p:sp>
      <p:pic>
        <p:nvPicPr>
          <p:cNvPr id="7" name="Graphic 6" descr="Brain in head">
            <a:extLst>
              <a:ext uri="{FF2B5EF4-FFF2-40B4-BE49-F238E27FC236}">
                <a16:creationId xmlns:a16="http://schemas.microsoft.com/office/drawing/2014/main" id="{636600A6-591C-9FE8-8250-442FA23F8E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spTree>
    <p:extLst>
      <p:ext uri="{BB962C8B-B14F-4D97-AF65-F5344CB8AC3E}">
        <p14:creationId xmlns:p14="http://schemas.microsoft.com/office/powerpoint/2010/main" val="348570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051D9-0B3D-43FF-082B-772E2A2F0008}"/>
              </a:ext>
            </a:extLst>
          </p:cNvPr>
          <p:cNvSpPr>
            <a:spLocks noGrp="1"/>
          </p:cNvSpPr>
          <p:nvPr>
            <p:ph type="title"/>
          </p:nvPr>
        </p:nvSpPr>
        <p:spPr/>
        <p:txBody>
          <a:bodyPr/>
          <a:lstStyle/>
          <a:p>
            <a:r>
              <a:rPr lang="en-IN" dirty="0"/>
              <a:t>Topics to be Covered</a:t>
            </a:r>
          </a:p>
        </p:txBody>
      </p:sp>
      <p:sp>
        <p:nvSpPr>
          <p:cNvPr id="3" name="Content Placeholder 2">
            <a:extLst>
              <a:ext uri="{FF2B5EF4-FFF2-40B4-BE49-F238E27FC236}">
                <a16:creationId xmlns:a16="http://schemas.microsoft.com/office/drawing/2014/main" id="{BFE74F3C-3CAF-F40E-16E3-B7D8EC59D791}"/>
              </a:ext>
            </a:extLst>
          </p:cNvPr>
          <p:cNvSpPr>
            <a:spLocks noGrp="1"/>
          </p:cNvSpPr>
          <p:nvPr>
            <p:ph idx="1"/>
          </p:nvPr>
        </p:nvSpPr>
        <p:spPr/>
        <p:txBody>
          <a:bodyPr>
            <a:normAutofit/>
          </a:bodyPr>
          <a:lstStyle/>
          <a:p>
            <a:r>
              <a:rPr lang="en-US" dirty="0"/>
              <a:t>Biology of </a:t>
            </a:r>
            <a:r>
              <a:rPr lang="en-US" dirty="0" err="1"/>
              <a:t>Behaviour</a:t>
            </a:r>
            <a:r>
              <a:rPr lang="en-US" dirty="0"/>
              <a:t>: Species typical </a:t>
            </a:r>
            <a:r>
              <a:rPr lang="en-US" dirty="0" err="1"/>
              <a:t>behaviour</a:t>
            </a:r>
            <a:r>
              <a:rPr lang="en-US" dirty="0"/>
              <a:t> patterns – Brain and </a:t>
            </a:r>
            <a:r>
              <a:rPr lang="en-US" dirty="0" err="1"/>
              <a:t>behaviour</a:t>
            </a:r>
            <a:r>
              <a:rPr lang="en-US" dirty="0"/>
              <a:t> – neurons and synapses – the nervous system and its functions in </a:t>
            </a:r>
            <a:r>
              <a:rPr lang="en-US" dirty="0" err="1"/>
              <a:t>behaviour</a:t>
            </a:r>
            <a:r>
              <a:rPr lang="en-US" dirty="0"/>
              <a:t>- hemispheric functions- neural degeneration and neural regeneration- blocking neural degeneration</a:t>
            </a:r>
          </a:p>
          <a:p>
            <a:r>
              <a:rPr lang="en-US" dirty="0"/>
              <a:t>Principles of learning – definition and perspectives of learning, classical conditioning, instrumental conditioning- Thorndike, Skinner- reinforcement-schedules of reinforcement- role of aversive stimuli- applications- cognitive learning theory - learning and the brain</a:t>
            </a:r>
          </a:p>
          <a:p>
            <a:endParaRPr lang="en-IN" dirty="0"/>
          </a:p>
        </p:txBody>
      </p:sp>
    </p:spTree>
    <p:extLst>
      <p:ext uri="{BB962C8B-B14F-4D97-AF65-F5344CB8AC3E}">
        <p14:creationId xmlns:p14="http://schemas.microsoft.com/office/powerpoint/2010/main" val="428872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A304-1DCF-3CBC-2AC1-80BBFB0DC95C}"/>
              </a:ext>
            </a:extLst>
          </p:cNvPr>
          <p:cNvSpPr>
            <a:spLocks noGrp="1"/>
          </p:cNvSpPr>
          <p:nvPr>
            <p:ph type="title"/>
          </p:nvPr>
        </p:nvSpPr>
        <p:spPr>
          <a:xfrm>
            <a:off x="572493" y="238539"/>
            <a:ext cx="11018520" cy="1434415"/>
          </a:xfrm>
        </p:spPr>
        <p:txBody>
          <a:bodyPr anchor="b">
            <a:normAutofit/>
          </a:bodyPr>
          <a:lstStyle/>
          <a:p>
            <a:r>
              <a:rPr lang="en-US" sz="5400" dirty="0"/>
              <a:t>Species typical </a:t>
            </a:r>
            <a:r>
              <a:rPr lang="en-US" sz="5400" dirty="0" err="1"/>
              <a:t>behaviour</a:t>
            </a:r>
            <a:r>
              <a:rPr lang="en-US" sz="5400" dirty="0"/>
              <a:t> patterns</a:t>
            </a:r>
            <a:endParaRPr lang="en-IN" sz="5400" dirty="0"/>
          </a:p>
        </p:txBody>
      </p:sp>
      <p:sp>
        <p:nvSpPr>
          <p:cNvPr id="3" name="Content Placeholder 2">
            <a:extLst>
              <a:ext uri="{FF2B5EF4-FFF2-40B4-BE49-F238E27FC236}">
                <a16:creationId xmlns:a16="http://schemas.microsoft.com/office/drawing/2014/main" id="{F3F023E5-6F68-2C3D-C37E-4C0F4775CF5A}"/>
              </a:ext>
            </a:extLst>
          </p:cNvPr>
          <p:cNvSpPr>
            <a:spLocks noGrp="1"/>
          </p:cNvSpPr>
          <p:nvPr>
            <p:ph idx="1"/>
          </p:nvPr>
        </p:nvSpPr>
        <p:spPr>
          <a:xfrm>
            <a:off x="572493" y="2071316"/>
            <a:ext cx="6713552" cy="4634284"/>
          </a:xfrm>
        </p:spPr>
        <p:txBody>
          <a:bodyPr anchor="t">
            <a:normAutofit/>
          </a:bodyPr>
          <a:lstStyle/>
          <a:p>
            <a:r>
              <a:rPr lang="en-IN" sz="1700" dirty="0"/>
              <a:t>Ethology and Ethologists: Study of behaviour patterns typical of </a:t>
            </a:r>
            <a:r>
              <a:rPr lang="en-IN" sz="1700" dirty="0" err="1"/>
              <a:t>of</a:t>
            </a:r>
            <a:r>
              <a:rPr lang="en-IN" sz="1700" dirty="0"/>
              <a:t> particular species of animals- with emphasis on the evolution of these patterns and adaptive value. </a:t>
            </a:r>
          </a:p>
          <a:p>
            <a:r>
              <a:rPr lang="en-IN" sz="1700" dirty="0"/>
              <a:t>Species Typical behaviour: </a:t>
            </a:r>
          </a:p>
          <a:p>
            <a:pPr>
              <a:buFont typeface="Wingdings" panose="05000000000000000000" pitchFamily="2" charset="2"/>
              <a:buChar char="Ø"/>
            </a:pPr>
            <a:r>
              <a:rPr lang="en-IN" sz="1700" dirty="0"/>
              <a:t> All normal members must display the behaviour under certain circumstances.</a:t>
            </a:r>
          </a:p>
          <a:p>
            <a:pPr>
              <a:buFont typeface="Wingdings" panose="05000000000000000000" pitchFamily="2" charset="2"/>
              <a:buChar char="Ø"/>
            </a:pPr>
            <a:r>
              <a:rPr lang="en-IN" sz="1700" dirty="0"/>
              <a:t>Arise from genetic heritage of the species evolved over time – part of “species nature” </a:t>
            </a:r>
            <a:r>
              <a:rPr lang="en-US" sz="1700" b="0" i="0" dirty="0">
                <a:effectLst/>
              </a:rPr>
              <a:t>can serve social, reproductive, nutritional, or other functions within the context of an animal’s natural history (</a:t>
            </a:r>
            <a:r>
              <a:rPr lang="en-IN" sz="1700" b="0" i="0" dirty="0">
                <a:effectLst/>
              </a:rPr>
              <a:t>Huskisson, 2019)</a:t>
            </a:r>
            <a:r>
              <a:rPr lang="en-US" sz="1700" b="0" i="0" dirty="0">
                <a:effectLst/>
              </a:rPr>
              <a:t>. </a:t>
            </a:r>
            <a:endParaRPr lang="en-IN" sz="1700" dirty="0"/>
          </a:p>
          <a:p>
            <a:pPr>
              <a:buFont typeface="Wingdings" panose="05000000000000000000" pitchFamily="2" charset="2"/>
              <a:buChar char="Ø"/>
            </a:pPr>
            <a:r>
              <a:rPr lang="en-IN" sz="1700" dirty="0"/>
              <a:t>Environment plays a role in developing and perfecting it – </a:t>
            </a:r>
          </a:p>
          <a:p>
            <a:pPr>
              <a:buFont typeface="Wingdings" panose="05000000000000000000" pitchFamily="2" charset="2"/>
              <a:buChar char="Ø"/>
            </a:pPr>
            <a:r>
              <a:rPr lang="en-IN" sz="1700" dirty="0"/>
              <a:t>These behaviours are relatively fixed and inflexible patterns of behaviour (movement) trigger by a particular stimulus or event in  the environment- storing food in the winters by desert rodents, hibernation in winters</a:t>
            </a:r>
          </a:p>
          <a:p>
            <a:pPr>
              <a:buFont typeface="Wingdings" panose="05000000000000000000" pitchFamily="2" charset="2"/>
              <a:buChar char="Ø"/>
            </a:pPr>
            <a:endParaRPr lang="en-IN" sz="1700" dirty="0"/>
          </a:p>
          <a:p>
            <a:endParaRPr lang="en-IN" sz="1700" dirty="0"/>
          </a:p>
        </p:txBody>
      </p:sp>
      <p:pic>
        <p:nvPicPr>
          <p:cNvPr id="1026" name="Picture 2" descr="undefined">
            <a:extLst>
              <a:ext uri="{FF2B5EF4-FFF2-40B4-BE49-F238E27FC236}">
                <a16:creationId xmlns:a16="http://schemas.microsoft.com/office/drawing/2014/main" id="{6D05F589-AFF9-7744-96E0-43AF5697C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2167"/>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31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41A077-5D77-D56D-0C46-09ED20565C79}"/>
              </a:ext>
            </a:extLst>
          </p:cNvPr>
          <p:cNvSpPr>
            <a:spLocks noGrp="1"/>
          </p:cNvSpPr>
          <p:nvPr>
            <p:ph idx="1"/>
          </p:nvPr>
        </p:nvSpPr>
        <p:spPr/>
        <p:txBody>
          <a:bodyPr>
            <a:normAutofit/>
          </a:bodyPr>
          <a:lstStyle/>
          <a:p>
            <a:r>
              <a:rPr lang="en-IN" sz="2000" dirty="0"/>
              <a:t>Releaser</a:t>
            </a:r>
          </a:p>
          <a:p>
            <a:r>
              <a:rPr lang="en-IN" sz="2000" dirty="0"/>
              <a:t>Fixed action pattern : behaviour released by such a stimulus </a:t>
            </a:r>
          </a:p>
          <a:p>
            <a:r>
              <a:rPr lang="en-IN" sz="2000" dirty="0"/>
              <a:t>E.g. Stickleback fish – given the stimulus, the behaviour will follow</a:t>
            </a:r>
          </a:p>
          <a:p>
            <a:r>
              <a:rPr lang="en-IN" sz="2000" dirty="0"/>
              <a:t>May seem limiting from the human perspective, but for the animals it is adaptive  </a:t>
            </a:r>
          </a:p>
          <a:p>
            <a:endParaRPr lang="en-IN" sz="2000" dirty="0"/>
          </a:p>
          <a:p>
            <a:endParaRPr lang="en-IN" sz="2000" dirty="0"/>
          </a:p>
          <a:p>
            <a:endParaRPr lang="en-IN" sz="2000" dirty="0"/>
          </a:p>
        </p:txBody>
      </p:sp>
      <p:sp>
        <p:nvSpPr>
          <p:cNvPr id="4" name="Title 1">
            <a:extLst>
              <a:ext uri="{FF2B5EF4-FFF2-40B4-BE49-F238E27FC236}">
                <a16:creationId xmlns:a16="http://schemas.microsoft.com/office/drawing/2014/main" id="{91516602-4A3D-747B-0AE2-330A1CC41EE6}"/>
              </a:ext>
            </a:extLst>
          </p:cNvPr>
          <p:cNvSpPr txBox="1">
            <a:spLocks/>
          </p:cNvSpPr>
          <p:nvPr/>
        </p:nvSpPr>
        <p:spPr>
          <a:xfrm>
            <a:off x="572493" y="238539"/>
            <a:ext cx="11018520" cy="14344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Species typical </a:t>
            </a:r>
            <a:r>
              <a:rPr lang="en-US" sz="5400" dirty="0" err="1"/>
              <a:t>behaviour</a:t>
            </a:r>
            <a:r>
              <a:rPr lang="en-US" sz="5400" dirty="0"/>
              <a:t> patterns</a:t>
            </a:r>
            <a:endParaRPr lang="en-IN" sz="5400" dirty="0"/>
          </a:p>
        </p:txBody>
      </p:sp>
      <p:pic>
        <p:nvPicPr>
          <p:cNvPr id="6" name="Picture 5">
            <a:extLst>
              <a:ext uri="{FF2B5EF4-FFF2-40B4-BE49-F238E27FC236}">
                <a16:creationId xmlns:a16="http://schemas.microsoft.com/office/drawing/2014/main" id="{7F034B0B-1DEF-6F69-6AAF-D45335D515A9}"/>
              </a:ext>
            </a:extLst>
          </p:cNvPr>
          <p:cNvPicPr>
            <a:picLocks noChangeAspect="1"/>
          </p:cNvPicPr>
          <p:nvPr/>
        </p:nvPicPr>
        <p:blipFill>
          <a:blip r:embed="rId2"/>
          <a:srcRect r="29111" b="17401"/>
          <a:stretch/>
        </p:blipFill>
        <p:spPr>
          <a:xfrm>
            <a:off x="7055492" y="3666050"/>
            <a:ext cx="3725146" cy="3191950"/>
          </a:xfrm>
          <a:prstGeom prst="rect">
            <a:avLst/>
          </a:prstGeom>
        </p:spPr>
      </p:pic>
      <p:pic>
        <p:nvPicPr>
          <p:cNvPr id="7" name="Picture 6">
            <a:extLst>
              <a:ext uri="{FF2B5EF4-FFF2-40B4-BE49-F238E27FC236}">
                <a16:creationId xmlns:a16="http://schemas.microsoft.com/office/drawing/2014/main" id="{054E7E5D-6165-B68E-A018-1181D2C1B828}"/>
              </a:ext>
            </a:extLst>
          </p:cNvPr>
          <p:cNvPicPr>
            <a:picLocks noChangeAspect="1"/>
          </p:cNvPicPr>
          <p:nvPr/>
        </p:nvPicPr>
        <p:blipFill>
          <a:blip r:embed="rId3"/>
          <a:srcRect b="12698"/>
          <a:stretch/>
        </p:blipFill>
        <p:spPr>
          <a:xfrm>
            <a:off x="1291620" y="3727949"/>
            <a:ext cx="4662866" cy="3130051"/>
          </a:xfrm>
          <a:prstGeom prst="rect">
            <a:avLst/>
          </a:prstGeom>
        </p:spPr>
      </p:pic>
    </p:spTree>
    <p:extLst>
      <p:ext uri="{BB962C8B-B14F-4D97-AF65-F5344CB8AC3E}">
        <p14:creationId xmlns:p14="http://schemas.microsoft.com/office/powerpoint/2010/main" val="1170730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0C4F-B222-25CC-B633-C96E3AFAEF7E}"/>
              </a:ext>
            </a:extLst>
          </p:cNvPr>
          <p:cNvSpPr>
            <a:spLocks noGrp="1"/>
          </p:cNvSpPr>
          <p:nvPr>
            <p:ph type="title"/>
          </p:nvPr>
        </p:nvSpPr>
        <p:spPr>
          <a:xfrm>
            <a:off x="923960" y="365126"/>
            <a:ext cx="10429839" cy="1180646"/>
          </a:xfrm>
        </p:spPr>
        <p:txBody>
          <a:bodyPr/>
          <a:lstStyle/>
          <a:p>
            <a:r>
              <a:rPr lang="en-IN" dirty="0"/>
              <a:t>Species typical behaviour among cowbirds</a:t>
            </a:r>
          </a:p>
        </p:txBody>
      </p:sp>
      <p:pic>
        <p:nvPicPr>
          <p:cNvPr id="2050" name="Picture 2" descr="Backyard Bird of the Month for April: Brown-headed Cowbird - Maine Audubon">
            <a:extLst>
              <a:ext uri="{FF2B5EF4-FFF2-40B4-BE49-F238E27FC236}">
                <a16:creationId xmlns:a16="http://schemas.microsoft.com/office/drawing/2014/main" id="{9F233733-F3E4-42C3-D58B-2CBE69B581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3961" y="1750620"/>
            <a:ext cx="5401962" cy="45243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727D90-E041-689A-E643-8B391C705B6B}"/>
              </a:ext>
            </a:extLst>
          </p:cNvPr>
          <p:cNvSpPr txBox="1"/>
          <p:nvPr/>
        </p:nvSpPr>
        <p:spPr>
          <a:xfrm>
            <a:off x="6847114" y="1750620"/>
            <a:ext cx="4996543" cy="1323439"/>
          </a:xfrm>
          <a:prstGeom prst="rect">
            <a:avLst/>
          </a:prstGeom>
          <a:noFill/>
        </p:spPr>
        <p:txBody>
          <a:bodyPr wrap="square" rtlCol="0">
            <a:spAutoFit/>
          </a:bodyPr>
          <a:lstStyle/>
          <a:p>
            <a:r>
              <a:rPr lang="en-IN" sz="2000" dirty="0"/>
              <a:t>Promotes finding mates in own species to improve chances of species survival</a:t>
            </a:r>
          </a:p>
          <a:p>
            <a:endParaRPr lang="en-IN" sz="2000" dirty="0"/>
          </a:p>
          <a:p>
            <a:endParaRPr lang="en-IN" sz="2000" dirty="0"/>
          </a:p>
        </p:txBody>
      </p:sp>
      <p:sp>
        <p:nvSpPr>
          <p:cNvPr id="3" name="TextBox 2">
            <a:extLst>
              <a:ext uri="{FF2B5EF4-FFF2-40B4-BE49-F238E27FC236}">
                <a16:creationId xmlns:a16="http://schemas.microsoft.com/office/drawing/2014/main" id="{BB378422-AAB6-71BB-D664-4998D577C63E}"/>
              </a:ext>
            </a:extLst>
          </p:cNvPr>
          <p:cNvSpPr txBox="1"/>
          <p:nvPr/>
        </p:nvSpPr>
        <p:spPr>
          <a:xfrm>
            <a:off x="2830285" y="6274935"/>
            <a:ext cx="1168333" cy="369332"/>
          </a:xfrm>
          <a:prstGeom prst="rect">
            <a:avLst/>
          </a:prstGeom>
          <a:noFill/>
        </p:spPr>
        <p:txBody>
          <a:bodyPr wrap="none" rtlCol="0">
            <a:spAutoFit/>
          </a:bodyPr>
          <a:lstStyle/>
          <a:p>
            <a:r>
              <a:rPr lang="en-IN" dirty="0"/>
              <a:t>A cowbird</a:t>
            </a:r>
          </a:p>
        </p:txBody>
      </p:sp>
    </p:spTree>
    <p:extLst>
      <p:ext uri="{BB962C8B-B14F-4D97-AF65-F5344CB8AC3E}">
        <p14:creationId xmlns:p14="http://schemas.microsoft.com/office/powerpoint/2010/main" val="424826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B9A8-1A8A-5758-33D6-0AAA99251F9C}"/>
              </a:ext>
            </a:extLst>
          </p:cNvPr>
          <p:cNvSpPr>
            <a:spLocks noGrp="1"/>
          </p:cNvSpPr>
          <p:nvPr>
            <p:ph type="title"/>
          </p:nvPr>
        </p:nvSpPr>
        <p:spPr/>
        <p:txBody>
          <a:bodyPr/>
          <a:lstStyle/>
          <a:p>
            <a:r>
              <a:rPr lang="en-IN" dirty="0"/>
              <a:t>Survival can be promoted by warning/threatening</a:t>
            </a:r>
          </a:p>
        </p:txBody>
      </p:sp>
      <p:sp>
        <p:nvSpPr>
          <p:cNvPr id="3" name="Content Placeholder 2">
            <a:extLst>
              <a:ext uri="{FF2B5EF4-FFF2-40B4-BE49-F238E27FC236}">
                <a16:creationId xmlns:a16="http://schemas.microsoft.com/office/drawing/2014/main" id="{72DC1984-584E-6850-7F62-2C721790E601}"/>
              </a:ext>
            </a:extLst>
          </p:cNvPr>
          <p:cNvSpPr>
            <a:spLocks noGrp="1"/>
          </p:cNvSpPr>
          <p:nvPr>
            <p:ph idx="1"/>
          </p:nvPr>
        </p:nvSpPr>
        <p:spPr>
          <a:xfrm>
            <a:off x="838200" y="2438399"/>
            <a:ext cx="4669971" cy="3738563"/>
          </a:xfrm>
        </p:spPr>
        <p:txBody>
          <a:bodyPr>
            <a:normAutofit/>
          </a:bodyPr>
          <a:lstStyle/>
          <a:p>
            <a:r>
              <a:rPr lang="en-IN" sz="2000" b="1" dirty="0"/>
              <a:t>Species typical behaviour can also be in form of aggression </a:t>
            </a:r>
            <a:r>
              <a:rPr lang="en-IN" sz="2000" dirty="0"/>
              <a:t>– dogs- curling lips and barring teeth to show threat</a:t>
            </a:r>
          </a:p>
          <a:p>
            <a:endParaRPr lang="en-IN" sz="2000" dirty="0"/>
          </a:p>
        </p:txBody>
      </p:sp>
      <p:pic>
        <p:nvPicPr>
          <p:cNvPr id="4" name="Picture 3">
            <a:extLst>
              <a:ext uri="{FF2B5EF4-FFF2-40B4-BE49-F238E27FC236}">
                <a16:creationId xmlns:a16="http://schemas.microsoft.com/office/drawing/2014/main" id="{6364B887-371B-D7A6-FA5A-E2AC1F4312AE}"/>
              </a:ext>
            </a:extLst>
          </p:cNvPr>
          <p:cNvPicPr>
            <a:picLocks noChangeAspect="1"/>
          </p:cNvPicPr>
          <p:nvPr/>
        </p:nvPicPr>
        <p:blipFill>
          <a:blip r:embed="rId2"/>
          <a:stretch>
            <a:fillRect/>
          </a:stretch>
        </p:blipFill>
        <p:spPr>
          <a:xfrm>
            <a:off x="6193973" y="1825625"/>
            <a:ext cx="4863190" cy="4667250"/>
          </a:xfrm>
          <a:prstGeom prst="rect">
            <a:avLst/>
          </a:prstGeom>
        </p:spPr>
      </p:pic>
    </p:spTree>
    <p:extLst>
      <p:ext uri="{BB962C8B-B14F-4D97-AF65-F5344CB8AC3E}">
        <p14:creationId xmlns:p14="http://schemas.microsoft.com/office/powerpoint/2010/main" val="2159333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87300-C19B-E1F6-23CE-30F5CA528D79}"/>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Species typical behaviour patterns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F4D077C3-6513-E9FA-9B81-E5E602C2FB85}"/>
              </a:ext>
            </a:extLst>
          </p:cNvPr>
          <p:cNvGraphicFramePr>
            <a:graphicFrameLocks noGrp="1"/>
          </p:cNvGraphicFramePr>
          <p:nvPr>
            <p:ph idx="1"/>
            <p:extLst>
              <p:ext uri="{D42A27DB-BD31-4B8C-83A1-F6EECF244321}">
                <p14:modId xmlns:p14="http://schemas.microsoft.com/office/powerpoint/2010/main" val="317420899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7997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364B-7A10-AA16-9E8E-CEDE0ADD46D0}"/>
              </a:ext>
            </a:extLst>
          </p:cNvPr>
          <p:cNvSpPr>
            <a:spLocks noGrp="1"/>
          </p:cNvSpPr>
          <p:nvPr>
            <p:ph type="title"/>
          </p:nvPr>
        </p:nvSpPr>
        <p:spPr/>
        <p:txBody>
          <a:bodyPr/>
          <a:lstStyle/>
          <a:p>
            <a:r>
              <a:rPr lang="en-US" sz="4400"/>
              <a:t>Species typical behaviour among Humans</a:t>
            </a:r>
            <a:endParaRPr lang="en-IN" dirty="0"/>
          </a:p>
        </p:txBody>
      </p:sp>
      <p:sp>
        <p:nvSpPr>
          <p:cNvPr id="3" name="Content Placeholder 2">
            <a:extLst>
              <a:ext uri="{FF2B5EF4-FFF2-40B4-BE49-F238E27FC236}">
                <a16:creationId xmlns:a16="http://schemas.microsoft.com/office/drawing/2014/main" id="{242B1A03-04F0-7ECA-3319-D5330FB48AC8}"/>
              </a:ext>
            </a:extLst>
          </p:cNvPr>
          <p:cNvSpPr>
            <a:spLocks noGrp="1"/>
          </p:cNvSpPr>
          <p:nvPr>
            <p:ph idx="1"/>
          </p:nvPr>
        </p:nvSpPr>
        <p:spPr>
          <a:xfrm>
            <a:off x="838200" y="1825625"/>
            <a:ext cx="7184571" cy="4351338"/>
          </a:xfrm>
        </p:spPr>
        <p:txBody>
          <a:bodyPr>
            <a:normAutofit fontScale="85000" lnSpcReduction="20000"/>
          </a:bodyPr>
          <a:lstStyle/>
          <a:p>
            <a:r>
              <a:rPr lang="en-IN"/>
              <a:t>More complex than lower animals – due to the flexibility of behaviour</a:t>
            </a:r>
          </a:p>
          <a:p>
            <a:r>
              <a:rPr lang="en-IN"/>
              <a:t>Human evolution – lead to – behaviour strongly influenced by learning – through events that take place in life</a:t>
            </a:r>
          </a:p>
          <a:p>
            <a:r>
              <a:rPr lang="en-IN" b="1"/>
              <a:t>Fixed action behaviours</a:t>
            </a:r>
            <a:r>
              <a:rPr lang="en-IN"/>
              <a:t> – prominent in lower animals not so prominent in human nature </a:t>
            </a:r>
          </a:p>
          <a:p>
            <a:r>
              <a:rPr lang="en-IN"/>
              <a:t>Infants reflexes- grope, swallow, breathing, blinking, coughing, sneezing, and withdrawing from painful stimuli</a:t>
            </a:r>
          </a:p>
          <a:p>
            <a:pPr>
              <a:buFont typeface="Wingdings" panose="05000000000000000000" pitchFamily="2" charset="2"/>
              <a:buChar char="Ø"/>
            </a:pPr>
            <a:r>
              <a:rPr lang="en-IN"/>
              <a:t>Moro reflex: when support is suddenly removed from behind the head, the neonate flings arms to the side, extend its fingers and bring arms inward in a sort of embracing movement</a:t>
            </a:r>
            <a:endParaRPr lang="en-IN" dirty="0"/>
          </a:p>
        </p:txBody>
      </p:sp>
      <p:pic>
        <p:nvPicPr>
          <p:cNvPr id="4" name="Picture 3">
            <a:extLst>
              <a:ext uri="{FF2B5EF4-FFF2-40B4-BE49-F238E27FC236}">
                <a16:creationId xmlns:a16="http://schemas.microsoft.com/office/drawing/2014/main" id="{3BF65B06-3DB7-1665-EABB-D13ACD847FCB}"/>
              </a:ext>
            </a:extLst>
          </p:cNvPr>
          <p:cNvPicPr>
            <a:picLocks noChangeAspect="1"/>
          </p:cNvPicPr>
          <p:nvPr/>
        </p:nvPicPr>
        <p:blipFill>
          <a:blip r:embed="rId2"/>
          <a:srcRect b="10000"/>
          <a:stretch/>
        </p:blipFill>
        <p:spPr>
          <a:xfrm>
            <a:off x="8022771" y="2046514"/>
            <a:ext cx="3810000" cy="3222172"/>
          </a:xfrm>
          <a:prstGeom prst="rect">
            <a:avLst/>
          </a:prstGeom>
        </p:spPr>
      </p:pic>
    </p:spTree>
    <p:extLst>
      <p:ext uri="{BB962C8B-B14F-4D97-AF65-F5344CB8AC3E}">
        <p14:creationId xmlns:p14="http://schemas.microsoft.com/office/powerpoint/2010/main" val="199656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5D8B798-8F9A-D827-7510-34FE3B79792F}"/>
              </a:ext>
            </a:extLst>
          </p:cNvPr>
          <p:cNvGraphicFramePr/>
          <p:nvPr>
            <p:extLst>
              <p:ext uri="{D42A27DB-BD31-4B8C-83A1-F6EECF244321}">
                <p14:modId xmlns:p14="http://schemas.microsoft.com/office/powerpoint/2010/main" val="4217342080"/>
              </p:ext>
            </p:extLst>
          </p:nvPr>
        </p:nvGraphicFramePr>
        <p:xfrm>
          <a:off x="838200" y="365126"/>
          <a:ext cx="9514114" cy="592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3">
            <a:extLst>
              <a:ext uri="{FF2B5EF4-FFF2-40B4-BE49-F238E27FC236}">
                <a16:creationId xmlns:a16="http://schemas.microsoft.com/office/drawing/2014/main" id="{4B9EAE1E-5EF5-7CC7-4BB8-4299530016B2}"/>
              </a:ext>
            </a:extLst>
          </p:cNvPr>
          <p:cNvPicPr>
            <a:picLocks noGrp="1" noChangeAspect="1"/>
          </p:cNvPicPr>
          <p:nvPr>
            <p:ph idx="1"/>
          </p:nvPr>
        </p:nvPicPr>
        <p:blipFill>
          <a:blip r:embed="rId7"/>
          <a:stretch>
            <a:fillRect/>
          </a:stretch>
        </p:blipFill>
        <p:spPr>
          <a:xfrm>
            <a:off x="1915886" y="1186543"/>
            <a:ext cx="8850085" cy="4626428"/>
          </a:xfrm>
          <a:prstGeom prst="rect">
            <a:avLst/>
          </a:prstGeom>
        </p:spPr>
      </p:pic>
      <p:graphicFrame>
        <p:nvGraphicFramePr>
          <p:cNvPr id="7" name="Diagram 6">
            <a:extLst>
              <a:ext uri="{FF2B5EF4-FFF2-40B4-BE49-F238E27FC236}">
                <a16:creationId xmlns:a16="http://schemas.microsoft.com/office/drawing/2014/main" id="{C772E25D-EB04-2EF3-B689-9AB9AC3A8C5A}"/>
              </a:ext>
            </a:extLst>
          </p:cNvPr>
          <p:cNvGraphicFramePr/>
          <p:nvPr>
            <p:extLst>
              <p:ext uri="{D42A27DB-BD31-4B8C-83A1-F6EECF244321}">
                <p14:modId xmlns:p14="http://schemas.microsoft.com/office/powerpoint/2010/main" val="2961510227"/>
              </p:ext>
            </p:extLst>
          </p:nvPr>
        </p:nvGraphicFramePr>
        <p:xfrm>
          <a:off x="947057" y="6041570"/>
          <a:ext cx="9758954" cy="6305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594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4C47C-058B-577E-2BC4-9565E71487D2}"/>
              </a:ext>
            </a:extLst>
          </p:cNvPr>
          <p:cNvSpPr>
            <a:spLocks noGrp="1"/>
          </p:cNvSpPr>
          <p:nvPr>
            <p:ph type="title"/>
          </p:nvPr>
        </p:nvSpPr>
        <p:spPr/>
        <p:txBody>
          <a:bodyPr/>
          <a:lstStyle/>
          <a:p>
            <a:r>
              <a:rPr lang="en-IN" dirty="0"/>
              <a:t>Evolutionary heritage leading to behaviours in Humans </a:t>
            </a:r>
          </a:p>
        </p:txBody>
      </p:sp>
      <p:sp>
        <p:nvSpPr>
          <p:cNvPr id="3" name="Content Placeholder 2">
            <a:extLst>
              <a:ext uri="{FF2B5EF4-FFF2-40B4-BE49-F238E27FC236}">
                <a16:creationId xmlns:a16="http://schemas.microsoft.com/office/drawing/2014/main" id="{5570A7A7-2A33-4596-6A58-2FB60BB1E913}"/>
              </a:ext>
            </a:extLst>
          </p:cNvPr>
          <p:cNvSpPr>
            <a:spLocks noGrp="1"/>
          </p:cNvSpPr>
          <p:nvPr>
            <p:ph idx="1"/>
          </p:nvPr>
        </p:nvSpPr>
        <p:spPr>
          <a:xfrm>
            <a:off x="838200" y="1825625"/>
            <a:ext cx="10515600" cy="4825546"/>
          </a:xfrm>
        </p:spPr>
        <p:txBody>
          <a:bodyPr>
            <a:normAutofit fontScale="85000" lnSpcReduction="20000"/>
          </a:bodyPr>
          <a:lstStyle/>
          <a:p>
            <a:r>
              <a:rPr lang="en-IN" dirty="0"/>
              <a:t>Evolution effects at a deeper and fundamental level – predisposes us to act or exhibit certain behaviours as opposed to others. </a:t>
            </a:r>
          </a:p>
          <a:p>
            <a:pPr>
              <a:buFontTx/>
              <a:buChar char="-"/>
            </a:pPr>
            <a:r>
              <a:rPr lang="en-IN" dirty="0"/>
              <a:t>More probable or less probable</a:t>
            </a:r>
          </a:p>
          <a:p>
            <a:pPr>
              <a:buFontTx/>
              <a:buChar char="-"/>
            </a:pPr>
            <a:r>
              <a:rPr lang="en-IN" b="1" dirty="0">
                <a:solidFill>
                  <a:schemeClr val="accent1"/>
                </a:solidFill>
              </a:rPr>
              <a:t>Built-in programmed biases towards certain types of behaviour</a:t>
            </a:r>
            <a:r>
              <a:rPr lang="en-IN" dirty="0"/>
              <a:t>– </a:t>
            </a:r>
            <a:r>
              <a:rPr lang="en-IN" dirty="0" err="1"/>
              <a:t>e.g</a:t>
            </a:r>
            <a:r>
              <a:rPr lang="en-IN" dirty="0"/>
              <a:t> altruism – the lookout calling attention to themselves so that others can run away</a:t>
            </a:r>
          </a:p>
          <a:p>
            <a:pPr>
              <a:buFontTx/>
              <a:buChar char="-"/>
            </a:pPr>
            <a:r>
              <a:rPr lang="en-IN" dirty="0"/>
              <a:t>more genes of altruism are ultimately persevered than removed from the death of one single altruistic individual – making groups more adapted to survival- thus altruistic gene gets selected and becomes part of the species gene pool/ heritage. </a:t>
            </a:r>
          </a:p>
          <a:p>
            <a:r>
              <a:rPr lang="en-IN" dirty="0"/>
              <a:t> Certain behaviours are learned – produce and understand language – no matter which language we speak</a:t>
            </a:r>
          </a:p>
          <a:p>
            <a:pPr>
              <a:buFontTx/>
              <a:buChar char="-"/>
            </a:pPr>
            <a:r>
              <a:rPr lang="en-IN" dirty="0"/>
              <a:t>These are broad tendencies – not specific behaviours (which are based on individual experiences- choosing to follow a career after exposure to adverse conditions)</a:t>
            </a:r>
          </a:p>
          <a:p>
            <a:pPr>
              <a:buFontTx/>
              <a:buChar char="-"/>
            </a:pPr>
            <a:endParaRPr lang="en-IN" dirty="0"/>
          </a:p>
          <a:p>
            <a:endParaRPr lang="en-IN" dirty="0"/>
          </a:p>
        </p:txBody>
      </p:sp>
    </p:spTree>
    <p:extLst>
      <p:ext uri="{BB962C8B-B14F-4D97-AF65-F5344CB8AC3E}">
        <p14:creationId xmlns:p14="http://schemas.microsoft.com/office/powerpoint/2010/main" val="31332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DCFE-6FF4-1994-C236-4B2C04909DBE}"/>
              </a:ext>
            </a:extLst>
          </p:cNvPr>
          <p:cNvSpPr>
            <a:spLocks noGrp="1"/>
          </p:cNvSpPr>
          <p:nvPr>
            <p:ph type="title"/>
          </p:nvPr>
        </p:nvSpPr>
        <p:spPr/>
        <p:txBody>
          <a:bodyPr/>
          <a:lstStyle/>
          <a:p>
            <a:r>
              <a:rPr lang="en-IN" dirty="0"/>
              <a:t>Books</a:t>
            </a:r>
          </a:p>
        </p:txBody>
      </p:sp>
      <p:sp>
        <p:nvSpPr>
          <p:cNvPr id="3" name="Content Placeholder 2">
            <a:extLst>
              <a:ext uri="{FF2B5EF4-FFF2-40B4-BE49-F238E27FC236}">
                <a16:creationId xmlns:a16="http://schemas.microsoft.com/office/drawing/2014/main" id="{1F7601DF-EA3D-D7F0-43B9-167ECEDD9CE2}"/>
              </a:ext>
            </a:extLst>
          </p:cNvPr>
          <p:cNvSpPr>
            <a:spLocks noGrp="1"/>
          </p:cNvSpPr>
          <p:nvPr>
            <p:ph idx="1"/>
          </p:nvPr>
        </p:nvSpPr>
        <p:spPr/>
        <p:txBody>
          <a:bodyPr/>
          <a:lstStyle/>
          <a:p>
            <a:r>
              <a:rPr lang="en-IN" dirty="0"/>
              <a:t>Atkinson., Hilgard., Nolen-Hoeksema, S., Fredrickson, B., Loftus, G. and Lutz, C. (2014). Introduction to psychology. Hampshire, United Kingdom: Cengage Learning EMEA.</a:t>
            </a:r>
          </a:p>
          <a:p>
            <a:r>
              <a:rPr lang="en-IN" dirty="0"/>
              <a:t>Morgan, Clifford T. &amp; King, Richard A.  (2017). Introduction to psychology.  New York: McGraw-Hill</a:t>
            </a:r>
          </a:p>
          <a:p>
            <a:r>
              <a:rPr lang="en-US" dirty="0"/>
              <a:t>Saundra K. Ciccarelli, </a:t>
            </a:r>
            <a:r>
              <a:rPr lang="en-US" dirty="0" err="1"/>
              <a:t>Girishwar</a:t>
            </a:r>
            <a:r>
              <a:rPr lang="en-US" dirty="0"/>
              <a:t> Misra, J. Noland White. Psychology (5e). Pearson Education India</a:t>
            </a:r>
            <a:endParaRPr lang="en-IN" dirty="0"/>
          </a:p>
        </p:txBody>
      </p:sp>
    </p:spTree>
    <p:extLst>
      <p:ext uri="{BB962C8B-B14F-4D97-AF65-F5344CB8AC3E}">
        <p14:creationId xmlns:p14="http://schemas.microsoft.com/office/powerpoint/2010/main" val="3769144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EAF8C34-3081-768C-A29B-9F1B920B9225}"/>
              </a:ext>
            </a:extLst>
          </p:cNvPr>
          <p:cNvSpPr txBox="1">
            <a:spLocks/>
          </p:cNvSpPr>
          <p:nvPr/>
        </p:nvSpPr>
        <p:spPr>
          <a:xfrm>
            <a:off x="586478" y="1683756"/>
            <a:ext cx="3115265" cy="2396359"/>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600"/>
              </a:spcAft>
            </a:pPr>
            <a:r>
              <a:rPr lang="en-US" sz="3400" kern="1200" dirty="0">
                <a:solidFill>
                  <a:srgbClr val="FFFFFF"/>
                </a:solidFill>
                <a:latin typeface="+mj-lt"/>
                <a:ea typeface="+mj-ea"/>
                <a:cs typeface="+mj-cs"/>
              </a:rPr>
              <a:t>Evolutionary heritage leading to </a:t>
            </a:r>
            <a:r>
              <a:rPr lang="en-US" sz="3400" kern="1200" dirty="0" err="1">
                <a:solidFill>
                  <a:srgbClr val="FFFFFF"/>
                </a:solidFill>
                <a:latin typeface="+mj-lt"/>
                <a:ea typeface="+mj-ea"/>
                <a:cs typeface="+mj-cs"/>
              </a:rPr>
              <a:t>behaviours</a:t>
            </a:r>
            <a:r>
              <a:rPr lang="en-US" sz="3400" kern="1200" dirty="0">
                <a:solidFill>
                  <a:srgbClr val="FFFFFF"/>
                </a:solidFill>
                <a:latin typeface="+mj-lt"/>
                <a:ea typeface="+mj-ea"/>
                <a:cs typeface="+mj-cs"/>
              </a:rPr>
              <a:t> in Humans- is it always true? </a:t>
            </a:r>
          </a:p>
        </p:txBody>
      </p:sp>
      <p:graphicFrame>
        <p:nvGraphicFramePr>
          <p:cNvPr id="6" name="Content Placeholder 2">
            <a:extLst>
              <a:ext uri="{FF2B5EF4-FFF2-40B4-BE49-F238E27FC236}">
                <a16:creationId xmlns:a16="http://schemas.microsoft.com/office/drawing/2014/main" id="{611E1D07-C5AE-D903-D5C7-BFA55D6D2FDF}"/>
              </a:ext>
            </a:extLst>
          </p:cNvPr>
          <p:cNvGraphicFramePr>
            <a:graphicFrameLocks noGrp="1"/>
          </p:cNvGraphicFramePr>
          <p:nvPr>
            <p:ph idx="1"/>
            <p:extLst>
              <p:ext uri="{D42A27DB-BD31-4B8C-83A1-F6EECF244321}">
                <p14:modId xmlns:p14="http://schemas.microsoft.com/office/powerpoint/2010/main" val="738173449"/>
              </p:ext>
            </p:extLst>
          </p:nvPr>
        </p:nvGraphicFramePr>
        <p:xfrm>
          <a:off x="4905052" y="293914"/>
          <a:ext cx="6666833" cy="63681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6038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3D461-9502-9ECD-086D-DDA6A9292007}"/>
              </a:ext>
            </a:extLst>
          </p:cNvPr>
          <p:cNvSpPr>
            <a:spLocks noGrp="1"/>
          </p:cNvSpPr>
          <p:nvPr>
            <p:ph type="title"/>
          </p:nvPr>
        </p:nvSpPr>
        <p:spPr/>
        <p:txBody>
          <a:bodyPr/>
          <a:lstStyle/>
          <a:p>
            <a:r>
              <a:rPr lang="en-IN" dirty="0"/>
              <a:t>Nature vs. Nurture </a:t>
            </a:r>
          </a:p>
        </p:txBody>
      </p:sp>
      <p:sp>
        <p:nvSpPr>
          <p:cNvPr id="3" name="Content Placeholder 2">
            <a:extLst>
              <a:ext uri="{FF2B5EF4-FFF2-40B4-BE49-F238E27FC236}">
                <a16:creationId xmlns:a16="http://schemas.microsoft.com/office/drawing/2014/main" id="{B7453425-BDCF-93FB-EA62-AC64B54111D3}"/>
              </a:ext>
            </a:extLst>
          </p:cNvPr>
          <p:cNvSpPr>
            <a:spLocks noGrp="1"/>
          </p:cNvSpPr>
          <p:nvPr>
            <p:ph idx="1"/>
          </p:nvPr>
        </p:nvSpPr>
        <p:spPr>
          <a:xfrm>
            <a:off x="838200" y="1458686"/>
            <a:ext cx="6520543" cy="5399314"/>
          </a:xfrm>
        </p:spPr>
        <p:txBody>
          <a:bodyPr>
            <a:normAutofit fontScale="62500" lnSpcReduction="20000"/>
          </a:bodyPr>
          <a:lstStyle/>
          <a:p>
            <a:r>
              <a:rPr lang="en-IN" dirty="0"/>
              <a:t>In the absence of conclusive evidence the debate about innate vs environmental </a:t>
            </a:r>
            <a:r>
              <a:rPr lang="en-IN" dirty="0" err="1"/>
              <a:t>infuences</a:t>
            </a:r>
            <a:r>
              <a:rPr lang="en-IN" dirty="0"/>
              <a:t> on human behaviour continues. </a:t>
            </a:r>
          </a:p>
          <a:p>
            <a:r>
              <a:rPr lang="en-IN" dirty="0"/>
              <a:t>Psychologists emphasise both – genes and structures as well as unique life circumstances that undermine human nature </a:t>
            </a:r>
          </a:p>
          <a:p>
            <a:r>
              <a:rPr lang="en-IN" dirty="0"/>
              <a:t>One way to look at biological and evolutionary basis of behaviour- Ernst Mayr (1960) – many evolutionary “novelties” result due to co-opting existing systems for new functions</a:t>
            </a:r>
          </a:p>
          <a:p>
            <a:r>
              <a:rPr lang="en-IN" b="1" dirty="0">
                <a:solidFill>
                  <a:srgbClr val="0070C0"/>
                </a:solidFill>
              </a:rPr>
              <a:t>The voicing system- </a:t>
            </a:r>
            <a:r>
              <a:rPr lang="en-IN" dirty="0"/>
              <a:t>teeth, tongue, mouth initial purpose – eating – evolved to produce sounds and later the pronunciation of  language (Atkinson &amp; Hilgard, 2014)</a:t>
            </a:r>
          </a:p>
          <a:p>
            <a:r>
              <a:rPr lang="en-IN" dirty="0"/>
              <a:t>Similarly, the disgust response described by Darwin- the gape, tongue extension, nose wrinkle and dropping of the mouth corners developed as response to preventing food from going inside the mouth or encourage its discharge. </a:t>
            </a:r>
            <a:r>
              <a:rPr lang="en-IN" dirty="0">
                <a:solidFill>
                  <a:srgbClr val="0070C0"/>
                </a:solidFill>
              </a:rPr>
              <a:t>Disgust response is associate with the brain’s right prefrontal area and basal ganglia.</a:t>
            </a:r>
            <a:r>
              <a:rPr lang="en-IN" dirty="0"/>
              <a:t> </a:t>
            </a:r>
            <a:r>
              <a:rPr lang="en-IN" dirty="0" err="1"/>
              <a:t>Rozdin</a:t>
            </a:r>
            <a:r>
              <a:rPr lang="en-IN" dirty="0"/>
              <a:t>  et al. (2000)  propose what was to avoid harm to the body evolved to avoid harm to the soul- against morally disgusting. But learning what is morally disgusting is part of socialization in cultures. </a:t>
            </a:r>
          </a:p>
          <a:p>
            <a:r>
              <a:rPr lang="en-IN" dirty="0"/>
              <a:t> Look at the structures of the brain and the nervous system: CASE</a:t>
            </a:r>
          </a:p>
        </p:txBody>
      </p:sp>
      <p:pic>
        <p:nvPicPr>
          <p:cNvPr id="4" name="Picture 3">
            <a:extLst>
              <a:ext uri="{FF2B5EF4-FFF2-40B4-BE49-F238E27FC236}">
                <a16:creationId xmlns:a16="http://schemas.microsoft.com/office/drawing/2014/main" id="{09F761BD-F04A-B229-2BEC-42E44EAE4272}"/>
              </a:ext>
            </a:extLst>
          </p:cNvPr>
          <p:cNvPicPr>
            <a:picLocks noChangeAspect="1"/>
          </p:cNvPicPr>
          <p:nvPr/>
        </p:nvPicPr>
        <p:blipFill>
          <a:blip r:embed="rId2"/>
          <a:stretch>
            <a:fillRect/>
          </a:stretch>
        </p:blipFill>
        <p:spPr>
          <a:xfrm>
            <a:off x="8160883" y="1143000"/>
            <a:ext cx="3758973" cy="3962400"/>
          </a:xfrm>
          <a:prstGeom prst="rect">
            <a:avLst/>
          </a:prstGeom>
        </p:spPr>
      </p:pic>
      <p:sp>
        <p:nvSpPr>
          <p:cNvPr id="5" name="TextBox 4">
            <a:extLst>
              <a:ext uri="{FF2B5EF4-FFF2-40B4-BE49-F238E27FC236}">
                <a16:creationId xmlns:a16="http://schemas.microsoft.com/office/drawing/2014/main" id="{C8B49086-B095-60B6-A44D-7117A1A04072}"/>
              </a:ext>
            </a:extLst>
          </p:cNvPr>
          <p:cNvSpPr txBox="1"/>
          <p:nvPr/>
        </p:nvSpPr>
        <p:spPr>
          <a:xfrm>
            <a:off x="8523514" y="5345668"/>
            <a:ext cx="2923044" cy="369332"/>
          </a:xfrm>
          <a:prstGeom prst="rect">
            <a:avLst/>
          </a:prstGeom>
          <a:noFill/>
        </p:spPr>
        <p:txBody>
          <a:bodyPr wrap="none" rtlCol="0">
            <a:spAutoFit/>
          </a:bodyPr>
          <a:lstStyle/>
          <a:p>
            <a:r>
              <a:rPr lang="en-IN" dirty="0"/>
              <a:t>Facial expression of disgust</a:t>
            </a:r>
          </a:p>
        </p:txBody>
      </p:sp>
    </p:spTree>
    <p:extLst>
      <p:ext uri="{BB962C8B-B14F-4D97-AF65-F5344CB8AC3E}">
        <p14:creationId xmlns:p14="http://schemas.microsoft.com/office/powerpoint/2010/main" val="108606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EB7B-44B5-02F3-43B4-796DE0CC65C6}"/>
              </a:ext>
            </a:extLst>
          </p:cNvPr>
          <p:cNvSpPr>
            <a:spLocks noGrp="1"/>
          </p:cNvSpPr>
          <p:nvPr>
            <p:ph type="title"/>
          </p:nvPr>
        </p:nvSpPr>
        <p:spPr>
          <a:xfrm>
            <a:off x="838199" y="185241"/>
            <a:ext cx="10515600" cy="1325563"/>
          </a:xfrm>
        </p:spPr>
        <p:txBody>
          <a:bodyPr/>
          <a:lstStyle/>
          <a:p>
            <a:r>
              <a:rPr lang="en-IN" dirty="0"/>
              <a:t>Organization of the Nervous System</a:t>
            </a:r>
          </a:p>
        </p:txBody>
      </p:sp>
      <p:pic>
        <p:nvPicPr>
          <p:cNvPr id="7" name="Content Placeholder 6">
            <a:extLst>
              <a:ext uri="{FF2B5EF4-FFF2-40B4-BE49-F238E27FC236}">
                <a16:creationId xmlns:a16="http://schemas.microsoft.com/office/drawing/2014/main" id="{F5987C25-7F47-05DD-4CAF-6EC9FA25ED75}"/>
              </a:ext>
            </a:extLst>
          </p:cNvPr>
          <p:cNvPicPr>
            <a:picLocks noGrp="1" noChangeAspect="1"/>
          </p:cNvPicPr>
          <p:nvPr>
            <p:ph idx="1"/>
          </p:nvPr>
        </p:nvPicPr>
        <p:blipFill>
          <a:blip r:embed="rId2"/>
          <a:stretch>
            <a:fillRect/>
          </a:stretch>
        </p:blipFill>
        <p:spPr>
          <a:xfrm>
            <a:off x="1660070" y="1141262"/>
            <a:ext cx="8871857" cy="4660824"/>
          </a:xfrm>
          <a:prstGeom prst="rect">
            <a:avLst/>
          </a:prstGeom>
        </p:spPr>
      </p:pic>
      <p:sp>
        <p:nvSpPr>
          <p:cNvPr id="8" name="TextBox 7">
            <a:extLst>
              <a:ext uri="{FF2B5EF4-FFF2-40B4-BE49-F238E27FC236}">
                <a16:creationId xmlns:a16="http://schemas.microsoft.com/office/drawing/2014/main" id="{DC2BF5AD-2369-7EFE-E461-0A3DCDAFF26A}"/>
              </a:ext>
            </a:extLst>
          </p:cNvPr>
          <p:cNvSpPr txBox="1"/>
          <p:nvPr/>
        </p:nvSpPr>
        <p:spPr>
          <a:xfrm>
            <a:off x="7271657" y="1604189"/>
            <a:ext cx="1766381" cy="369332"/>
          </a:xfrm>
          <a:prstGeom prst="rect">
            <a:avLst/>
          </a:prstGeom>
          <a:noFill/>
        </p:spPr>
        <p:txBody>
          <a:bodyPr wrap="none" rtlCol="0">
            <a:spAutoFit/>
          </a:bodyPr>
          <a:lstStyle/>
          <a:p>
            <a:r>
              <a:rPr lang="en-IN" dirty="0"/>
              <a:t>All neural tissue</a:t>
            </a:r>
          </a:p>
        </p:txBody>
      </p:sp>
      <p:sp>
        <p:nvSpPr>
          <p:cNvPr id="9" name="TextBox 8">
            <a:extLst>
              <a:ext uri="{FF2B5EF4-FFF2-40B4-BE49-F238E27FC236}">
                <a16:creationId xmlns:a16="http://schemas.microsoft.com/office/drawing/2014/main" id="{9F741EB8-0E70-1DB3-4EBE-1AA222B913E7}"/>
              </a:ext>
            </a:extLst>
          </p:cNvPr>
          <p:cNvSpPr txBox="1"/>
          <p:nvPr/>
        </p:nvSpPr>
        <p:spPr>
          <a:xfrm>
            <a:off x="6553200" y="5677444"/>
            <a:ext cx="1959430" cy="1200329"/>
          </a:xfrm>
          <a:prstGeom prst="rect">
            <a:avLst/>
          </a:prstGeom>
          <a:noFill/>
        </p:spPr>
        <p:txBody>
          <a:bodyPr wrap="square" rtlCol="0">
            <a:spAutoFit/>
          </a:bodyPr>
          <a:lstStyle/>
          <a:p>
            <a:r>
              <a:rPr lang="en-IN" dirty="0"/>
              <a:t>The part that resides inside the skull- interprets and stores info.</a:t>
            </a:r>
          </a:p>
        </p:txBody>
      </p:sp>
      <p:sp>
        <p:nvSpPr>
          <p:cNvPr id="10" name="TextBox 9">
            <a:extLst>
              <a:ext uri="{FF2B5EF4-FFF2-40B4-BE49-F238E27FC236}">
                <a16:creationId xmlns:a16="http://schemas.microsoft.com/office/drawing/2014/main" id="{1671E73E-43DE-3C55-7D5C-A9C50214C3A5}"/>
              </a:ext>
            </a:extLst>
          </p:cNvPr>
          <p:cNvSpPr txBox="1"/>
          <p:nvPr/>
        </p:nvSpPr>
        <p:spPr>
          <a:xfrm>
            <a:off x="838198" y="2551837"/>
            <a:ext cx="1959430" cy="1477328"/>
          </a:xfrm>
          <a:prstGeom prst="rect">
            <a:avLst/>
          </a:prstGeom>
          <a:noFill/>
        </p:spPr>
        <p:txBody>
          <a:bodyPr wrap="square" rtlCol="0">
            <a:spAutoFit/>
          </a:bodyPr>
          <a:lstStyle/>
          <a:p>
            <a:r>
              <a:rPr lang="en-IN" dirty="0"/>
              <a:t>Remaining neural tissue in the rest of the body- transmits info. to and from the CNS</a:t>
            </a:r>
          </a:p>
        </p:txBody>
      </p:sp>
      <p:sp>
        <p:nvSpPr>
          <p:cNvPr id="3" name="TextBox 2">
            <a:extLst>
              <a:ext uri="{FF2B5EF4-FFF2-40B4-BE49-F238E27FC236}">
                <a16:creationId xmlns:a16="http://schemas.microsoft.com/office/drawing/2014/main" id="{8ACF4F8C-3EBF-2A41-C5BA-D1C3DF89F057}"/>
              </a:ext>
            </a:extLst>
          </p:cNvPr>
          <p:cNvSpPr txBox="1"/>
          <p:nvPr/>
        </p:nvSpPr>
        <p:spPr>
          <a:xfrm>
            <a:off x="337457" y="5548813"/>
            <a:ext cx="3145972" cy="1200329"/>
          </a:xfrm>
          <a:prstGeom prst="rect">
            <a:avLst/>
          </a:prstGeom>
          <a:noFill/>
        </p:spPr>
        <p:txBody>
          <a:bodyPr wrap="square" rtlCol="0">
            <a:spAutoFit/>
          </a:bodyPr>
          <a:lstStyle/>
          <a:p>
            <a:r>
              <a:rPr lang="en-IN" dirty="0"/>
              <a:t>Carries messages to and from the sense receptors, muscles (for conscious and voluntary motor functions</a:t>
            </a:r>
          </a:p>
        </p:txBody>
      </p:sp>
      <p:sp>
        <p:nvSpPr>
          <p:cNvPr id="4" name="TextBox 3">
            <a:extLst>
              <a:ext uri="{FF2B5EF4-FFF2-40B4-BE49-F238E27FC236}">
                <a16:creationId xmlns:a16="http://schemas.microsoft.com/office/drawing/2014/main" id="{92E6F9A8-C1F8-4183-2FF4-AABFCF4F8D55}"/>
              </a:ext>
            </a:extLst>
          </p:cNvPr>
          <p:cNvSpPr txBox="1"/>
          <p:nvPr/>
        </p:nvSpPr>
        <p:spPr>
          <a:xfrm>
            <a:off x="3820883" y="5597854"/>
            <a:ext cx="2732317" cy="1200329"/>
          </a:xfrm>
          <a:prstGeom prst="rect">
            <a:avLst/>
          </a:prstGeom>
          <a:noFill/>
        </p:spPr>
        <p:txBody>
          <a:bodyPr wrap="square" rtlCol="0">
            <a:spAutoFit/>
          </a:bodyPr>
          <a:lstStyle/>
          <a:p>
            <a:r>
              <a:rPr lang="en-IN" dirty="0"/>
              <a:t>Connects the internal organs and glands (for autonomic and involuntary functions)</a:t>
            </a:r>
          </a:p>
        </p:txBody>
      </p:sp>
      <p:sp>
        <p:nvSpPr>
          <p:cNvPr id="5" name="TextBox 4">
            <a:extLst>
              <a:ext uri="{FF2B5EF4-FFF2-40B4-BE49-F238E27FC236}">
                <a16:creationId xmlns:a16="http://schemas.microsoft.com/office/drawing/2014/main" id="{AF8B19F9-9111-6301-6379-FED9F9D6BCB3}"/>
              </a:ext>
            </a:extLst>
          </p:cNvPr>
          <p:cNvSpPr txBox="1"/>
          <p:nvPr/>
        </p:nvSpPr>
        <p:spPr>
          <a:xfrm>
            <a:off x="8909951" y="5557778"/>
            <a:ext cx="1959430" cy="646331"/>
          </a:xfrm>
          <a:prstGeom prst="rect">
            <a:avLst/>
          </a:prstGeom>
          <a:noFill/>
        </p:spPr>
        <p:txBody>
          <a:bodyPr wrap="square" rtlCol="0">
            <a:spAutoFit/>
          </a:bodyPr>
          <a:lstStyle/>
          <a:p>
            <a:r>
              <a:rPr lang="en-IN" dirty="0"/>
              <a:t>Connects brain and PNS</a:t>
            </a:r>
          </a:p>
        </p:txBody>
      </p:sp>
    </p:spTree>
    <p:extLst>
      <p:ext uri="{BB962C8B-B14F-4D97-AF65-F5344CB8AC3E}">
        <p14:creationId xmlns:p14="http://schemas.microsoft.com/office/powerpoint/2010/main" val="299142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3" grpId="0"/>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12257320-5DE6-26E3-1972-6CDE6F2311C1}"/>
              </a:ext>
            </a:extLst>
          </p:cNvPr>
          <p:cNvGraphicFramePr/>
          <p:nvPr>
            <p:extLst>
              <p:ext uri="{D42A27DB-BD31-4B8C-83A1-F6EECF244321}">
                <p14:modId xmlns:p14="http://schemas.microsoft.com/office/powerpoint/2010/main" val="2499208209"/>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D7DAB7A-4687-A92F-90DB-25C525A0F74C}"/>
              </a:ext>
            </a:extLst>
          </p:cNvPr>
          <p:cNvSpPr>
            <a:spLocks noGrp="1"/>
          </p:cNvSpPr>
          <p:nvPr>
            <p:ph idx="1"/>
          </p:nvPr>
        </p:nvSpPr>
        <p:spPr>
          <a:xfrm>
            <a:off x="838200" y="1825625"/>
            <a:ext cx="6291943" cy="4351338"/>
          </a:xfrm>
        </p:spPr>
        <p:txBody>
          <a:bodyPr>
            <a:normAutofit fontScale="85000" lnSpcReduction="20000"/>
          </a:bodyPr>
          <a:lstStyle/>
          <a:p>
            <a:r>
              <a:rPr lang="en-IN" dirty="0"/>
              <a:t>Sensory nerves: </a:t>
            </a:r>
          </a:p>
          <a:p>
            <a:pPr>
              <a:buFont typeface="Wingdings" panose="05000000000000000000" pitchFamily="2" charset="2"/>
              <a:buChar char="Ø"/>
            </a:pPr>
            <a:r>
              <a:rPr lang="en-IN" dirty="0"/>
              <a:t>Transmit information about the external stimulation from the skin, muscles, and joints to the CNS</a:t>
            </a:r>
          </a:p>
          <a:p>
            <a:pPr>
              <a:buFont typeface="Wingdings" panose="05000000000000000000" pitchFamily="2" charset="2"/>
              <a:buChar char="Ø"/>
            </a:pPr>
            <a:r>
              <a:rPr lang="en-IN" dirty="0"/>
              <a:t>We become aware of pain, pressure, temperature variations</a:t>
            </a:r>
          </a:p>
          <a:p>
            <a:endParaRPr lang="en-IN" dirty="0"/>
          </a:p>
          <a:p>
            <a:r>
              <a:rPr lang="en-IN" dirty="0"/>
              <a:t>Motor nerves:</a:t>
            </a:r>
          </a:p>
          <a:p>
            <a:pPr>
              <a:buFont typeface="Wingdings" panose="05000000000000000000" pitchFamily="2" charset="2"/>
              <a:buChar char="Ø"/>
            </a:pPr>
            <a:r>
              <a:rPr lang="en-IN" dirty="0"/>
              <a:t>Carry impulses from the CNS to the muscles, where they initiate action</a:t>
            </a:r>
          </a:p>
          <a:p>
            <a:pPr>
              <a:buFont typeface="Wingdings" panose="05000000000000000000" pitchFamily="2" charset="2"/>
              <a:buChar char="Ø"/>
            </a:pPr>
            <a:r>
              <a:rPr lang="en-IN" dirty="0"/>
              <a:t>Control all muscles we use in voluntary movements as well as involuntary adjustments in posture and balance</a:t>
            </a:r>
          </a:p>
        </p:txBody>
      </p:sp>
      <p:pic>
        <p:nvPicPr>
          <p:cNvPr id="4" name="Picture 3">
            <a:extLst>
              <a:ext uri="{FF2B5EF4-FFF2-40B4-BE49-F238E27FC236}">
                <a16:creationId xmlns:a16="http://schemas.microsoft.com/office/drawing/2014/main" id="{1DA31DD1-C34A-2134-DAEB-D90E38B41F85}"/>
              </a:ext>
            </a:extLst>
          </p:cNvPr>
          <p:cNvPicPr>
            <a:picLocks noChangeAspect="1"/>
          </p:cNvPicPr>
          <p:nvPr/>
        </p:nvPicPr>
        <p:blipFill>
          <a:blip r:embed="rId7"/>
          <a:srcRect r="36089"/>
          <a:stretch/>
        </p:blipFill>
        <p:spPr>
          <a:xfrm>
            <a:off x="7308391" y="1698459"/>
            <a:ext cx="4132489" cy="3994378"/>
          </a:xfrm>
          <a:prstGeom prst="rect">
            <a:avLst/>
          </a:prstGeom>
        </p:spPr>
      </p:pic>
      <p:sp>
        <p:nvSpPr>
          <p:cNvPr id="5" name="TextBox 4">
            <a:extLst>
              <a:ext uri="{FF2B5EF4-FFF2-40B4-BE49-F238E27FC236}">
                <a16:creationId xmlns:a16="http://schemas.microsoft.com/office/drawing/2014/main" id="{5BEA3FEE-B0A9-4FF4-77D0-A7072227B28D}"/>
              </a:ext>
            </a:extLst>
          </p:cNvPr>
          <p:cNvSpPr txBox="1"/>
          <p:nvPr/>
        </p:nvSpPr>
        <p:spPr>
          <a:xfrm>
            <a:off x="8556171" y="5807631"/>
            <a:ext cx="1532792" cy="369332"/>
          </a:xfrm>
          <a:prstGeom prst="rect">
            <a:avLst/>
          </a:prstGeom>
          <a:noFill/>
        </p:spPr>
        <p:txBody>
          <a:bodyPr wrap="none" rtlCol="0">
            <a:spAutoFit/>
          </a:bodyPr>
          <a:lstStyle/>
          <a:p>
            <a:r>
              <a:rPr lang="en-IN" dirty="0"/>
              <a:t>Mentis (2013)</a:t>
            </a:r>
          </a:p>
        </p:txBody>
      </p:sp>
    </p:spTree>
    <p:extLst>
      <p:ext uri="{BB962C8B-B14F-4D97-AF65-F5344CB8AC3E}">
        <p14:creationId xmlns:p14="http://schemas.microsoft.com/office/powerpoint/2010/main" val="460089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C84C-23B4-1471-E3B0-F155DF7B8E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AE0C0A-4995-A7E9-D4EB-F16DFF9249D8}"/>
              </a:ext>
            </a:extLst>
          </p:cNvPr>
          <p:cNvSpPr>
            <a:spLocks noGrp="1"/>
          </p:cNvSpPr>
          <p:nvPr>
            <p:ph idx="1"/>
          </p:nvPr>
        </p:nvSpPr>
        <p:spPr/>
        <p:txBody>
          <a:bodyPr/>
          <a:lstStyle/>
          <a:p>
            <a:endParaRPr lang="en-IN" dirty="0"/>
          </a:p>
        </p:txBody>
      </p:sp>
      <p:pic>
        <p:nvPicPr>
          <p:cNvPr id="2050" name="Picture 2">
            <a:extLst>
              <a:ext uri="{FF2B5EF4-FFF2-40B4-BE49-F238E27FC236}">
                <a16:creationId xmlns:a16="http://schemas.microsoft.com/office/drawing/2014/main" id="{0F53933B-F650-5435-6108-B1727FA71C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931"/>
          <a:stretch/>
        </p:blipFill>
        <p:spPr bwMode="auto">
          <a:xfrm>
            <a:off x="-1" y="0"/>
            <a:ext cx="12192001" cy="6875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170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3D84A-E469-0985-D8DD-87486007B5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E31EE0-D60C-251D-95BA-84033CD846C2}"/>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E00B7653-EC5D-BA4A-5E0D-0D1EA52D32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931"/>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486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61A6D-8DD2-1F17-5702-BA5CBE9396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8A2471-EA7C-D3EB-EA2C-BC138FA9E17C}"/>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DB6D1472-FDE0-3303-265A-76EE4E7FC2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921"/>
          <a:stretch/>
        </p:blipFill>
        <p:spPr bwMode="auto">
          <a:xfrm>
            <a:off x="0" y="-27894"/>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D433229-E60F-3D3B-2579-58265708BFA6}"/>
              </a:ext>
            </a:extLst>
          </p:cNvPr>
          <p:cNvSpPr txBox="1"/>
          <p:nvPr/>
        </p:nvSpPr>
        <p:spPr>
          <a:xfrm>
            <a:off x="141516" y="5665569"/>
            <a:ext cx="2982684" cy="923330"/>
          </a:xfrm>
          <a:prstGeom prst="rect">
            <a:avLst/>
          </a:prstGeom>
          <a:solidFill>
            <a:schemeClr val="accent1">
              <a:lumMod val="20000"/>
              <a:lumOff val="80000"/>
            </a:schemeClr>
          </a:solidFill>
        </p:spPr>
        <p:txBody>
          <a:bodyPr wrap="square" rtlCol="0">
            <a:spAutoFit/>
          </a:bodyPr>
          <a:lstStyle/>
          <a:p>
            <a:r>
              <a:rPr lang="en-IN" dirty="0"/>
              <a:t>Resting potential: -70millivolts</a:t>
            </a:r>
          </a:p>
          <a:p>
            <a:r>
              <a:rPr lang="en-IN" dirty="0"/>
              <a:t>Excitation threshold: -55 mV</a:t>
            </a:r>
          </a:p>
        </p:txBody>
      </p:sp>
      <p:sp>
        <p:nvSpPr>
          <p:cNvPr id="5" name="TextBox 4">
            <a:extLst>
              <a:ext uri="{FF2B5EF4-FFF2-40B4-BE49-F238E27FC236}">
                <a16:creationId xmlns:a16="http://schemas.microsoft.com/office/drawing/2014/main" id="{E606232C-9CD7-E1DA-26F5-C083CF512210}"/>
              </a:ext>
            </a:extLst>
          </p:cNvPr>
          <p:cNvSpPr txBox="1"/>
          <p:nvPr/>
        </p:nvSpPr>
        <p:spPr>
          <a:xfrm>
            <a:off x="9165711" y="5880269"/>
            <a:ext cx="2653675" cy="369332"/>
          </a:xfrm>
          <a:prstGeom prst="rect">
            <a:avLst/>
          </a:prstGeom>
          <a:solidFill>
            <a:schemeClr val="accent1">
              <a:lumMod val="20000"/>
              <a:lumOff val="80000"/>
            </a:schemeClr>
          </a:solidFill>
        </p:spPr>
        <p:txBody>
          <a:bodyPr wrap="none" rtlCol="0">
            <a:spAutoFit/>
          </a:bodyPr>
          <a:lstStyle/>
          <a:p>
            <a:r>
              <a:rPr lang="en-IN" dirty="0"/>
              <a:t>Inside goes up to +40 mV</a:t>
            </a:r>
          </a:p>
        </p:txBody>
      </p:sp>
    </p:spTree>
    <p:extLst>
      <p:ext uri="{BB962C8B-B14F-4D97-AF65-F5344CB8AC3E}">
        <p14:creationId xmlns:p14="http://schemas.microsoft.com/office/powerpoint/2010/main" val="2476451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FF75F-4C90-4CF2-E16B-36BD00D083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48DE00-0AC8-B222-FD1D-3636A09AD19A}"/>
              </a:ext>
            </a:extLst>
          </p:cNvPr>
          <p:cNvSpPr>
            <a:spLocks noGrp="1"/>
          </p:cNvSpPr>
          <p:nvPr>
            <p:ph idx="1"/>
          </p:nvPr>
        </p:nvSpPr>
        <p:spPr>
          <a:xfrm>
            <a:off x="838200" y="1825625"/>
            <a:ext cx="6215743" cy="4667250"/>
          </a:xfrm>
        </p:spPr>
        <p:txBody>
          <a:bodyPr>
            <a:normAutofit fontScale="77500" lnSpcReduction="20000"/>
          </a:bodyPr>
          <a:lstStyle/>
          <a:p>
            <a:r>
              <a:rPr lang="en-IN" dirty="0"/>
              <a:t>Why does the action potential travel in only one direction?- due to a </a:t>
            </a:r>
            <a:r>
              <a:rPr lang="en-IN" b="1" dirty="0">
                <a:solidFill>
                  <a:schemeClr val="accent4"/>
                </a:solidFill>
              </a:rPr>
              <a:t>refractory period</a:t>
            </a:r>
            <a:r>
              <a:rPr lang="en-IN" dirty="0"/>
              <a:t>- after it had generated a “spike” the membrane cannot do so again for about a millisecond.</a:t>
            </a:r>
          </a:p>
          <a:p>
            <a:r>
              <a:rPr lang="en-IN" dirty="0"/>
              <a:t>Speed: 1- 120 meters/ second – affected by cover of myelin sheath</a:t>
            </a:r>
          </a:p>
          <a:p>
            <a:endParaRPr lang="en-IN" dirty="0"/>
          </a:p>
          <a:p>
            <a:r>
              <a:rPr lang="en-IN" dirty="0"/>
              <a:t>The myelin sheath is particularly prevalent where rapid transmission of the action potential is critical- e.g. – long axons that stimulate skeletal muscles</a:t>
            </a:r>
          </a:p>
          <a:p>
            <a:r>
              <a:rPr lang="en-IN" dirty="0"/>
              <a:t>In multiple sclerosis , a disorder in which symptoms first become evident between the ages of 16-30, the immune system attacks and destroys body’s  own myelin sheaths, - resulting – in severe motor nerve dysfunction </a:t>
            </a:r>
          </a:p>
        </p:txBody>
      </p:sp>
      <p:pic>
        <p:nvPicPr>
          <p:cNvPr id="4" name="Picture 3">
            <a:extLst>
              <a:ext uri="{FF2B5EF4-FFF2-40B4-BE49-F238E27FC236}">
                <a16:creationId xmlns:a16="http://schemas.microsoft.com/office/drawing/2014/main" id="{7790E082-639C-339F-BCA8-3FEB280B3245}"/>
              </a:ext>
            </a:extLst>
          </p:cNvPr>
          <p:cNvPicPr>
            <a:picLocks noChangeAspect="1"/>
          </p:cNvPicPr>
          <p:nvPr/>
        </p:nvPicPr>
        <p:blipFill>
          <a:blip r:embed="rId2"/>
          <a:stretch>
            <a:fillRect/>
          </a:stretch>
        </p:blipFill>
        <p:spPr>
          <a:xfrm>
            <a:off x="7206343" y="286090"/>
            <a:ext cx="4782427" cy="6285820"/>
          </a:xfrm>
          <a:prstGeom prst="rect">
            <a:avLst/>
          </a:prstGeom>
        </p:spPr>
      </p:pic>
    </p:spTree>
    <p:extLst>
      <p:ext uri="{BB962C8B-B14F-4D97-AF65-F5344CB8AC3E}">
        <p14:creationId xmlns:p14="http://schemas.microsoft.com/office/powerpoint/2010/main" val="2803789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54799A7-7EFC-585A-B65F-6F65D92527B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0B903A9-B715-9046-99B2-D94717EFC25A}"/>
              </a:ext>
            </a:extLst>
          </p:cNvPr>
          <p:cNvPicPr>
            <a:picLocks noChangeAspect="1"/>
          </p:cNvPicPr>
          <p:nvPr/>
        </p:nvPicPr>
        <p:blipFill>
          <a:blip r:embed="rId2"/>
          <a:srcRect b="9931"/>
          <a:stretch/>
        </p:blipFill>
        <p:spPr>
          <a:xfrm>
            <a:off x="-1" y="0"/>
            <a:ext cx="12191601" cy="6887364"/>
          </a:xfrm>
          <a:prstGeom prst="rect">
            <a:avLst/>
          </a:prstGeom>
        </p:spPr>
      </p:pic>
    </p:spTree>
    <p:extLst>
      <p:ext uri="{BB962C8B-B14F-4D97-AF65-F5344CB8AC3E}">
        <p14:creationId xmlns:p14="http://schemas.microsoft.com/office/powerpoint/2010/main" val="3520374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DD898-8934-CB32-C138-9B206E98E4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268FCA-4DA9-6022-0C94-DCF0931AF5D6}"/>
              </a:ext>
            </a:extLst>
          </p:cNvPr>
          <p:cNvSpPr>
            <a:spLocks noGrp="1"/>
          </p:cNvSpPr>
          <p:nvPr>
            <p:ph idx="1"/>
          </p:nvPr>
        </p:nvSpPr>
        <p:spPr/>
        <p:txBody>
          <a:bodyPr/>
          <a:lstStyle/>
          <a:p>
            <a:r>
              <a:rPr lang="en-IN" dirty="0"/>
              <a:t>Another way- involving a greater population of neurons in the response</a:t>
            </a:r>
          </a:p>
          <a:p>
            <a:r>
              <a:rPr lang="en-IN" dirty="0"/>
              <a:t>Population coding can be powerful- synchronization (or lack of it) in response to the individual neurons often contains meaning as well. </a:t>
            </a:r>
          </a:p>
          <a:p>
            <a:r>
              <a:rPr lang="en-IN" dirty="0"/>
              <a:t>What becomes important therefore is the connections between the individual neurons. </a:t>
            </a:r>
          </a:p>
        </p:txBody>
      </p:sp>
    </p:spTree>
    <p:extLst>
      <p:ext uri="{BB962C8B-B14F-4D97-AF65-F5344CB8AC3E}">
        <p14:creationId xmlns:p14="http://schemas.microsoft.com/office/powerpoint/2010/main" val="2366000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9090C-1BE3-7203-71F5-D4C86E2D99D1}"/>
              </a:ext>
            </a:extLst>
          </p:cNvPr>
          <p:cNvSpPr>
            <a:spLocks noGrp="1"/>
          </p:cNvSpPr>
          <p:nvPr>
            <p:ph type="title"/>
          </p:nvPr>
        </p:nvSpPr>
        <p:spPr/>
        <p:txBody>
          <a:bodyPr/>
          <a:lstStyle/>
          <a:p>
            <a:r>
              <a:rPr lang="en-IN" dirty="0"/>
              <a:t>Synaptic Transmission</a:t>
            </a:r>
          </a:p>
        </p:txBody>
      </p:sp>
      <p:pic>
        <p:nvPicPr>
          <p:cNvPr id="4" name="Content Placeholder 3">
            <a:extLst>
              <a:ext uri="{FF2B5EF4-FFF2-40B4-BE49-F238E27FC236}">
                <a16:creationId xmlns:a16="http://schemas.microsoft.com/office/drawing/2014/main" id="{07F79F95-2314-CD51-E4F8-8F04ACDBBD83}"/>
              </a:ext>
            </a:extLst>
          </p:cNvPr>
          <p:cNvPicPr>
            <a:picLocks noGrp="1" noChangeAspect="1"/>
          </p:cNvPicPr>
          <p:nvPr>
            <p:ph idx="1"/>
          </p:nvPr>
        </p:nvPicPr>
        <p:blipFill>
          <a:blip r:embed="rId2"/>
          <a:stretch>
            <a:fillRect/>
          </a:stretch>
        </p:blipFill>
        <p:spPr>
          <a:xfrm>
            <a:off x="1930197" y="1905000"/>
            <a:ext cx="8179206" cy="4794477"/>
          </a:xfrm>
          <a:prstGeom prst="rect">
            <a:avLst/>
          </a:prstGeom>
        </p:spPr>
      </p:pic>
      <p:sp>
        <p:nvSpPr>
          <p:cNvPr id="5" name="TextBox 4">
            <a:extLst>
              <a:ext uri="{FF2B5EF4-FFF2-40B4-BE49-F238E27FC236}">
                <a16:creationId xmlns:a16="http://schemas.microsoft.com/office/drawing/2014/main" id="{E57CE59E-FACD-AAD1-8CBF-2D99053E774F}"/>
              </a:ext>
            </a:extLst>
          </p:cNvPr>
          <p:cNvSpPr txBox="1"/>
          <p:nvPr/>
        </p:nvSpPr>
        <p:spPr>
          <a:xfrm>
            <a:off x="7189404" y="446314"/>
            <a:ext cx="4894225" cy="923330"/>
          </a:xfrm>
          <a:prstGeom prst="rect">
            <a:avLst/>
          </a:prstGeom>
          <a:solidFill>
            <a:schemeClr val="accent2">
              <a:lumMod val="20000"/>
              <a:lumOff val="80000"/>
            </a:schemeClr>
          </a:solidFill>
        </p:spPr>
        <p:txBody>
          <a:bodyPr wrap="none" rtlCol="0">
            <a:spAutoFit/>
          </a:bodyPr>
          <a:lstStyle/>
          <a:p>
            <a:r>
              <a:rPr lang="en-IN" dirty="0"/>
              <a:t>Action must be brief to maintain precise control</a:t>
            </a:r>
          </a:p>
          <a:p>
            <a:pPr marL="342900" indent="-342900">
              <a:buAutoNum type="arabicPeriod"/>
            </a:pPr>
            <a:r>
              <a:rPr lang="en-IN" dirty="0"/>
              <a:t>Reuptake</a:t>
            </a:r>
          </a:p>
          <a:p>
            <a:pPr marL="342900" indent="-342900">
              <a:buAutoNum type="arabicPeriod"/>
            </a:pPr>
            <a:r>
              <a:rPr lang="en-IN" dirty="0"/>
              <a:t>Degradation</a:t>
            </a:r>
          </a:p>
        </p:txBody>
      </p:sp>
    </p:spTree>
    <p:extLst>
      <p:ext uri="{BB962C8B-B14F-4D97-AF65-F5344CB8AC3E}">
        <p14:creationId xmlns:p14="http://schemas.microsoft.com/office/powerpoint/2010/main" val="18788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E971-5845-264D-523D-FD4293BA5CA6}"/>
              </a:ext>
            </a:extLst>
          </p:cNvPr>
          <p:cNvSpPr>
            <a:spLocks noGrp="1"/>
          </p:cNvSpPr>
          <p:nvPr>
            <p:ph type="title"/>
          </p:nvPr>
        </p:nvSpPr>
        <p:spPr/>
        <p:txBody>
          <a:bodyPr/>
          <a:lstStyle/>
          <a:p>
            <a:r>
              <a:rPr lang="en-IN" dirty="0"/>
              <a:t>2 types of effects</a:t>
            </a:r>
          </a:p>
        </p:txBody>
      </p:sp>
      <p:sp>
        <p:nvSpPr>
          <p:cNvPr id="3" name="Content Placeholder 2">
            <a:extLst>
              <a:ext uri="{FF2B5EF4-FFF2-40B4-BE49-F238E27FC236}">
                <a16:creationId xmlns:a16="http://schemas.microsoft.com/office/drawing/2014/main" id="{285E0463-5B44-05E2-355F-8CC0FF15DD99}"/>
              </a:ext>
            </a:extLst>
          </p:cNvPr>
          <p:cNvSpPr>
            <a:spLocks noGrp="1"/>
          </p:cNvSpPr>
          <p:nvPr>
            <p:ph idx="1"/>
          </p:nvPr>
        </p:nvSpPr>
        <p:spPr/>
        <p:txBody>
          <a:bodyPr>
            <a:normAutofit lnSpcReduction="10000"/>
          </a:bodyPr>
          <a:lstStyle/>
          <a:p>
            <a:r>
              <a:rPr lang="en-IN" b="1" dirty="0">
                <a:solidFill>
                  <a:schemeClr val="tx2">
                    <a:lumMod val="50000"/>
                    <a:lumOff val="50000"/>
                  </a:schemeClr>
                </a:solidFill>
              </a:rPr>
              <a:t>Excitatory effect:</a:t>
            </a:r>
            <a:r>
              <a:rPr lang="en-IN" dirty="0"/>
              <a:t> allows positively charged ions (such as Na+) to enter the post synaptic neuron – resulting in depolarization of the neuron. </a:t>
            </a:r>
          </a:p>
          <a:p>
            <a:pPr marL="0" indent="0">
              <a:buNone/>
            </a:pPr>
            <a:r>
              <a:rPr lang="en-IN" dirty="0"/>
              <a:t>-This makes the post synaptic neuron more likely to reach its excitatory threshold and thus more likely to generate an action potential.</a:t>
            </a:r>
          </a:p>
          <a:p>
            <a:r>
              <a:rPr lang="en-IN" b="1" dirty="0">
                <a:solidFill>
                  <a:schemeClr val="tx2">
                    <a:lumMod val="50000"/>
                    <a:lumOff val="50000"/>
                  </a:schemeClr>
                </a:solidFill>
              </a:rPr>
              <a:t>Inhibitory effect:</a:t>
            </a:r>
            <a:r>
              <a:rPr lang="en-IN" dirty="0"/>
              <a:t> positively charged ions (K+) leave the neuron or a negatively charged ions (Cl-)enter – making the inside more negatively charged than before. </a:t>
            </a:r>
          </a:p>
          <a:p>
            <a:pPr marL="0" indent="0">
              <a:buNone/>
            </a:pPr>
            <a:r>
              <a:rPr lang="en-IN" dirty="0"/>
              <a:t>- Consequently less likely to reach the excitatory threshold and therefore less likely to generate an action potential</a:t>
            </a:r>
          </a:p>
        </p:txBody>
      </p:sp>
    </p:spTree>
    <p:extLst>
      <p:ext uri="{BB962C8B-B14F-4D97-AF65-F5344CB8AC3E}">
        <p14:creationId xmlns:p14="http://schemas.microsoft.com/office/powerpoint/2010/main" val="449944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B92C4-083B-0750-8C16-4D5CCE174AD1}"/>
              </a:ext>
            </a:extLst>
          </p:cNvPr>
          <p:cNvSpPr>
            <a:spLocks noGrp="1"/>
          </p:cNvSpPr>
          <p:nvPr>
            <p:ph type="title"/>
          </p:nvPr>
        </p:nvSpPr>
        <p:spPr>
          <a:xfrm>
            <a:off x="793662" y="386930"/>
            <a:ext cx="10066122" cy="1298448"/>
          </a:xfrm>
        </p:spPr>
        <p:txBody>
          <a:bodyPr anchor="b">
            <a:normAutofit/>
          </a:bodyPr>
          <a:lstStyle/>
          <a:p>
            <a:r>
              <a:rPr lang="en-IN" sz="4800" dirty="0"/>
              <a:t>Neurotransmitters : Acetylcholine</a:t>
            </a:r>
          </a:p>
        </p:txBody>
      </p:sp>
      <p:sp>
        <p:nvSpPr>
          <p:cNvPr id="3" name="Content Placeholder 2">
            <a:extLst>
              <a:ext uri="{FF2B5EF4-FFF2-40B4-BE49-F238E27FC236}">
                <a16:creationId xmlns:a16="http://schemas.microsoft.com/office/drawing/2014/main" id="{FB52FFD9-5CAA-F606-4FF9-54AA591BE8F7}"/>
              </a:ext>
            </a:extLst>
          </p:cNvPr>
          <p:cNvSpPr>
            <a:spLocks noGrp="1"/>
          </p:cNvSpPr>
          <p:nvPr>
            <p:ph idx="1"/>
          </p:nvPr>
        </p:nvSpPr>
        <p:spPr>
          <a:xfrm>
            <a:off x="924289" y="2046514"/>
            <a:ext cx="5759539" cy="4214216"/>
          </a:xfrm>
        </p:spPr>
        <p:txBody>
          <a:bodyPr anchor="ctr">
            <a:normAutofit/>
          </a:bodyPr>
          <a:lstStyle/>
          <a:p>
            <a:r>
              <a:rPr lang="en-IN" sz="1700" dirty="0"/>
              <a:t>Present at many synapses throughout the nervous system</a:t>
            </a:r>
          </a:p>
          <a:p>
            <a:r>
              <a:rPr lang="en-IN" sz="1700" dirty="0"/>
              <a:t>Usually excitatory, sometime inhibitory – depending on the type of receptor molecule in the membrane of the receiving neuron.</a:t>
            </a:r>
          </a:p>
          <a:p>
            <a:r>
              <a:rPr lang="en-IN" sz="1700" dirty="0"/>
              <a:t>High concentration: Forebrain- hippocampus – plays a key role in the formation of new memories (Eichenbaum, 2000). </a:t>
            </a:r>
          </a:p>
          <a:p>
            <a:r>
              <a:rPr lang="en-IN" sz="1700" dirty="0"/>
              <a:t>Related to Alzheimer's disease- a memory disorder. – neurons in the forebrain that produce acetylcholine degenerate in Alzheimer’s patients. </a:t>
            </a:r>
          </a:p>
          <a:p>
            <a:r>
              <a:rPr lang="en-IN" sz="1700" dirty="0"/>
              <a:t>The less acetylcholine is produced the more is the memory loss. </a:t>
            </a:r>
          </a:p>
        </p:txBody>
      </p:sp>
      <p:pic>
        <p:nvPicPr>
          <p:cNvPr id="4" name="Picture 3" descr="A blackboard with white text and chemical formulas&#10;&#10;AI-generated content may be incorrect.">
            <a:extLst>
              <a:ext uri="{FF2B5EF4-FFF2-40B4-BE49-F238E27FC236}">
                <a16:creationId xmlns:a16="http://schemas.microsoft.com/office/drawing/2014/main" id="{94845C75-FA45-DAAC-C84B-AA3576374CBE}"/>
              </a:ext>
            </a:extLst>
          </p:cNvPr>
          <p:cNvPicPr>
            <a:picLocks noChangeAspect="1"/>
          </p:cNvPicPr>
          <p:nvPr/>
        </p:nvPicPr>
        <p:blipFill>
          <a:blip r:embed="rId2"/>
          <a:stretch>
            <a:fillRect/>
          </a:stretch>
        </p:blipFill>
        <p:spPr>
          <a:xfrm>
            <a:off x="7336972" y="2184678"/>
            <a:ext cx="3779266" cy="2898254"/>
          </a:xfrm>
          <a:prstGeom prst="rect">
            <a:avLst/>
          </a:prstGeom>
        </p:spPr>
      </p:pic>
    </p:spTree>
    <p:extLst>
      <p:ext uri="{BB962C8B-B14F-4D97-AF65-F5344CB8AC3E}">
        <p14:creationId xmlns:p14="http://schemas.microsoft.com/office/powerpoint/2010/main" val="2864430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B5D548-6033-13AF-572E-E7E0D448F5B4}"/>
              </a:ext>
            </a:extLst>
          </p:cNvPr>
          <p:cNvSpPr>
            <a:spLocks noGrp="1"/>
          </p:cNvSpPr>
          <p:nvPr>
            <p:ph type="title"/>
          </p:nvPr>
        </p:nvSpPr>
        <p:spPr>
          <a:xfrm>
            <a:off x="572493" y="238539"/>
            <a:ext cx="11018520" cy="1434415"/>
          </a:xfrm>
        </p:spPr>
        <p:txBody>
          <a:bodyPr anchor="b">
            <a:normAutofit/>
          </a:bodyPr>
          <a:lstStyle/>
          <a:p>
            <a:r>
              <a:rPr lang="en-IN" sz="5400"/>
              <a:t>Acetylcholine</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05493B-EBCF-CBCE-EB64-977E9B4939D3}"/>
              </a:ext>
            </a:extLst>
          </p:cNvPr>
          <p:cNvSpPr>
            <a:spLocks noGrp="1"/>
          </p:cNvSpPr>
          <p:nvPr>
            <p:ph idx="1"/>
          </p:nvPr>
        </p:nvSpPr>
        <p:spPr>
          <a:xfrm>
            <a:off x="572493" y="2071316"/>
            <a:ext cx="6713552" cy="4119172"/>
          </a:xfrm>
        </p:spPr>
        <p:txBody>
          <a:bodyPr anchor="t">
            <a:normAutofit/>
          </a:bodyPr>
          <a:lstStyle/>
          <a:p>
            <a:r>
              <a:rPr lang="en-IN" sz="2000"/>
              <a:t>Released at every synapse between a motor neuron and a skeletal muscle fibre- causing muscle contraction</a:t>
            </a:r>
          </a:p>
          <a:p>
            <a:endParaRPr lang="en-IN" sz="2000"/>
          </a:p>
          <a:p>
            <a:r>
              <a:rPr lang="en-IN" sz="2000"/>
              <a:t>Drugs can affect acetylcholine and produce muscle paralysis</a:t>
            </a:r>
          </a:p>
          <a:p>
            <a:pPr>
              <a:buFontTx/>
              <a:buChar char="-"/>
            </a:pPr>
            <a:r>
              <a:rPr lang="en-IN" sz="2000"/>
              <a:t>Botulinum toxin: bacteria from improperly canned foods blocks release of acetylcholine and causes death by paralysis then muscles used in breathing</a:t>
            </a:r>
          </a:p>
          <a:p>
            <a:pPr>
              <a:buFontTx/>
              <a:buChar char="-"/>
            </a:pPr>
            <a:r>
              <a:rPr lang="en-IN" sz="2000"/>
              <a:t>Nerve gases and many pesticides: cause paralysis by destroying the engyme that degrade acetylcholine- causing uncontrolled buidup and normal synaptic transmission is impossible</a:t>
            </a:r>
          </a:p>
        </p:txBody>
      </p:sp>
      <p:pic>
        <p:nvPicPr>
          <p:cNvPr id="4" name="Picture 3">
            <a:extLst>
              <a:ext uri="{FF2B5EF4-FFF2-40B4-BE49-F238E27FC236}">
                <a16:creationId xmlns:a16="http://schemas.microsoft.com/office/drawing/2014/main" id="{A8788090-7E60-9D42-A5C9-2934558F5A7C}"/>
              </a:ext>
            </a:extLst>
          </p:cNvPr>
          <p:cNvPicPr>
            <a:picLocks noChangeAspect="1"/>
          </p:cNvPicPr>
          <p:nvPr/>
        </p:nvPicPr>
        <p:blipFill>
          <a:blip r:embed="rId2"/>
          <a:srcRect l="3365" r="2" b="2"/>
          <a:stretch/>
        </p:blipFill>
        <p:spPr>
          <a:xfrm>
            <a:off x="7675658" y="2093976"/>
            <a:ext cx="3941064" cy="4096512"/>
          </a:xfrm>
          <a:prstGeom prst="rect">
            <a:avLst/>
          </a:prstGeom>
        </p:spPr>
      </p:pic>
    </p:spTree>
    <p:extLst>
      <p:ext uri="{BB962C8B-B14F-4D97-AF65-F5344CB8AC3E}">
        <p14:creationId xmlns:p14="http://schemas.microsoft.com/office/powerpoint/2010/main" val="202786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F790D1-93A3-009D-0496-E891E2F8ADAD}"/>
              </a:ext>
            </a:extLst>
          </p:cNvPr>
          <p:cNvSpPr>
            <a:spLocks noGrp="1"/>
          </p:cNvSpPr>
          <p:nvPr>
            <p:ph type="title"/>
          </p:nvPr>
        </p:nvSpPr>
        <p:spPr>
          <a:xfrm>
            <a:off x="645065" y="1463040"/>
            <a:ext cx="3796306" cy="2690949"/>
          </a:xfrm>
        </p:spPr>
        <p:txBody>
          <a:bodyPr anchor="t">
            <a:normAutofit/>
          </a:bodyPr>
          <a:lstStyle/>
          <a:p>
            <a:r>
              <a:rPr lang="en-IN" dirty="0"/>
              <a:t>Norepinephrine</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62EC9C-D574-E635-2D0B-86D2DF9437EB}"/>
              </a:ext>
            </a:extLst>
          </p:cNvPr>
          <p:cNvSpPr>
            <a:spLocks noGrp="1"/>
          </p:cNvSpPr>
          <p:nvPr>
            <p:ph idx="1"/>
          </p:nvPr>
        </p:nvSpPr>
        <p:spPr>
          <a:xfrm>
            <a:off x="5656218" y="1463039"/>
            <a:ext cx="5542387" cy="4300447"/>
          </a:xfrm>
        </p:spPr>
        <p:txBody>
          <a:bodyPr anchor="t">
            <a:normAutofit/>
          </a:bodyPr>
          <a:lstStyle/>
          <a:p>
            <a:r>
              <a:rPr lang="en-IN" sz="2000" dirty="0"/>
              <a:t>Noradrenaline</a:t>
            </a:r>
          </a:p>
          <a:p>
            <a:r>
              <a:rPr lang="en-IN" sz="2000" dirty="0"/>
              <a:t>Produced by neuron of the brain stem </a:t>
            </a:r>
          </a:p>
          <a:p>
            <a:r>
              <a:rPr lang="en-IN" sz="2000" b="1" dirty="0">
                <a:solidFill>
                  <a:schemeClr val="accent4"/>
                </a:solidFill>
              </a:rPr>
              <a:t>Alertness and arousal</a:t>
            </a:r>
          </a:p>
          <a:p>
            <a:r>
              <a:rPr lang="en-IN" sz="2000" dirty="0"/>
              <a:t>Any drug that causes an increase or decrease in this neurotransmitter is correlated with increase or decrease in the individual’s mood level</a:t>
            </a:r>
          </a:p>
          <a:p>
            <a:r>
              <a:rPr lang="en-IN" sz="2000" dirty="0"/>
              <a:t>Cocaine and amphetamines prolong the action norepinephrine by slowing its reuptake – receiving neurons activated for a longer time</a:t>
            </a:r>
          </a:p>
          <a:p>
            <a:r>
              <a:rPr lang="en-IN" sz="2000" dirty="0"/>
              <a:t>Lithium speeds up reuptake – causing mood to be depressed</a:t>
            </a:r>
          </a:p>
          <a:p>
            <a:endParaRPr lang="en-IN" sz="2000" dirty="0"/>
          </a:p>
        </p:txBody>
      </p:sp>
    </p:spTree>
    <p:extLst>
      <p:ext uri="{BB962C8B-B14F-4D97-AF65-F5344CB8AC3E}">
        <p14:creationId xmlns:p14="http://schemas.microsoft.com/office/powerpoint/2010/main" val="1888708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CC04A1-5AE9-C120-B2B4-64EC8DC46C66}"/>
              </a:ext>
            </a:extLst>
          </p:cNvPr>
          <p:cNvSpPr>
            <a:spLocks noGrp="1"/>
          </p:cNvSpPr>
          <p:nvPr>
            <p:ph type="title"/>
          </p:nvPr>
        </p:nvSpPr>
        <p:spPr>
          <a:xfrm>
            <a:off x="1137033" y="670559"/>
            <a:ext cx="4683321" cy="2148841"/>
          </a:xfrm>
        </p:spPr>
        <p:txBody>
          <a:bodyPr anchor="t">
            <a:normAutofit/>
          </a:bodyPr>
          <a:lstStyle/>
          <a:p>
            <a:r>
              <a:rPr lang="en-IN"/>
              <a:t>Dopamine</a:t>
            </a:r>
          </a:p>
        </p:txBody>
      </p:sp>
      <p:pic>
        <p:nvPicPr>
          <p:cNvPr id="5" name="Picture 4" descr="Chemical formulas are written on paper">
            <a:extLst>
              <a:ext uri="{FF2B5EF4-FFF2-40B4-BE49-F238E27FC236}">
                <a16:creationId xmlns:a16="http://schemas.microsoft.com/office/drawing/2014/main" id="{2C7A486B-C197-2AD9-CBAB-A2C2C9F06AA2}"/>
              </a:ext>
            </a:extLst>
          </p:cNvPr>
          <p:cNvPicPr>
            <a:picLocks noChangeAspect="1"/>
          </p:cNvPicPr>
          <p:nvPr/>
        </p:nvPicPr>
        <p:blipFill>
          <a:blip r:embed="rId2"/>
          <a:srcRect r="3345" b="-2"/>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Content Placeholder 2">
            <a:extLst>
              <a:ext uri="{FF2B5EF4-FFF2-40B4-BE49-F238E27FC236}">
                <a16:creationId xmlns:a16="http://schemas.microsoft.com/office/drawing/2014/main" id="{4B8FC665-5916-7057-AFC7-B534AB25BC85}"/>
              </a:ext>
            </a:extLst>
          </p:cNvPr>
          <p:cNvSpPr>
            <a:spLocks noGrp="1"/>
          </p:cNvSpPr>
          <p:nvPr>
            <p:ph idx="1"/>
          </p:nvPr>
        </p:nvSpPr>
        <p:spPr>
          <a:xfrm>
            <a:off x="6797004" y="670559"/>
            <a:ext cx="4555782" cy="5445076"/>
          </a:xfrm>
        </p:spPr>
        <p:txBody>
          <a:bodyPr anchor="t">
            <a:normAutofit lnSpcReduction="10000"/>
          </a:bodyPr>
          <a:lstStyle/>
          <a:p>
            <a:r>
              <a:rPr lang="en-IN" sz="2400" dirty="0"/>
              <a:t>Chemically similar to norepinephrine</a:t>
            </a:r>
          </a:p>
          <a:p>
            <a:r>
              <a:rPr lang="en-IN" sz="2400" dirty="0"/>
              <a:t>Regulates motivation and emotional pleasure (e.g. food and sex; goal attainment)</a:t>
            </a:r>
          </a:p>
          <a:p>
            <a:r>
              <a:rPr lang="en-IN" sz="2400" dirty="0"/>
              <a:t>Regulates incentive salience (Schultz, 2002) – how much we want something : e.g. food (Volko et al., 2012) </a:t>
            </a:r>
          </a:p>
          <a:p>
            <a:r>
              <a:rPr lang="en-IN" sz="2400" dirty="0"/>
              <a:t>Too much dopamine in some parts of the brain may cause schizophrenia (drug: clozapine or chlorpromazine)</a:t>
            </a:r>
          </a:p>
          <a:p>
            <a:r>
              <a:rPr lang="en-IN" sz="2400" dirty="0"/>
              <a:t>Too little in other parts causes- Parkinson’s disease (L-dopa)</a:t>
            </a:r>
          </a:p>
        </p:txBody>
      </p:sp>
    </p:spTree>
    <p:extLst>
      <p:ext uri="{BB962C8B-B14F-4D97-AF65-F5344CB8AC3E}">
        <p14:creationId xmlns:p14="http://schemas.microsoft.com/office/powerpoint/2010/main" val="3370287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DD9ED5-BB81-1AED-9E9A-04B05CE78102}"/>
              </a:ext>
            </a:extLst>
          </p:cNvPr>
          <p:cNvSpPr>
            <a:spLocks noGrp="1"/>
          </p:cNvSpPr>
          <p:nvPr>
            <p:ph type="title"/>
          </p:nvPr>
        </p:nvSpPr>
        <p:spPr>
          <a:xfrm>
            <a:off x="4553733" y="548465"/>
            <a:ext cx="6798541" cy="910222"/>
          </a:xfrm>
        </p:spPr>
        <p:txBody>
          <a:bodyPr anchor="b">
            <a:normAutofit/>
          </a:bodyPr>
          <a:lstStyle/>
          <a:p>
            <a:r>
              <a:rPr lang="en-IN" sz="4000" dirty="0"/>
              <a:t>Serotonin</a:t>
            </a:r>
          </a:p>
        </p:txBody>
      </p:sp>
      <p:pic>
        <p:nvPicPr>
          <p:cNvPr id="6" name="Picture 5">
            <a:extLst>
              <a:ext uri="{FF2B5EF4-FFF2-40B4-BE49-F238E27FC236}">
                <a16:creationId xmlns:a16="http://schemas.microsoft.com/office/drawing/2014/main" id="{DB3D9A21-6086-60B6-A614-A113F4B46C62}"/>
              </a:ext>
            </a:extLst>
          </p:cNvPr>
          <p:cNvPicPr>
            <a:picLocks noChangeAspect="1"/>
          </p:cNvPicPr>
          <p:nvPr/>
        </p:nvPicPr>
        <p:blipFill>
          <a:blip r:embed="rId2"/>
          <a:srcRect l="45492" r="15039" b="-1"/>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D9D42694-AFDB-4A70-2F68-D0C2847DA7BD}"/>
              </a:ext>
            </a:extLst>
          </p:cNvPr>
          <p:cNvGraphicFramePr>
            <a:graphicFrameLocks noGrp="1"/>
          </p:cNvGraphicFramePr>
          <p:nvPr>
            <p:ph idx="1"/>
            <p:extLst>
              <p:ext uri="{D42A27DB-BD31-4B8C-83A1-F6EECF244321}">
                <p14:modId xmlns:p14="http://schemas.microsoft.com/office/powerpoint/2010/main" val="341203024"/>
              </p:ext>
            </p:extLst>
          </p:nvPr>
        </p:nvGraphicFramePr>
        <p:xfrm>
          <a:off x="4553734" y="1763486"/>
          <a:ext cx="6798539" cy="48876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7368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6591AD-0E5A-B82C-89B8-108D67F298E2}"/>
              </a:ext>
            </a:extLst>
          </p:cNvPr>
          <p:cNvSpPr>
            <a:spLocks noGrp="1"/>
          </p:cNvSpPr>
          <p:nvPr>
            <p:ph type="title"/>
          </p:nvPr>
        </p:nvSpPr>
        <p:spPr>
          <a:xfrm>
            <a:off x="4553733" y="548464"/>
            <a:ext cx="6798541" cy="1118413"/>
          </a:xfrm>
        </p:spPr>
        <p:txBody>
          <a:bodyPr anchor="b">
            <a:normAutofit/>
          </a:bodyPr>
          <a:lstStyle/>
          <a:p>
            <a:r>
              <a:rPr lang="en-IN" sz="4000" dirty="0"/>
              <a:t>GABA </a:t>
            </a:r>
          </a:p>
        </p:txBody>
      </p:sp>
      <p:pic>
        <p:nvPicPr>
          <p:cNvPr id="6" name="Picture 5">
            <a:extLst>
              <a:ext uri="{FF2B5EF4-FFF2-40B4-BE49-F238E27FC236}">
                <a16:creationId xmlns:a16="http://schemas.microsoft.com/office/drawing/2014/main" id="{7F03D861-7B95-C464-1774-48DFAC64F6AC}"/>
              </a:ext>
            </a:extLst>
          </p:cNvPr>
          <p:cNvPicPr>
            <a:picLocks noChangeAspect="1"/>
          </p:cNvPicPr>
          <p:nvPr/>
        </p:nvPicPr>
        <p:blipFill>
          <a:blip r:embed="rId2"/>
          <a:srcRect l="30513" r="28641" b="-1"/>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9F5D6DDF-4959-3208-8E6C-5DEBB0D83BA3}"/>
              </a:ext>
            </a:extLst>
          </p:cNvPr>
          <p:cNvGraphicFramePr>
            <a:graphicFrameLocks noGrp="1"/>
          </p:cNvGraphicFramePr>
          <p:nvPr>
            <p:ph idx="1"/>
            <p:extLst>
              <p:ext uri="{D42A27DB-BD31-4B8C-83A1-F6EECF244321}">
                <p14:modId xmlns:p14="http://schemas.microsoft.com/office/powerpoint/2010/main" val="2783514418"/>
              </p:ext>
            </p:extLst>
          </p:nvPr>
        </p:nvGraphicFramePr>
        <p:xfrm>
          <a:off x="4553734" y="1666877"/>
          <a:ext cx="6798539" cy="49625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4125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852BC-3168-7FFB-B604-1F641275123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5125137-535D-B14B-4FAB-6AC51775FED0}"/>
              </a:ext>
            </a:extLst>
          </p:cNvPr>
          <p:cNvPicPr>
            <a:picLocks noGrp="1" noChangeAspect="1"/>
          </p:cNvPicPr>
          <p:nvPr>
            <p:ph idx="1"/>
          </p:nvPr>
        </p:nvPicPr>
        <p:blipFill>
          <a:blip r:embed="rId2"/>
          <a:stretch>
            <a:fillRect/>
          </a:stretch>
        </p:blipFill>
        <p:spPr>
          <a:xfrm>
            <a:off x="933070" y="1"/>
            <a:ext cx="10420730" cy="6795940"/>
          </a:xfrm>
        </p:spPr>
      </p:pic>
    </p:spTree>
    <p:extLst>
      <p:ext uri="{BB962C8B-B14F-4D97-AF65-F5344CB8AC3E}">
        <p14:creationId xmlns:p14="http://schemas.microsoft.com/office/powerpoint/2010/main" val="1292428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5FFE886-F3B4-E8B3-2857-E3A284057CD2}"/>
              </a:ext>
            </a:extLst>
          </p:cNvPr>
          <p:cNvGraphicFramePr/>
          <p:nvPr>
            <p:extLst>
              <p:ext uri="{D42A27DB-BD31-4B8C-83A1-F6EECF244321}">
                <p14:modId xmlns:p14="http://schemas.microsoft.com/office/powerpoint/2010/main" val="4198228419"/>
              </p:ext>
            </p:extLst>
          </p:nvPr>
        </p:nvGraphicFramePr>
        <p:xfrm>
          <a:off x="838200" y="365126"/>
          <a:ext cx="5257800" cy="832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EA759B43-6A07-8551-16E4-3876F9875148}"/>
              </a:ext>
            </a:extLst>
          </p:cNvPr>
          <p:cNvSpPr>
            <a:spLocks noGrp="1"/>
          </p:cNvSpPr>
          <p:nvPr>
            <p:ph idx="1"/>
          </p:nvPr>
        </p:nvSpPr>
        <p:spPr>
          <a:xfrm>
            <a:off x="359229" y="1197430"/>
            <a:ext cx="6226627" cy="5453741"/>
          </a:xfrm>
          <a:solidFill>
            <a:schemeClr val="bg1">
              <a:lumMod val="95000"/>
            </a:schemeClr>
          </a:solidFill>
        </p:spPr>
        <p:txBody>
          <a:bodyPr>
            <a:noAutofit/>
          </a:bodyPr>
          <a:lstStyle/>
          <a:p>
            <a:r>
              <a:rPr lang="en-US" sz="1600" dirty="0"/>
              <a:t>Long bundle of neurons that serves two vital functions.</a:t>
            </a:r>
          </a:p>
          <a:p>
            <a:r>
              <a:rPr lang="en-US" sz="1600" dirty="0"/>
              <a:t>Outer section is composed mainly of myelinated axons and nerves, which appear white, whereas the inner section is mainly composed of cell bodies of neurons, which appear gray.</a:t>
            </a:r>
          </a:p>
          <a:p>
            <a:pPr marL="514350" indent="-514350">
              <a:buAutoNum type="arabicPeriod"/>
            </a:pPr>
            <a:r>
              <a:rPr lang="en-US" sz="1600" dirty="0"/>
              <a:t>The purpose of the outer section is to carry messages from the body up to the brain and from the brain down to the body. It is simply a message “pipeline.” </a:t>
            </a:r>
          </a:p>
          <a:p>
            <a:pPr marL="0" indent="0">
              <a:buNone/>
            </a:pPr>
            <a:r>
              <a:rPr lang="en-US" sz="1600" dirty="0"/>
              <a:t>2. </a:t>
            </a:r>
            <a:r>
              <a:rPr lang="en-US" sz="1600" b="1" dirty="0">
                <a:solidFill>
                  <a:schemeClr val="accent3"/>
                </a:solidFill>
              </a:rPr>
              <a:t>Reflexive action: Fast response time – Reflex arc</a:t>
            </a:r>
          </a:p>
          <a:p>
            <a:r>
              <a:rPr lang="en-US" sz="1600" dirty="0"/>
              <a:t>The inside section, which is made up of cell bodies separated by glial cells, is actually a primitive sort of “brain.” </a:t>
            </a:r>
          </a:p>
          <a:p>
            <a:r>
              <a:rPr lang="en-US" sz="1600" dirty="0"/>
              <a:t>This part of the spinal cord is responsible for certain reflexes— very fast, lifesaving reflexes. </a:t>
            </a:r>
          </a:p>
          <a:p>
            <a:r>
              <a:rPr lang="en-US" sz="1600" dirty="0"/>
              <a:t>Touch a flame or a hot stove with your finger, for example, and an afferent neuron will send the pain message up to the spinal column, where it enters into the central area of the spinal cord. The interneuron in that central area will then receive the message and send out a response along an efferent neuron, causing your finger to pull back. This all happens very quickly.</a:t>
            </a:r>
            <a:endParaRPr lang="en-IN" sz="1600" dirty="0"/>
          </a:p>
        </p:txBody>
      </p:sp>
      <p:pic>
        <p:nvPicPr>
          <p:cNvPr id="5" name="Picture 4">
            <a:extLst>
              <a:ext uri="{FF2B5EF4-FFF2-40B4-BE49-F238E27FC236}">
                <a16:creationId xmlns:a16="http://schemas.microsoft.com/office/drawing/2014/main" id="{F0ED10BB-D023-F36B-13B3-2AC01A8F22AC}"/>
              </a:ext>
            </a:extLst>
          </p:cNvPr>
          <p:cNvPicPr>
            <a:picLocks noChangeAspect="1"/>
          </p:cNvPicPr>
          <p:nvPr/>
        </p:nvPicPr>
        <p:blipFill>
          <a:blip r:embed="rId8"/>
          <a:stretch>
            <a:fillRect/>
          </a:stretch>
        </p:blipFill>
        <p:spPr>
          <a:xfrm>
            <a:off x="6774700" y="681037"/>
            <a:ext cx="5257800" cy="5970134"/>
          </a:xfrm>
          <a:prstGeom prst="rect">
            <a:avLst/>
          </a:prstGeom>
        </p:spPr>
      </p:pic>
    </p:spTree>
    <p:extLst>
      <p:ext uri="{BB962C8B-B14F-4D97-AF65-F5344CB8AC3E}">
        <p14:creationId xmlns:p14="http://schemas.microsoft.com/office/powerpoint/2010/main" val="1404374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FD13-E00C-7317-3F3F-A18EEE6C7BEB}"/>
              </a:ext>
            </a:extLst>
          </p:cNvPr>
          <p:cNvSpPr>
            <a:spLocks noGrp="1"/>
          </p:cNvSpPr>
          <p:nvPr>
            <p:ph type="title"/>
          </p:nvPr>
        </p:nvSpPr>
        <p:spPr>
          <a:xfrm>
            <a:off x="838200" y="365125"/>
            <a:ext cx="10515600" cy="941161"/>
          </a:xfrm>
        </p:spPr>
        <p:txBody>
          <a:bodyPr/>
          <a:lstStyle/>
          <a:p>
            <a:r>
              <a:rPr lang="en-IN" dirty="0"/>
              <a:t>The Sympathetic Division</a:t>
            </a:r>
          </a:p>
        </p:txBody>
      </p:sp>
      <p:sp>
        <p:nvSpPr>
          <p:cNvPr id="3" name="Content Placeholder 2">
            <a:extLst>
              <a:ext uri="{FF2B5EF4-FFF2-40B4-BE49-F238E27FC236}">
                <a16:creationId xmlns:a16="http://schemas.microsoft.com/office/drawing/2014/main" id="{FD5715D7-20AF-59F6-ABDF-B26412D81FDA}"/>
              </a:ext>
            </a:extLst>
          </p:cNvPr>
          <p:cNvSpPr>
            <a:spLocks noGrp="1"/>
          </p:cNvSpPr>
          <p:nvPr>
            <p:ph idx="1"/>
          </p:nvPr>
        </p:nvSpPr>
        <p:spPr>
          <a:xfrm>
            <a:off x="838200" y="1306286"/>
            <a:ext cx="6357257" cy="5410199"/>
          </a:xfrm>
        </p:spPr>
        <p:txBody>
          <a:bodyPr>
            <a:normAutofit fontScale="70000" lnSpcReduction="20000"/>
          </a:bodyPr>
          <a:lstStyle/>
          <a:p>
            <a:r>
              <a:rPr lang="en-US" dirty="0"/>
              <a:t>Located on the middle of the spinal column —running from near the top of the ribcage to the waist area. </a:t>
            </a:r>
          </a:p>
          <a:p>
            <a:r>
              <a:rPr lang="en-US" dirty="0"/>
              <a:t>Usually called the “fight-or-flight system” (sympathy with one’s emotions?)</a:t>
            </a:r>
          </a:p>
          <a:p>
            <a:r>
              <a:rPr lang="en-US" dirty="0"/>
              <a:t>Get the body ready to deal with stress- anger or joy , fear </a:t>
            </a:r>
          </a:p>
          <a:p>
            <a:pPr>
              <a:buFont typeface="Wingdings" panose="05000000000000000000" pitchFamily="2" charset="2"/>
              <a:buChar char="ü"/>
            </a:pPr>
            <a:r>
              <a:rPr lang="en-US" sz="2600" dirty="0">
                <a:solidFill>
                  <a:schemeClr val="accent3"/>
                </a:solidFill>
              </a:rPr>
              <a:t>Pupils get bigger</a:t>
            </a:r>
          </a:p>
          <a:p>
            <a:pPr>
              <a:buFont typeface="Wingdings" panose="05000000000000000000" pitchFamily="2" charset="2"/>
              <a:buChar char="ü"/>
            </a:pPr>
            <a:r>
              <a:rPr lang="en-US" sz="2600" dirty="0">
                <a:solidFill>
                  <a:schemeClr val="accent3"/>
                </a:solidFill>
              </a:rPr>
              <a:t>Heart starts pumping faster, drawing blood away from non-essential organs (skin) sometimes brains (fainting)</a:t>
            </a:r>
          </a:p>
          <a:p>
            <a:pPr>
              <a:buFont typeface="Wingdings" panose="05000000000000000000" pitchFamily="2" charset="2"/>
              <a:buChar char="ü"/>
            </a:pPr>
            <a:r>
              <a:rPr lang="en-US" sz="2600" dirty="0">
                <a:solidFill>
                  <a:schemeClr val="accent3"/>
                </a:solidFill>
              </a:rPr>
              <a:t>Lungs work faster, increase blood oxygen (Heavy breathing)</a:t>
            </a:r>
          </a:p>
          <a:p>
            <a:pPr>
              <a:buFont typeface="Wingdings" panose="05000000000000000000" pitchFamily="2" charset="2"/>
              <a:buChar char="ü"/>
            </a:pPr>
            <a:r>
              <a:rPr lang="en-US" sz="2600" dirty="0">
                <a:solidFill>
                  <a:schemeClr val="accent3"/>
                </a:solidFill>
              </a:rPr>
              <a:t>Adrenal glands: release stress related hormones (adrenaline, cortisol – heart, lungs, and muscles)</a:t>
            </a:r>
          </a:p>
          <a:p>
            <a:pPr>
              <a:buFont typeface="Wingdings" panose="05000000000000000000" pitchFamily="2" charset="2"/>
              <a:buChar char="ü"/>
            </a:pPr>
            <a:r>
              <a:rPr lang="en-US" sz="2600" dirty="0">
                <a:solidFill>
                  <a:schemeClr val="accent3"/>
                </a:solidFill>
              </a:rPr>
              <a:t>Not every organ stimulated- digestion, excretion, saliva dries up – really scared the bowels or bladder empty</a:t>
            </a:r>
          </a:p>
          <a:p>
            <a:pPr>
              <a:buFont typeface="Wingdings" panose="05000000000000000000" pitchFamily="2" charset="2"/>
              <a:buChar char="ü"/>
            </a:pPr>
            <a:r>
              <a:rPr lang="en-US" sz="2600" dirty="0">
                <a:solidFill>
                  <a:schemeClr val="accent3"/>
                </a:solidFill>
              </a:rPr>
              <a:t>Burn blood sugar</a:t>
            </a:r>
          </a:p>
          <a:p>
            <a:r>
              <a:rPr lang="en-US" sz="2600" dirty="0"/>
              <a:t>Stress ends- activation of parasympathetic division.</a:t>
            </a:r>
          </a:p>
          <a:p>
            <a:r>
              <a:rPr lang="en-US" sz="2600" dirty="0"/>
              <a:t>Stress for too long- person collapses – as PNS division overreacts in trying to inhibit SNS- heart slows, blood vessels open up, blood pressure in the brain drops- resulting in fainting.</a:t>
            </a:r>
          </a:p>
          <a:p>
            <a:pPr marL="0" indent="0">
              <a:buNone/>
            </a:pPr>
            <a:endParaRPr lang="en-US" dirty="0"/>
          </a:p>
          <a:p>
            <a:pPr>
              <a:buFont typeface="Wingdings" panose="05000000000000000000" pitchFamily="2" charset="2"/>
              <a:buChar char="ü"/>
            </a:pPr>
            <a:endParaRPr lang="en-IN" dirty="0"/>
          </a:p>
        </p:txBody>
      </p:sp>
      <p:pic>
        <p:nvPicPr>
          <p:cNvPr id="2050" name="Picture 2" descr="An Introduction To The Sympathetic and Parasympathetic Nervous System">
            <a:extLst>
              <a:ext uri="{FF2B5EF4-FFF2-40B4-BE49-F238E27FC236}">
                <a16:creationId xmlns:a16="http://schemas.microsoft.com/office/drawing/2014/main" id="{401BFD31-BDD0-CBAF-DDD7-E48CF5421B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904" r="1"/>
          <a:stretch/>
        </p:blipFill>
        <p:spPr bwMode="auto">
          <a:xfrm>
            <a:off x="7413172" y="0"/>
            <a:ext cx="41229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0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4692-6B47-B0EA-67EF-AFD67F8CB5B5}"/>
              </a:ext>
            </a:extLst>
          </p:cNvPr>
          <p:cNvSpPr>
            <a:spLocks noGrp="1"/>
          </p:cNvSpPr>
          <p:nvPr>
            <p:ph type="title"/>
          </p:nvPr>
        </p:nvSpPr>
        <p:spPr>
          <a:xfrm>
            <a:off x="838200" y="365125"/>
            <a:ext cx="10515600" cy="662781"/>
          </a:xfrm>
        </p:spPr>
        <p:txBody>
          <a:bodyPr>
            <a:normAutofit fontScale="90000"/>
          </a:bodyPr>
          <a:lstStyle/>
          <a:p>
            <a:r>
              <a:rPr lang="en-IN" dirty="0"/>
              <a:t>The Parasympathetic Division </a:t>
            </a:r>
          </a:p>
        </p:txBody>
      </p:sp>
      <p:sp>
        <p:nvSpPr>
          <p:cNvPr id="3" name="Content Placeholder 2">
            <a:extLst>
              <a:ext uri="{FF2B5EF4-FFF2-40B4-BE49-F238E27FC236}">
                <a16:creationId xmlns:a16="http://schemas.microsoft.com/office/drawing/2014/main" id="{75141101-0C7B-8995-09AE-6E8786136854}"/>
              </a:ext>
            </a:extLst>
          </p:cNvPr>
          <p:cNvSpPr>
            <a:spLocks noGrp="1"/>
          </p:cNvSpPr>
          <p:nvPr>
            <p:ph idx="1"/>
          </p:nvPr>
        </p:nvSpPr>
        <p:spPr>
          <a:xfrm>
            <a:off x="838199" y="1197430"/>
            <a:ext cx="6357257" cy="5660570"/>
          </a:xfrm>
        </p:spPr>
        <p:txBody>
          <a:bodyPr>
            <a:normAutofit fontScale="70000" lnSpcReduction="20000"/>
          </a:bodyPr>
          <a:lstStyle/>
          <a:p>
            <a:r>
              <a:rPr lang="en-IN" dirty="0">
                <a:latin typeface="Goudy Old Style" panose="02020502050305020303" pitchFamily="18" charset="0"/>
              </a:rPr>
              <a:t>“eat-drink-and-rest” system</a:t>
            </a:r>
          </a:p>
          <a:p>
            <a:r>
              <a:rPr lang="en-IN" dirty="0">
                <a:latin typeface="Goudy Old Style" panose="02020502050305020303" pitchFamily="18" charset="0"/>
              </a:rPr>
              <a:t>Para = beyond or next; refers to neurons located on either side of the sympathetic division neurons</a:t>
            </a:r>
          </a:p>
          <a:p>
            <a:r>
              <a:rPr lang="en-IN" dirty="0">
                <a:latin typeface="Goudy Old Style" panose="02020502050305020303" pitchFamily="18" charset="0"/>
              </a:rPr>
              <a:t>Location; top and bottom of the spinal cord </a:t>
            </a:r>
          </a:p>
          <a:p>
            <a:r>
              <a:rPr lang="en-IN" dirty="0">
                <a:latin typeface="Goudy Old Style" panose="02020502050305020303" pitchFamily="18" charset="0"/>
              </a:rPr>
              <a:t>Two different functions:</a:t>
            </a:r>
          </a:p>
          <a:p>
            <a:pPr marL="514350" indent="-514350">
              <a:buAutoNum type="arabicPeriod"/>
            </a:pPr>
            <a:r>
              <a:rPr lang="en-IN" dirty="0">
                <a:latin typeface="Goudy Old Style" panose="02020502050305020303" pitchFamily="18" charset="0"/>
              </a:rPr>
              <a:t>Brings body down to rest or normal functioning after a fight and flight response – </a:t>
            </a:r>
          </a:p>
          <a:p>
            <a:pPr>
              <a:buFont typeface="Wingdings" panose="05000000000000000000" pitchFamily="2" charset="2"/>
              <a:buChar char="ü"/>
            </a:pPr>
            <a:r>
              <a:rPr lang="en-IN" dirty="0">
                <a:solidFill>
                  <a:schemeClr val="accent3"/>
                </a:solidFill>
                <a:latin typeface="Goudy Old Style" panose="02020502050305020303" pitchFamily="18" charset="0"/>
              </a:rPr>
              <a:t>Slows heart rate and breathing</a:t>
            </a:r>
          </a:p>
          <a:p>
            <a:pPr>
              <a:buFont typeface="Wingdings" panose="05000000000000000000" pitchFamily="2" charset="2"/>
              <a:buChar char="ü"/>
            </a:pPr>
            <a:r>
              <a:rPr lang="en-IN" dirty="0">
                <a:solidFill>
                  <a:schemeClr val="accent3"/>
                </a:solidFill>
                <a:latin typeface="Goudy Old Style" panose="02020502050305020303" pitchFamily="18" charset="0"/>
              </a:rPr>
              <a:t>Constricts pupils</a:t>
            </a:r>
          </a:p>
          <a:p>
            <a:pPr>
              <a:buFont typeface="Wingdings" panose="05000000000000000000" pitchFamily="2" charset="2"/>
              <a:buChar char="ü"/>
            </a:pPr>
            <a:r>
              <a:rPr lang="en-IN" dirty="0">
                <a:solidFill>
                  <a:schemeClr val="accent3"/>
                </a:solidFill>
                <a:latin typeface="Goudy Old Style" panose="02020502050305020303" pitchFamily="18" charset="0"/>
              </a:rPr>
              <a:t>Reactivated digestion and excretion</a:t>
            </a:r>
          </a:p>
          <a:p>
            <a:pPr>
              <a:buFont typeface="Wingdings" panose="05000000000000000000" pitchFamily="2" charset="2"/>
              <a:buChar char="ü"/>
            </a:pPr>
            <a:r>
              <a:rPr lang="en-IN" dirty="0">
                <a:solidFill>
                  <a:schemeClr val="accent3"/>
                </a:solidFill>
                <a:latin typeface="Goudy Old Style" panose="02020502050305020303" pitchFamily="18" charset="0"/>
              </a:rPr>
              <a:t>Signals to the adrenal glands to stop (</a:t>
            </a:r>
            <a:r>
              <a:rPr lang="en-IN" dirty="0">
                <a:latin typeface="Goudy Old Style" panose="02020502050305020303" pitchFamily="18" charset="0"/>
              </a:rPr>
              <a:t>PNS not connected to adrenal glands)</a:t>
            </a:r>
          </a:p>
          <a:p>
            <a:r>
              <a:rPr lang="en-IN" dirty="0">
                <a:latin typeface="Goudy Old Style" panose="02020502050305020303" pitchFamily="18" charset="0"/>
              </a:rPr>
              <a:t>Restores energy that was burned – making people hungry after stress is over </a:t>
            </a:r>
          </a:p>
          <a:p>
            <a:pPr marL="514350" indent="-514350">
              <a:buAutoNum type="arabicPeriod" startAt="2"/>
            </a:pPr>
            <a:r>
              <a:rPr lang="en-IN" dirty="0">
                <a:latin typeface="Goudy Old Style" panose="02020502050305020303" pitchFamily="18" charset="0"/>
              </a:rPr>
              <a:t>Responsible for most ordinary everyday functioning-  regular heartbeat, normal breathing, and digestion</a:t>
            </a:r>
          </a:p>
          <a:p>
            <a:r>
              <a:rPr lang="en-IN" dirty="0">
                <a:latin typeface="Goudy Old Style" panose="02020502050305020303" pitchFamily="18" charset="0"/>
              </a:rPr>
              <a:t>At any given time- SNS or PNS determine if individuals are aroused or relaxed </a:t>
            </a:r>
          </a:p>
          <a:p>
            <a:endParaRPr lang="en-IN" dirty="0">
              <a:latin typeface="Goudy Old Style" panose="02020502050305020303" pitchFamily="18" charset="0"/>
            </a:endParaRPr>
          </a:p>
          <a:p>
            <a:pPr marL="514350" indent="-514350">
              <a:buAutoNum type="arabicPeriod"/>
            </a:pPr>
            <a:endParaRPr lang="en-IN" dirty="0">
              <a:latin typeface="Goudy Old Style" panose="02020502050305020303" pitchFamily="18" charset="0"/>
            </a:endParaRPr>
          </a:p>
          <a:p>
            <a:endParaRPr lang="en-IN" dirty="0">
              <a:latin typeface="Goudy Old Style" panose="02020502050305020303" pitchFamily="18" charset="0"/>
            </a:endParaRPr>
          </a:p>
        </p:txBody>
      </p:sp>
      <p:pic>
        <p:nvPicPr>
          <p:cNvPr id="1028" name="Picture 4" descr="The Power of the Parasympathetic Nervous System">
            <a:extLst>
              <a:ext uri="{FF2B5EF4-FFF2-40B4-BE49-F238E27FC236}">
                <a16:creationId xmlns:a16="http://schemas.microsoft.com/office/drawing/2014/main" id="{ABE7E516-A386-1701-0B34-01E121505C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303" r="25000"/>
          <a:stretch/>
        </p:blipFill>
        <p:spPr bwMode="auto">
          <a:xfrm>
            <a:off x="7271657" y="1027906"/>
            <a:ext cx="4506686" cy="5126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8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D2FD85F-3050-6A5C-CB6C-86A8E608A025}"/>
              </a:ext>
            </a:extLst>
          </p:cNvPr>
          <p:cNvGraphicFramePr/>
          <p:nvPr>
            <p:extLst>
              <p:ext uri="{D42A27DB-BD31-4B8C-83A1-F6EECF244321}">
                <p14:modId xmlns:p14="http://schemas.microsoft.com/office/powerpoint/2010/main" val="3776501815"/>
              </p:ext>
            </p:extLst>
          </p:nvPr>
        </p:nvGraphicFramePr>
        <p:xfrm>
          <a:off x="838200" y="365126"/>
          <a:ext cx="10515600" cy="10609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F214A740-AF94-12F0-9675-F6429AD86BCD}"/>
              </a:ext>
            </a:extLst>
          </p:cNvPr>
          <p:cNvSpPr>
            <a:spLocks noGrp="1"/>
          </p:cNvSpPr>
          <p:nvPr>
            <p:ph idx="1"/>
          </p:nvPr>
        </p:nvSpPr>
        <p:spPr>
          <a:xfrm>
            <a:off x="838200" y="1524000"/>
            <a:ext cx="10515600" cy="5214257"/>
          </a:xfrm>
        </p:spPr>
        <p:txBody>
          <a:bodyPr>
            <a:normAutofit/>
          </a:bodyPr>
          <a:lstStyle/>
          <a:p>
            <a:pPr algn="l"/>
            <a:r>
              <a:rPr lang="en-US" sz="1800" b="0" i="0" u="none" strike="noStrike" baseline="0" dirty="0">
                <a:latin typeface="Times New Roman" panose="02020603050405020304" pitchFamily="18" charset="0"/>
              </a:rPr>
              <a:t>Earlier: neurons don’t repair</a:t>
            </a:r>
          </a:p>
          <a:p>
            <a:pPr algn="l"/>
            <a:r>
              <a:rPr lang="en-US" sz="1800" dirty="0">
                <a:latin typeface="Times New Roman" panose="02020603050405020304" pitchFamily="18" charset="0"/>
              </a:rPr>
              <a:t>E.g. Recovery from stroke- due to healthy brain cells taking over the functions of damaged cells. </a:t>
            </a:r>
          </a:p>
          <a:p>
            <a:pPr algn="l"/>
            <a:r>
              <a:rPr lang="en-US" sz="1800" b="0" i="0" u="none" strike="noStrike" baseline="0" dirty="0">
                <a:latin typeface="Times New Roman" panose="02020603050405020304" pitchFamily="18" charset="0"/>
              </a:rPr>
              <a:t>Throughout your life, your nervous system exhibits </a:t>
            </a:r>
            <a:r>
              <a:rPr lang="en-US" sz="1800" b="1" i="0" u="none" strike="noStrike" baseline="0" dirty="0">
                <a:latin typeface="Times New Roman" panose="02020603050405020304" pitchFamily="18" charset="0"/>
              </a:rPr>
              <a:t>plasticity, </a:t>
            </a:r>
            <a:r>
              <a:rPr lang="en-US" sz="1800" b="0" i="0" u="none" strike="noStrike" baseline="0" dirty="0">
                <a:latin typeface="Times New Roman" panose="02020603050405020304" pitchFamily="18" charset="0"/>
              </a:rPr>
              <a:t>the capability to change based on experience.</a:t>
            </a:r>
          </a:p>
          <a:p>
            <a:pPr algn="l"/>
            <a:r>
              <a:rPr lang="en-US" sz="1800" dirty="0">
                <a:latin typeface="Times New Roman" panose="02020603050405020304" pitchFamily="18" charset="0"/>
              </a:rPr>
              <a:t>Brain: </a:t>
            </a:r>
            <a:r>
              <a:rPr lang="en-US" sz="1800" b="1" dirty="0">
                <a:solidFill>
                  <a:schemeClr val="accent3"/>
                </a:solidFill>
                <a:latin typeface="Times New Roman" panose="02020603050405020304" pitchFamily="18" charset="0"/>
              </a:rPr>
              <a:t>neuroplasticity- ability to constantly change both the structure as well as function of many cells in the brain in response to trauma or experience (Neville &amp; Bavelier, 2000)</a:t>
            </a:r>
            <a:endParaRPr lang="en-US" sz="1800" b="1" i="0" u="none" strike="noStrike" baseline="0" dirty="0">
              <a:solidFill>
                <a:schemeClr val="accent3"/>
              </a:solidFill>
              <a:latin typeface="Times New Roman" panose="02020603050405020304" pitchFamily="18" charset="0"/>
            </a:endParaRPr>
          </a:p>
          <a:p>
            <a:pPr algn="l"/>
            <a:r>
              <a:rPr lang="en-US" sz="1800" dirty="0">
                <a:latin typeface="Times New Roman" panose="02020603050405020304" pitchFamily="18" charset="0"/>
              </a:rPr>
              <a:t>At the biological level: </a:t>
            </a:r>
            <a:r>
              <a:rPr lang="en-IN" sz="1800" b="0" i="0" u="none" strike="noStrike" baseline="0" dirty="0">
                <a:latin typeface="Times New Roman" panose="02020603050405020304" pitchFamily="18" charset="0"/>
              </a:rPr>
              <a:t>At the level of </a:t>
            </a:r>
            <a:r>
              <a:rPr lang="en-US" sz="1800" b="0" i="0" u="none" strike="noStrike" baseline="0" dirty="0">
                <a:latin typeface="Times New Roman" panose="02020603050405020304" pitchFamily="18" charset="0"/>
              </a:rPr>
              <a:t>individual neurons, the changes that can occur include the sprouting of new dendrites, synthesis of new proteins, and changes in synaptic contacts with other neurons (Sanes &amp; Jessel, 2013).</a:t>
            </a:r>
          </a:p>
          <a:p>
            <a:pPr algn="l"/>
            <a:r>
              <a:rPr lang="en-US" sz="1800" b="1" dirty="0">
                <a:solidFill>
                  <a:schemeClr val="accent3"/>
                </a:solidFill>
                <a:latin typeface="Times New Roman" panose="02020603050405020304" pitchFamily="18" charset="0"/>
              </a:rPr>
              <a:t>Neurogenesis: Brain can change through this process. Formation of new neurons and important process during the development of our nervous system. </a:t>
            </a:r>
          </a:p>
          <a:p>
            <a:pPr algn="l">
              <a:buFont typeface="Wingdings" panose="05000000000000000000" pitchFamily="2" charset="2"/>
              <a:buChar char="Ø"/>
            </a:pPr>
            <a:r>
              <a:rPr lang="en-US" sz="1800" dirty="0">
                <a:latin typeface="Times New Roman" panose="02020603050405020304" pitchFamily="18" charset="0"/>
              </a:rPr>
              <a:t>Mostly prior to birth – during prenatal period</a:t>
            </a:r>
          </a:p>
          <a:p>
            <a:pPr algn="l"/>
            <a:r>
              <a:rPr lang="en-US" sz="1800" dirty="0">
                <a:latin typeface="Times New Roman" panose="02020603050405020304" pitchFamily="18" charset="0"/>
              </a:rPr>
              <a:t>Regeneration : still limited in mammals - mostly hippocampus</a:t>
            </a:r>
          </a:p>
          <a:p>
            <a:pPr algn="l"/>
            <a:r>
              <a:rPr lang="en-US" sz="1800" dirty="0">
                <a:latin typeface="Times New Roman" panose="02020603050405020304" pitchFamily="18" charset="0"/>
              </a:rPr>
              <a:t>Physical exercise  benefits neurogenesis and neuroplasticity (Prakash, 2015)</a:t>
            </a:r>
          </a:p>
          <a:p>
            <a:pPr algn="l"/>
            <a:r>
              <a:rPr lang="en-US" sz="1800" dirty="0">
                <a:latin typeface="Times New Roman" panose="02020603050405020304" pitchFamily="18" charset="0"/>
              </a:rPr>
              <a:t>Good sleep is important (Tesler, 2016) </a:t>
            </a:r>
          </a:p>
          <a:p>
            <a:pPr algn="l"/>
            <a:r>
              <a:rPr lang="en-US" sz="1800" dirty="0">
                <a:latin typeface="Times New Roman" panose="02020603050405020304" pitchFamily="18" charset="0"/>
              </a:rPr>
              <a:t>Stem cell transplantation – research ongoing (Huang et al, 2015) </a:t>
            </a:r>
          </a:p>
          <a:p>
            <a:pPr algn="l"/>
            <a:endParaRPr lang="en-US" sz="1800" dirty="0">
              <a:latin typeface="Times New Roman" panose="02020603050405020304" pitchFamily="18" charset="0"/>
            </a:endParaRPr>
          </a:p>
          <a:p>
            <a:pPr algn="l"/>
            <a:endParaRPr lang="en-US" sz="1800" b="0" i="0" u="none" strike="noStrike" baseline="0" dirty="0">
              <a:latin typeface="Times New Roman" panose="02020603050405020304" pitchFamily="18" charset="0"/>
            </a:endParaRPr>
          </a:p>
          <a:p>
            <a:pPr algn="l"/>
            <a:endParaRPr lang="en-IN" dirty="0"/>
          </a:p>
        </p:txBody>
      </p:sp>
    </p:spTree>
    <p:extLst>
      <p:ext uri="{BB962C8B-B14F-4D97-AF65-F5344CB8AC3E}">
        <p14:creationId xmlns:p14="http://schemas.microsoft.com/office/powerpoint/2010/main" val="750673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017E-C799-7EA3-A04A-B97649EC15AB}"/>
              </a:ext>
            </a:extLst>
          </p:cNvPr>
          <p:cNvSpPr>
            <a:spLocks noGrp="1"/>
          </p:cNvSpPr>
          <p:nvPr>
            <p:ph type="title"/>
          </p:nvPr>
        </p:nvSpPr>
        <p:spPr/>
        <p:txBody>
          <a:bodyPr/>
          <a:lstStyle/>
          <a:p>
            <a:r>
              <a:rPr lang="en-IN" dirty="0"/>
              <a:t>Case: Phineas Gage </a:t>
            </a:r>
          </a:p>
        </p:txBody>
      </p:sp>
      <p:sp>
        <p:nvSpPr>
          <p:cNvPr id="3" name="Content Placeholder 2">
            <a:extLst>
              <a:ext uri="{FF2B5EF4-FFF2-40B4-BE49-F238E27FC236}">
                <a16:creationId xmlns:a16="http://schemas.microsoft.com/office/drawing/2014/main" id="{7DEB8522-BDED-796F-474E-1BFF059A719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58203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7F00E60-4208-08F6-46DF-F5AAF139AF2B}"/>
              </a:ext>
            </a:extLst>
          </p:cNvPr>
          <p:cNvGraphicFramePr/>
          <p:nvPr>
            <p:extLst>
              <p:ext uri="{D42A27DB-BD31-4B8C-83A1-F6EECF244321}">
                <p14:modId xmlns:p14="http://schemas.microsoft.com/office/powerpoint/2010/main" val="2245593336"/>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2">
            <a:extLst>
              <a:ext uri="{FF2B5EF4-FFF2-40B4-BE49-F238E27FC236}">
                <a16:creationId xmlns:a16="http://schemas.microsoft.com/office/drawing/2014/main" id="{2F4BBAD0-4D2E-16FB-7EDA-7C32F2DC1AB2}"/>
              </a:ext>
            </a:extLst>
          </p:cNvPr>
          <p:cNvGraphicFramePr>
            <a:graphicFrameLocks noGrp="1"/>
          </p:cNvGraphicFramePr>
          <p:nvPr>
            <p:ph idx="1"/>
            <p:extLst>
              <p:ext uri="{D42A27DB-BD31-4B8C-83A1-F6EECF244321}">
                <p14:modId xmlns:p14="http://schemas.microsoft.com/office/powerpoint/2010/main" val="33361230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7583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CBFC-2AF8-2AE0-4269-2D0BB15B0725}"/>
              </a:ext>
            </a:extLst>
          </p:cNvPr>
          <p:cNvSpPr>
            <a:spLocks noGrp="1"/>
          </p:cNvSpPr>
          <p:nvPr>
            <p:ph type="title"/>
          </p:nvPr>
        </p:nvSpPr>
        <p:spPr/>
        <p:txBody>
          <a:bodyPr/>
          <a:lstStyle/>
          <a:p>
            <a:r>
              <a:rPr lang="en-US" dirty="0"/>
              <a:t>Classical conditioning </a:t>
            </a:r>
            <a:endParaRPr lang="en-IN" dirty="0"/>
          </a:p>
        </p:txBody>
      </p:sp>
      <p:sp>
        <p:nvSpPr>
          <p:cNvPr id="3" name="Content Placeholder 2">
            <a:extLst>
              <a:ext uri="{FF2B5EF4-FFF2-40B4-BE49-F238E27FC236}">
                <a16:creationId xmlns:a16="http://schemas.microsoft.com/office/drawing/2014/main" id="{E13C6DA9-02AA-64C1-0096-5DBFF7FCA851}"/>
              </a:ext>
            </a:extLst>
          </p:cNvPr>
          <p:cNvSpPr>
            <a:spLocks noGrp="1"/>
          </p:cNvSpPr>
          <p:nvPr>
            <p:ph idx="1"/>
          </p:nvPr>
        </p:nvSpPr>
        <p:spPr>
          <a:xfrm>
            <a:off x="838200" y="1825625"/>
            <a:ext cx="6139543" cy="4351338"/>
          </a:xfrm>
        </p:spPr>
        <p:txBody>
          <a:bodyPr>
            <a:normAutofit lnSpcReduction="10000"/>
          </a:bodyPr>
          <a:lstStyle/>
          <a:p>
            <a:r>
              <a:rPr lang="en-US" sz="2000" dirty="0">
                <a:latin typeface="Goudy Old Style" panose="02020502050305020303" pitchFamily="18" charset="0"/>
              </a:rPr>
              <a:t>A learning process in which a previously neutral stimulus becomes associated with another stimulus through repeated pairing with that stimulus.</a:t>
            </a:r>
          </a:p>
          <a:p>
            <a:pPr algn="l"/>
            <a:r>
              <a:rPr lang="en-US" sz="2000" dirty="0">
                <a:latin typeface="Goudy Old Style" panose="02020502050305020303" pitchFamily="18" charset="0"/>
              </a:rPr>
              <a:t>S</a:t>
            </a:r>
            <a:r>
              <a:rPr lang="en-US" sz="2000" b="0" i="0" u="none" strike="noStrike" baseline="0" dirty="0">
                <a:latin typeface="Goudy Old Style" panose="02020502050305020303" pitchFamily="18" charset="0"/>
              </a:rPr>
              <a:t>alivary glands automatically start releasing saliva to help with chewing and digestion- normal </a:t>
            </a:r>
            <a:r>
              <a:rPr lang="en-US" sz="2000" b="1" i="0" u="none" strike="noStrike" baseline="0" dirty="0">
                <a:latin typeface="Goudy Old Style" panose="02020502050305020303" pitchFamily="18" charset="0"/>
              </a:rPr>
              <a:t>reflex</a:t>
            </a:r>
            <a:r>
              <a:rPr lang="en-US" sz="2000" b="0" i="0" u="none" strike="noStrike" baseline="0" dirty="0">
                <a:latin typeface="Goudy Old Style" panose="02020502050305020303" pitchFamily="18" charset="0"/>
              </a:rPr>
              <a:t>—an unlearned, involuntary response that is not under personal control or choice—one of many that occur in both animals and humans. </a:t>
            </a:r>
          </a:p>
          <a:p>
            <a:pPr algn="l"/>
            <a:r>
              <a:rPr lang="en-US" sz="2000" b="0" i="0" u="none" strike="noStrike" baseline="0" dirty="0">
                <a:latin typeface="Goudy Old Style" panose="02020502050305020303" pitchFamily="18" charset="0"/>
              </a:rPr>
              <a:t>The food causes a particular reaction, the salivation. </a:t>
            </a:r>
          </a:p>
          <a:p>
            <a:pPr algn="l"/>
            <a:r>
              <a:rPr lang="en-US" sz="2000" b="0" i="0" u="none" strike="noStrike" baseline="0" dirty="0">
                <a:latin typeface="Goudy Old Style" panose="02020502050305020303" pitchFamily="18" charset="0"/>
              </a:rPr>
              <a:t>A </a:t>
            </a:r>
            <a:r>
              <a:rPr lang="en-US" sz="2000" b="1" i="1" u="none" strike="noStrike" baseline="0" dirty="0">
                <a:solidFill>
                  <a:schemeClr val="tx2">
                    <a:lumMod val="75000"/>
                    <a:lumOff val="25000"/>
                  </a:schemeClr>
                </a:solidFill>
                <a:latin typeface="Goudy Old Style" panose="02020502050305020303" pitchFamily="18" charset="0"/>
              </a:rPr>
              <a:t>stimulus</a:t>
            </a:r>
            <a:r>
              <a:rPr lang="en-US" sz="2000" b="0" i="1" u="none" strike="noStrike" baseline="0" dirty="0">
                <a:latin typeface="Goudy Old Style" panose="02020502050305020303" pitchFamily="18" charset="0"/>
              </a:rPr>
              <a:t> </a:t>
            </a:r>
            <a:r>
              <a:rPr lang="en-US" sz="2000" b="0" i="0" u="none" strike="noStrike" baseline="0" dirty="0">
                <a:latin typeface="Goudy Old Style" panose="02020502050305020303" pitchFamily="18" charset="0"/>
              </a:rPr>
              <a:t>can be defined as any object, event, or experience that causes a </a:t>
            </a:r>
            <a:r>
              <a:rPr lang="en-US" sz="2000" b="1" i="1" u="none" strike="noStrike" baseline="0" dirty="0">
                <a:solidFill>
                  <a:schemeClr val="tx2">
                    <a:lumMod val="75000"/>
                    <a:lumOff val="25000"/>
                  </a:schemeClr>
                </a:solidFill>
                <a:latin typeface="Goudy Old Style" panose="02020502050305020303" pitchFamily="18" charset="0"/>
              </a:rPr>
              <a:t>response</a:t>
            </a:r>
            <a:r>
              <a:rPr lang="en-US" sz="2000" b="0" i="0" u="none" strike="noStrike" baseline="0" dirty="0">
                <a:latin typeface="Goudy Old Style" panose="02020502050305020303" pitchFamily="18" charset="0"/>
              </a:rPr>
              <a:t>, the reaction of an organism. </a:t>
            </a:r>
          </a:p>
          <a:p>
            <a:pPr algn="l"/>
            <a:r>
              <a:rPr lang="en-US" sz="2000" b="0" i="0" u="none" strike="noStrike" baseline="0" dirty="0">
                <a:latin typeface="Goudy Old Style" panose="02020502050305020303" pitchFamily="18" charset="0"/>
              </a:rPr>
              <a:t>In the case of Pavlov’s dogs, the food is the stimulus and salivation is the response.</a:t>
            </a:r>
            <a:endParaRPr lang="en-IN" sz="2000" dirty="0">
              <a:latin typeface="Goudy Old Style" panose="02020502050305020303" pitchFamily="18" charset="0"/>
            </a:endParaRPr>
          </a:p>
        </p:txBody>
      </p:sp>
      <p:pic>
        <p:nvPicPr>
          <p:cNvPr id="4" name="Picture 3">
            <a:extLst>
              <a:ext uri="{FF2B5EF4-FFF2-40B4-BE49-F238E27FC236}">
                <a16:creationId xmlns:a16="http://schemas.microsoft.com/office/drawing/2014/main" id="{B2A9BD4A-B127-35A0-A3F8-6C251F798C06}"/>
              </a:ext>
            </a:extLst>
          </p:cNvPr>
          <p:cNvPicPr>
            <a:picLocks noChangeAspect="1"/>
          </p:cNvPicPr>
          <p:nvPr/>
        </p:nvPicPr>
        <p:blipFill>
          <a:blip r:embed="rId2"/>
          <a:stretch>
            <a:fillRect/>
          </a:stretch>
        </p:blipFill>
        <p:spPr>
          <a:xfrm>
            <a:off x="7716644" y="1690688"/>
            <a:ext cx="4226312" cy="4264063"/>
          </a:xfrm>
          <a:prstGeom prst="rect">
            <a:avLst/>
          </a:prstGeom>
        </p:spPr>
      </p:pic>
    </p:spTree>
    <p:extLst>
      <p:ext uri="{BB962C8B-B14F-4D97-AF65-F5344CB8AC3E}">
        <p14:creationId xmlns:p14="http://schemas.microsoft.com/office/powerpoint/2010/main" val="254829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057" y="365126"/>
            <a:ext cx="11832771" cy="973818"/>
          </a:xfrm>
        </p:spPr>
        <p:txBody>
          <a:bodyPr>
            <a:normAutofit fontScale="90000"/>
          </a:bodyPr>
          <a:lstStyle/>
          <a:p>
            <a:r>
              <a:rPr lang="en-US" sz="4000" dirty="0"/>
              <a:t>Pavlov’s Classical Conditioning/ Respondent Conditioning</a:t>
            </a:r>
            <a:endParaRPr lang="en-IN" sz="4000" dirty="0"/>
          </a:p>
        </p:txBody>
      </p:sp>
      <p:pic>
        <p:nvPicPr>
          <p:cNvPr id="8" name="Content Placeholder 7"/>
          <p:cNvPicPr>
            <a:picLocks noGrp="1" noChangeAspect="1"/>
          </p:cNvPicPr>
          <p:nvPr>
            <p:ph sz="half" idx="1"/>
          </p:nvPr>
        </p:nvPicPr>
        <p:blipFill>
          <a:blip r:embed="rId2"/>
          <a:stretch>
            <a:fillRect/>
          </a:stretch>
        </p:blipFill>
        <p:spPr>
          <a:xfrm>
            <a:off x="1839686" y="1734231"/>
            <a:ext cx="7674428" cy="5004260"/>
          </a:xfrm>
          <a:prstGeom prst="rect">
            <a:avLst/>
          </a:prstGeom>
        </p:spPr>
      </p:pic>
      <p:sp>
        <p:nvSpPr>
          <p:cNvPr id="9" name="TextBox 8"/>
          <p:cNvSpPr txBox="1"/>
          <p:nvPr/>
        </p:nvSpPr>
        <p:spPr>
          <a:xfrm flipH="1">
            <a:off x="2592975" y="1338943"/>
            <a:ext cx="6216487" cy="369332"/>
          </a:xfrm>
          <a:prstGeom prst="rect">
            <a:avLst/>
          </a:prstGeom>
          <a:noFill/>
        </p:spPr>
        <p:txBody>
          <a:bodyPr wrap="square" rtlCol="0">
            <a:spAutoFit/>
          </a:bodyPr>
          <a:lstStyle/>
          <a:p>
            <a:r>
              <a:rPr lang="en-US" b="1" dirty="0"/>
              <a:t>Apparatus used by Ivan Pavlov</a:t>
            </a:r>
            <a:endParaRPr lang="en-IN" b="1" dirty="0"/>
          </a:p>
        </p:txBody>
      </p:sp>
    </p:spTree>
    <p:extLst>
      <p:ext uri="{BB962C8B-B14F-4D97-AF65-F5344CB8AC3E}">
        <p14:creationId xmlns:p14="http://schemas.microsoft.com/office/powerpoint/2010/main" val="1165820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half" idx="1"/>
          </p:nvPr>
        </p:nvSpPr>
        <p:spPr>
          <a:xfrm>
            <a:off x="606047" y="1758156"/>
            <a:ext cx="5181600" cy="4141901"/>
          </a:xfrm>
          <a:solidFill>
            <a:schemeClr val="tx2">
              <a:lumMod val="10000"/>
              <a:lumOff val="90000"/>
            </a:schemeClr>
          </a:solidFill>
        </p:spPr>
        <p:txBody>
          <a:bodyPr>
            <a:noAutofit/>
          </a:bodyPr>
          <a:lstStyle/>
          <a:p>
            <a:pPr>
              <a:spcBef>
                <a:spcPts val="0"/>
              </a:spcBef>
            </a:pPr>
            <a:r>
              <a:rPr lang="en-US" sz="2200" b="1" dirty="0"/>
              <a:t>Unconditioned stimulus ( = unlearned) : </a:t>
            </a:r>
            <a:r>
              <a:rPr lang="en-US" sz="2200" dirty="0"/>
              <a:t>(UCS) stimulus consistently evoke a response, often involuntary in nature, or is reliably followed by one,– e.g. food</a:t>
            </a:r>
          </a:p>
          <a:p>
            <a:pPr>
              <a:spcBef>
                <a:spcPts val="0"/>
              </a:spcBef>
            </a:pPr>
            <a:endParaRPr lang="en-US" sz="2200" dirty="0"/>
          </a:p>
          <a:p>
            <a:pPr>
              <a:spcBef>
                <a:spcPts val="0"/>
              </a:spcBef>
            </a:pPr>
            <a:r>
              <a:rPr lang="en-US" sz="2200" b="1" dirty="0"/>
              <a:t>Conditioned Stimulus:</a:t>
            </a:r>
            <a:r>
              <a:rPr lang="en-US" sz="2200" dirty="0"/>
              <a:t> (CS) – neutral initially- has only a function of alerting, or attentional the first few times – e.g. bell</a:t>
            </a:r>
          </a:p>
          <a:p>
            <a:pPr>
              <a:spcBef>
                <a:spcPts val="0"/>
              </a:spcBef>
            </a:pPr>
            <a:endParaRPr lang="en-US" sz="2200" dirty="0"/>
          </a:p>
          <a:p>
            <a:pPr>
              <a:spcBef>
                <a:spcPts val="0"/>
              </a:spcBef>
            </a:pPr>
            <a:r>
              <a:rPr lang="en-US" sz="2200" b="1" dirty="0"/>
              <a:t>Unconditioned response: </a:t>
            </a:r>
            <a:r>
              <a:rPr lang="en-US" sz="2200" dirty="0"/>
              <a:t>response following the UCS</a:t>
            </a:r>
          </a:p>
          <a:p>
            <a:pPr>
              <a:spcBef>
                <a:spcPts val="0"/>
              </a:spcBef>
            </a:pPr>
            <a:endParaRPr lang="en-IN" sz="2200" dirty="0"/>
          </a:p>
        </p:txBody>
      </p:sp>
      <p:pic>
        <p:nvPicPr>
          <p:cNvPr id="5" name="Picture 4"/>
          <p:cNvPicPr>
            <a:picLocks noChangeAspect="1"/>
          </p:cNvPicPr>
          <p:nvPr/>
        </p:nvPicPr>
        <p:blipFill>
          <a:blip r:embed="rId2"/>
          <a:stretch>
            <a:fillRect/>
          </a:stretch>
        </p:blipFill>
        <p:spPr>
          <a:xfrm>
            <a:off x="6368143" y="365125"/>
            <a:ext cx="5627914" cy="6492875"/>
          </a:xfrm>
          <a:prstGeom prst="rect">
            <a:avLst/>
          </a:prstGeom>
        </p:spPr>
      </p:pic>
      <p:sp>
        <p:nvSpPr>
          <p:cNvPr id="8" name="Right Arrow 7"/>
          <p:cNvSpPr/>
          <p:nvPr/>
        </p:nvSpPr>
        <p:spPr>
          <a:xfrm>
            <a:off x="2329543" y="6198733"/>
            <a:ext cx="867304" cy="343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flipH="1">
            <a:off x="1513113" y="6198732"/>
            <a:ext cx="816429" cy="369332"/>
          </a:xfrm>
          <a:prstGeom prst="rect">
            <a:avLst/>
          </a:prstGeom>
          <a:solidFill>
            <a:schemeClr val="accent1">
              <a:lumMod val="60000"/>
              <a:lumOff val="40000"/>
            </a:schemeClr>
          </a:solidFill>
        </p:spPr>
        <p:txBody>
          <a:bodyPr wrap="square" rtlCol="0">
            <a:spAutoFit/>
          </a:bodyPr>
          <a:lstStyle/>
          <a:p>
            <a:r>
              <a:rPr lang="en-US" b="1" dirty="0"/>
              <a:t>UCR</a:t>
            </a:r>
            <a:endParaRPr lang="en-IN" b="1" dirty="0"/>
          </a:p>
        </p:txBody>
      </p:sp>
      <p:sp>
        <p:nvSpPr>
          <p:cNvPr id="10" name="TextBox 9"/>
          <p:cNvSpPr txBox="1"/>
          <p:nvPr/>
        </p:nvSpPr>
        <p:spPr>
          <a:xfrm>
            <a:off x="3280267" y="6198732"/>
            <a:ext cx="838200" cy="369332"/>
          </a:xfrm>
          <a:prstGeom prst="rect">
            <a:avLst/>
          </a:prstGeom>
          <a:solidFill>
            <a:schemeClr val="accent1">
              <a:lumMod val="60000"/>
              <a:lumOff val="40000"/>
            </a:schemeClr>
          </a:solidFill>
        </p:spPr>
        <p:txBody>
          <a:bodyPr wrap="square" rtlCol="0">
            <a:spAutoFit/>
          </a:bodyPr>
          <a:lstStyle/>
          <a:p>
            <a:r>
              <a:rPr lang="en-US" b="1" dirty="0"/>
              <a:t>CR</a:t>
            </a:r>
            <a:endParaRPr lang="en-IN" b="1" dirty="0"/>
          </a:p>
        </p:txBody>
      </p:sp>
    </p:spTree>
    <p:extLst>
      <p:ext uri="{BB962C8B-B14F-4D97-AF65-F5344CB8AC3E}">
        <p14:creationId xmlns:p14="http://schemas.microsoft.com/office/powerpoint/2010/main" val="343213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sz="half" idx="1"/>
          </p:nvPr>
        </p:nvPicPr>
        <p:blipFill>
          <a:blip r:embed="rId2"/>
          <a:stretch>
            <a:fillRect/>
          </a:stretch>
        </p:blipFill>
        <p:spPr>
          <a:xfrm>
            <a:off x="6357730" y="1887883"/>
            <a:ext cx="4996070" cy="4604992"/>
          </a:xfrm>
          <a:prstGeom prst="rect">
            <a:avLst/>
          </a:prstGeom>
        </p:spPr>
      </p:pic>
      <p:pic>
        <p:nvPicPr>
          <p:cNvPr id="1026" name="Picture 2" descr="Picture">
            <a:extLst>
              <a:ext uri="{FF2B5EF4-FFF2-40B4-BE49-F238E27FC236}">
                <a16:creationId xmlns:a16="http://schemas.microsoft.com/office/drawing/2014/main" id="{FB3A49A3-C8AD-A24C-0BDE-EC32DAB00D9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38199" y="1887882"/>
            <a:ext cx="4996069" cy="4604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74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BD95-AC06-0CC0-0D87-1A38331B8888}"/>
              </a:ext>
            </a:extLst>
          </p:cNvPr>
          <p:cNvSpPr>
            <a:spLocks noGrp="1"/>
          </p:cNvSpPr>
          <p:nvPr>
            <p:ph type="title"/>
          </p:nvPr>
        </p:nvSpPr>
        <p:spPr/>
        <p:txBody>
          <a:bodyPr/>
          <a:lstStyle/>
          <a:p>
            <a:endParaRPr lang="en-IN"/>
          </a:p>
        </p:txBody>
      </p:sp>
      <p:pic>
        <p:nvPicPr>
          <p:cNvPr id="2050" name="Picture 2" descr="Classical Conditioning : r/funny">
            <a:extLst>
              <a:ext uri="{FF2B5EF4-FFF2-40B4-BE49-F238E27FC236}">
                <a16:creationId xmlns:a16="http://schemas.microsoft.com/office/drawing/2014/main" id="{0016E3A4-008D-3301-992C-7C4F74E5118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46771" y="1825625"/>
            <a:ext cx="4957898" cy="495789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 don't get it : r/ExplainTheJoke">
            <a:extLst>
              <a:ext uri="{FF2B5EF4-FFF2-40B4-BE49-F238E27FC236}">
                <a16:creationId xmlns:a16="http://schemas.microsoft.com/office/drawing/2014/main" id="{F79F02E1-9027-F2AD-E1A0-FB48B671150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44267" y="1825626"/>
            <a:ext cx="5096884" cy="4755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0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B6CD-C447-8A8F-4ED7-B3FF4659E295}"/>
              </a:ext>
            </a:extLst>
          </p:cNvPr>
          <p:cNvSpPr>
            <a:spLocks noGrp="1"/>
          </p:cNvSpPr>
          <p:nvPr>
            <p:ph type="title"/>
          </p:nvPr>
        </p:nvSpPr>
        <p:spPr/>
        <p:txBody>
          <a:bodyPr/>
          <a:lstStyle/>
          <a:p>
            <a:r>
              <a:rPr lang="en-IN" dirty="0"/>
              <a:t>Everyday occurrences using Classical Conditioning</a:t>
            </a:r>
          </a:p>
        </p:txBody>
      </p:sp>
      <p:pic>
        <p:nvPicPr>
          <p:cNvPr id="6" name="Content Placeholder 5">
            <a:extLst>
              <a:ext uri="{FF2B5EF4-FFF2-40B4-BE49-F238E27FC236}">
                <a16:creationId xmlns:a16="http://schemas.microsoft.com/office/drawing/2014/main" id="{B4F7BF1E-E785-C7F4-FC43-7F0B097F2559}"/>
              </a:ext>
            </a:extLst>
          </p:cNvPr>
          <p:cNvPicPr>
            <a:picLocks noGrp="1" noChangeAspect="1"/>
          </p:cNvPicPr>
          <p:nvPr>
            <p:ph sz="half" idx="1"/>
          </p:nvPr>
        </p:nvPicPr>
        <p:blipFill>
          <a:blip r:embed="rId2"/>
          <a:stretch>
            <a:fillRect/>
          </a:stretch>
        </p:blipFill>
        <p:spPr>
          <a:xfrm>
            <a:off x="914400" y="1825625"/>
            <a:ext cx="4458151" cy="4351338"/>
          </a:xfrm>
        </p:spPr>
      </p:pic>
      <p:sp>
        <p:nvSpPr>
          <p:cNvPr id="4" name="Content Placeholder 3">
            <a:extLst>
              <a:ext uri="{FF2B5EF4-FFF2-40B4-BE49-F238E27FC236}">
                <a16:creationId xmlns:a16="http://schemas.microsoft.com/office/drawing/2014/main" id="{8DE452DA-CA2D-DE01-FBBB-046EB6CA1048}"/>
              </a:ext>
            </a:extLst>
          </p:cNvPr>
          <p:cNvSpPr>
            <a:spLocks noGrp="1"/>
          </p:cNvSpPr>
          <p:nvPr>
            <p:ph sz="half" idx="2"/>
          </p:nvPr>
        </p:nvSpPr>
        <p:spPr>
          <a:xfrm>
            <a:off x="6172199" y="1161596"/>
            <a:ext cx="5736771" cy="4351338"/>
          </a:xfrm>
        </p:spPr>
        <p:txBody>
          <a:bodyPr>
            <a:noAutofit/>
          </a:bodyPr>
          <a:lstStyle/>
          <a:p>
            <a:pPr algn="l"/>
            <a:r>
              <a:rPr lang="en-US" sz="2000" b="0" i="0" u="none" strike="noStrike" baseline="0" dirty="0">
                <a:latin typeface="Goudy Old Style" panose="02020502050305020303" pitchFamily="18" charset="0"/>
              </a:rPr>
              <a:t>Does your mouth water when you merely </a:t>
            </a:r>
            <a:r>
              <a:rPr lang="en-US" sz="2000" b="0" i="1" u="none" strike="noStrike" baseline="0" dirty="0">
                <a:latin typeface="Goudy Old Style" panose="02020502050305020303" pitchFamily="18" charset="0"/>
              </a:rPr>
              <a:t>see </a:t>
            </a:r>
            <a:r>
              <a:rPr lang="en-US" sz="2000" b="0" i="0" u="none" strike="noStrike" baseline="0" dirty="0">
                <a:latin typeface="Goudy Old Style" panose="02020502050305020303" pitchFamily="18" charset="0"/>
              </a:rPr>
              <a:t>an advertisement for your favorite food on television?</a:t>
            </a:r>
          </a:p>
          <a:p>
            <a:pPr algn="l"/>
            <a:r>
              <a:rPr lang="en-US" sz="2000" b="0" i="0" u="none" strike="noStrike" baseline="0" dirty="0">
                <a:latin typeface="Goudy Old Style" panose="02020502050305020303" pitchFamily="18" charset="0"/>
              </a:rPr>
              <a:t>Do you feel anxious every time you hear the high-pitched whine of the dentist’s drill?</a:t>
            </a:r>
          </a:p>
          <a:p>
            <a:pPr algn="l"/>
            <a:r>
              <a:rPr lang="en-US" sz="2000" b="0" i="0" dirty="0">
                <a:solidFill>
                  <a:srgbClr val="242424"/>
                </a:solidFill>
                <a:effectLst/>
                <a:latin typeface="Goudy Old Style" panose="02020502050305020303" pitchFamily="18" charset="0"/>
              </a:rPr>
              <a:t>The familiar ping of a notification can make your heart pump with excitement, or it could induce stress. </a:t>
            </a:r>
          </a:p>
          <a:p>
            <a:pPr marL="0" indent="0" algn="l">
              <a:buNone/>
            </a:pPr>
            <a:endParaRPr lang="en-US" sz="2000" dirty="0">
              <a:solidFill>
                <a:srgbClr val="242424"/>
              </a:solidFill>
              <a:effectLst/>
              <a:latin typeface="Goudy Old Style" panose="02020502050305020303" pitchFamily="18" charset="0"/>
            </a:endParaRPr>
          </a:p>
          <a:p>
            <a:pPr algn="l">
              <a:lnSpc>
                <a:spcPts val="2400"/>
              </a:lnSpc>
              <a:spcBef>
                <a:spcPts val="0"/>
              </a:spcBef>
              <a:buFont typeface="Arial" panose="020B0604020202020204" pitchFamily="34" charset="0"/>
              <a:buChar char="•"/>
            </a:pPr>
            <a:r>
              <a:rPr lang="en-US" sz="2000" b="1" i="0" dirty="0">
                <a:solidFill>
                  <a:srgbClr val="242424"/>
                </a:solidFill>
                <a:effectLst/>
                <a:latin typeface="Goudy Old Style" panose="02020502050305020303" pitchFamily="18" charset="0"/>
              </a:rPr>
              <a:t>Neutral Stimulus:</a:t>
            </a:r>
            <a:r>
              <a:rPr lang="en-US" sz="2000" b="0" i="0" dirty="0">
                <a:solidFill>
                  <a:srgbClr val="242424"/>
                </a:solidFill>
                <a:effectLst/>
                <a:latin typeface="Goudy Old Style" panose="02020502050305020303" pitchFamily="18" charset="0"/>
              </a:rPr>
              <a:t> Notification Sound</a:t>
            </a:r>
          </a:p>
          <a:p>
            <a:pPr algn="l">
              <a:lnSpc>
                <a:spcPts val="2400"/>
              </a:lnSpc>
              <a:spcBef>
                <a:spcPts val="0"/>
              </a:spcBef>
              <a:buFont typeface="Arial" panose="020B0604020202020204" pitchFamily="34" charset="0"/>
              <a:buChar char="•"/>
            </a:pPr>
            <a:r>
              <a:rPr lang="en-US" sz="2000" b="1" i="0" dirty="0">
                <a:solidFill>
                  <a:srgbClr val="242424"/>
                </a:solidFill>
                <a:effectLst/>
                <a:latin typeface="Goudy Old Style" panose="02020502050305020303" pitchFamily="18" charset="0"/>
              </a:rPr>
              <a:t>Unconditioned Response:</a:t>
            </a:r>
            <a:r>
              <a:rPr lang="en-US" sz="2000" b="0" i="0" dirty="0">
                <a:solidFill>
                  <a:srgbClr val="242424"/>
                </a:solidFill>
                <a:effectLst/>
                <a:latin typeface="Goudy Old Style" panose="02020502050305020303" pitchFamily="18" charset="0"/>
              </a:rPr>
              <a:t> No emotional reaction</a:t>
            </a:r>
          </a:p>
          <a:p>
            <a:pPr algn="l">
              <a:lnSpc>
                <a:spcPts val="2400"/>
              </a:lnSpc>
              <a:spcBef>
                <a:spcPts val="0"/>
              </a:spcBef>
              <a:buFont typeface="Arial" panose="020B0604020202020204" pitchFamily="34" charset="0"/>
              <a:buChar char="•"/>
            </a:pPr>
            <a:r>
              <a:rPr lang="en-US" sz="2000" b="1" i="0" dirty="0">
                <a:solidFill>
                  <a:srgbClr val="242424"/>
                </a:solidFill>
                <a:effectLst/>
                <a:latin typeface="Goudy Old Style" panose="02020502050305020303" pitchFamily="18" charset="0"/>
              </a:rPr>
              <a:t>Natural Stimulus:</a:t>
            </a:r>
            <a:r>
              <a:rPr lang="en-US" sz="2000" b="0" i="0" dirty="0">
                <a:solidFill>
                  <a:srgbClr val="242424"/>
                </a:solidFill>
                <a:effectLst/>
                <a:latin typeface="Goudy Old Style" panose="02020502050305020303" pitchFamily="18" charset="0"/>
              </a:rPr>
              <a:t> Something that triggers an emotional response</a:t>
            </a:r>
          </a:p>
          <a:p>
            <a:pPr algn="l">
              <a:lnSpc>
                <a:spcPts val="2400"/>
              </a:lnSpc>
              <a:spcBef>
                <a:spcPts val="0"/>
              </a:spcBef>
              <a:buFont typeface="Arial" panose="020B0604020202020204" pitchFamily="34" charset="0"/>
              <a:buChar char="•"/>
            </a:pPr>
            <a:r>
              <a:rPr lang="en-US" sz="2000" b="1" i="0" dirty="0">
                <a:solidFill>
                  <a:srgbClr val="242424"/>
                </a:solidFill>
                <a:effectLst/>
                <a:latin typeface="Goudy Old Style" panose="02020502050305020303" pitchFamily="18" charset="0"/>
              </a:rPr>
              <a:t>Natural Response:</a:t>
            </a:r>
            <a:r>
              <a:rPr lang="en-US" sz="2000" b="0" i="0" dirty="0">
                <a:solidFill>
                  <a:srgbClr val="242424"/>
                </a:solidFill>
                <a:effectLst/>
                <a:latin typeface="Goudy Old Style" panose="02020502050305020303" pitchFamily="18" charset="0"/>
              </a:rPr>
              <a:t> Emotional Response (stress or excitement)</a:t>
            </a:r>
          </a:p>
          <a:p>
            <a:pPr algn="l">
              <a:lnSpc>
                <a:spcPts val="2400"/>
              </a:lnSpc>
              <a:spcBef>
                <a:spcPts val="0"/>
              </a:spcBef>
              <a:buFont typeface="Arial" panose="020B0604020202020204" pitchFamily="34" charset="0"/>
              <a:buChar char="•"/>
            </a:pPr>
            <a:r>
              <a:rPr lang="en-US" sz="2000" b="1" i="0" dirty="0">
                <a:solidFill>
                  <a:srgbClr val="242424"/>
                </a:solidFill>
                <a:effectLst/>
                <a:latin typeface="Goudy Old Style" panose="02020502050305020303" pitchFamily="18" charset="0"/>
              </a:rPr>
              <a:t>Conditioned Stimulus:</a:t>
            </a:r>
            <a:r>
              <a:rPr lang="en-US" sz="2000" b="0" i="0" dirty="0">
                <a:solidFill>
                  <a:srgbClr val="242424"/>
                </a:solidFill>
                <a:effectLst/>
                <a:latin typeface="Goudy Old Style" panose="02020502050305020303" pitchFamily="18" charset="0"/>
              </a:rPr>
              <a:t> Notification Sound</a:t>
            </a:r>
          </a:p>
          <a:p>
            <a:pPr algn="l">
              <a:lnSpc>
                <a:spcPts val="2400"/>
              </a:lnSpc>
              <a:spcBef>
                <a:spcPts val="0"/>
              </a:spcBef>
              <a:buFont typeface="Arial" panose="020B0604020202020204" pitchFamily="34" charset="0"/>
              <a:buChar char="•"/>
            </a:pPr>
            <a:r>
              <a:rPr lang="en-US" sz="2000" b="1" i="0" dirty="0">
                <a:solidFill>
                  <a:srgbClr val="242424"/>
                </a:solidFill>
                <a:effectLst/>
                <a:latin typeface="Goudy Old Style" panose="02020502050305020303" pitchFamily="18" charset="0"/>
              </a:rPr>
              <a:t>Conditioned Response:</a:t>
            </a:r>
            <a:r>
              <a:rPr lang="en-US" sz="2000" b="0" i="0" dirty="0">
                <a:solidFill>
                  <a:srgbClr val="242424"/>
                </a:solidFill>
                <a:effectLst/>
                <a:latin typeface="Goudy Old Style" panose="02020502050305020303" pitchFamily="18" charset="0"/>
              </a:rPr>
              <a:t> Emotional Response (stress or excitement)</a:t>
            </a:r>
          </a:p>
        </p:txBody>
      </p:sp>
    </p:spTree>
    <p:extLst>
      <p:ext uri="{BB962C8B-B14F-4D97-AF65-F5344CB8AC3E}">
        <p14:creationId xmlns:p14="http://schemas.microsoft.com/office/powerpoint/2010/main" val="81547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8B291-A534-5F9A-014C-71068C8BC391}"/>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32EB3740-147F-6730-5B74-B73F606804A3}"/>
              </a:ext>
            </a:extLst>
          </p:cNvPr>
          <p:cNvPicPr>
            <a:picLocks noGrp="1" noChangeAspect="1"/>
          </p:cNvPicPr>
          <p:nvPr>
            <p:ph idx="1"/>
          </p:nvPr>
        </p:nvPicPr>
        <p:blipFill>
          <a:blip r:embed="rId2"/>
          <a:stretch>
            <a:fillRect/>
          </a:stretch>
        </p:blipFill>
        <p:spPr>
          <a:xfrm>
            <a:off x="306557" y="223024"/>
            <a:ext cx="11681003" cy="6634976"/>
          </a:xfrm>
        </p:spPr>
      </p:pic>
    </p:spTree>
    <p:extLst>
      <p:ext uri="{BB962C8B-B14F-4D97-AF65-F5344CB8AC3E}">
        <p14:creationId xmlns:p14="http://schemas.microsoft.com/office/powerpoint/2010/main" val="1413598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E372C-2761-CD6B-D761-E44823634AD6}"/>
              </a:ext>
            </a:extLst>
          </p:cNvPr>
          <p:cNvSpPr>
            <a:spLocks noGrp="1"/>
          </p:cNvSpPr>
          <p:nvPr>
            <p:ph type="title"/>
          </p:nvPr>
        </p:nvSpPr>
        <p:spPr>
          <a:xfrm>
            <a:off x="696113" y="98659"/>
            <a:ext cx="4977976" cy="1454051"/>
          </a:xfrm>
        </p:spPr>
        <p:txBody>
          <a:bodyPr>
            <a:normAutofit/>
          </a:bodyPr>
          <a:lstStyle/>
          <a:p>
            <a:r>
              <a:rPr lang="en-US" sz="3600" dirty="0">
                <a:solidFill>
                  <a:schemeClr val="tx2"/>
                </a:solidFill>
                <a:latin typeface="PalatinoLTPro-Roman"/>
              </a:rPr>
              <a:t>Few basic principles about the process</a:t>
            </a:r>
            <a:endParaRPr lang="en-IN" sz="3600" dirty="0">
              <a:solidFill>
                <a:schemeClr val="tx2"/>
              </a:solidFill>
            </a:endParaRPr>
          </a:p>
        </p:txBody>
      </p:sp>
      <p:sp>
        <p:nvSpPr>
          <p:cNvPr id="3" name="Content Placeholder 2">
            <a:extLst>
              <a:ext uri="{FF2B5EF4-FFF2-40B4-BE49-F238E27FC236}">
                <a16:creationId xmlns:a16="http://schemas.microsoft.com/office/drawing/2014/main" id="{D8E71B7F-85CC-87F1-1580-2CD2886D70DC}"/>
              </a:ext>
            </a:extLst>
          </p:cNvPr>
          <p:cNvSpPr>
            <a:spLocks noGrp="1"/>
          </p:cNvSpPr>
          <p:nvPr>
            <p:ph idx="1"/>
          </p:nvPr>
        </p:nvSpPr>
        <p:spPr>
          <a:xfrm>
            <a:off x="620486" y="1284514"/>
            <a:ext cx="5606143" cy="5400753"/>
          </a:xfrm>
        </p:spPr>
        <p:txBody>
          <a:bodyPr anchor="ctr">
            <a:normAutofit/>
          </a:bodyPr>
          <a:lstStyle/>
          <a:p>
            <a:pPr marL="0" indent="0">
              <a:buNone/>
            </a:pPr>
            <a:r>
              <a:rPr lang="en-US" sz="1600" b="0" i="0" u="none" strike="noStrike" baseline="0" dirty="0">
                <a:solidFill>
                  <a:schemeClr val="tx2"/>
                </a:solidFill>
                <a:latin typeface="PalatinoLTPro-Medium"/>
              </a:rPr>
              <a:t>1. </a:t>
            </a:r>
            <a:r>
              <a:rPr lang="en-US" sz="1600" b="0" i="0" u="none" strike="noStrike" baseline="0" dirty="0">
                <a:solidFill>
                  <a:schemeClr val="tx2"/>
                </a:solidFill>
                <a:latin typeface="PalatinoLTPro-Roman"/>
              </a:rPr>
              <a:t>The CS must come </a:t>
            </a:r>
            <a:r>
              <a:rPr lang="en-US" sz="1600" b="0" i="1" u="none" strike="noStrike" baseline="0" dirty="0">
                <a:solidFill>
                  <a:schemeClr val="tx2"/>
                </a:solidFill>
                <a:latin typeface="PalatinoLTPro-Italic"/>
              </a:rPr>
              <a:t>before </a:t>
            </a:r>
            <a:r>
              <a:rPr lang="en-US" sz="1600" b="0" i="0" u="none" strike="noStrike" baseline="0" dirty="0">
                <a:solidFill>
                  <a:schemeClr val="tx2"/>
                </a:solidFill>
                <a:latin typeface="PalatinoLTPro-Roman"/>
              </a:rPr>
              <a:t>the UCS. If Pavlov sounded the metronome just after he gave the dogs the food, they did not become conditioned (Rescorla, 1988).</a:t>
            </a:r>
          </a:p>
          <a:p>
            <a:pPr marL="0" indent="0">
              <a:buNone/>
            </a:pPr>
            <a:r>
              <a:rPr lang="en-US" sz="1600" b="0" i="0" u="none" strike="noStrike" baseline="0" dirty="0">
                <a:solidFill>
                  <a:schemeClr val="tx2"/>
                </a:solidFill>
                <a:latin typeface="PalatinoLTPro-Roman"/>
              </a:rPr>
              <a:t>2. The CS and UCS must come very close together in time—ideally, no more than 5 seconds apart. When Pavlov tried to stretch the time between the potential CS and the UCS to several minutes, no association or link between the two was made. Too much could happen in the longer interval of time to interfere with conditioning </a:t>
            </a:r>
            <a:r>
              <a:rPr lang="en-IN" sz="1600" b="0" i="0" u="none" strike="noStrike" baseline="0" dirty="0">
                <a:solidFill>
                  <a:schemeClr val="tx2"/>
                </a:solidFill>
                <a:latin typeface="PalatinoLTPro-Roman"/>
              </a:rPr>
              <a:t>(Pavlov, 1926; Ward et al., 2012; Wasserman &amp; Miller, 1997). </a:t>
            </a:r>
            <a:endParaRPr lang="en-US" sz="1600" b="0" i="0" u="none" strike="noStrike" baseline="0" dirty="0">
              <a:solidFill>
                <a:schemeClr val="tx2"/>
              </a:solidFill>
              <a:latin typeface="PalatinoLTPro-Roman"/>
            </a:endParaRPr>
          </a:p>
          <a:p>
            <a:pPr marL="0" indent="0">
              <a:buNone/>
            </a:pPr>
            <a:r>
              <a:rPr lang="en-US" sz="1600" b="0" i="0" u="none" strike="noStrike" baseline="0" dirty="0">
                <a:solidFill>
                  <a:schemeClr val="tx2"/>
                </a:solidFill>
                <a:latin typeface="PalatinoLTPro-Roman"/>
              </a:rPr>
              <a:t>3. The neutral stimulus must be paired with the UCS several times, often many times, before conditioning can take place (Pavlov, 1926).</a:t>
            </a:r>
          </a:p>
          <a:p>
            <a:pPr marL="0" indent="0">
              <a:buNone/>
            </a:pPr>
            <a:r>
              <a:rPr lang="en-US" sz="1600" b="0" i="0" u="none" strike="noStrike" baseline="0" dirty="0">
                <a:solidFill>
                  <a:schemeClr val="tx2"/>
                </a:solidFill>
                <a:latin typeface="PalatinoLTPro-Medium"/>
              </a:rPr>
              <a:t>4. </a:t>
            </a:r>
            <a:r>
              <a:rPr lang="en-US" sz="1600" b="0" i="0" u="none" strike="noStrike" baseline="0" dirty="0">
                <a:solidFill>
                  <a:schemeClr val="tx2"/>
                </a:solidFill>
                <a:latin typeface="PalatinoLTPro-Roman"/>
              </a:rPr>
              <a:t>The CS is usually some stimulus that is distinctive* or stands out from other competing stimuli. The metronome, for example, was a sound that was not normally present in the laboratory and, therefore, distinct (Pavlov, 1927; </a:t>
            </a:r>
            <a:r>
              <a:rPr lang="en-IN" sz="1600" b="0" i="0" u="none" strike="noStrike" baseline="0" dirty="0">
                <a:solidFill>
                  <a:schemeClr val="tx2"/>
                </a:solidFill>
                <a:latin typeface="PalatinoLTPro-Roman"/>
              </a:rPr>
              <a:t>Rescorla, 1988).</a:t>
            </a:r>
            <a:endParaRPr lang="en-IN" sz="1600" dirty="0">
              <a:solidFill>
                <a:schemeClr val="tx2"/>
              </a:solidFill>
            </a:endParaRPr>
          </a:p>
        </p:txBody>
      </p:sp>
      <p:grpSp>
        <p:nvGrpSpPr>
          <p:cNvPr id="21" name="Group 20">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2" name="Freeform: Shape 21">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Graphic 24" descr="Dog">
            <a:extLst>
              <a:ext uri="{FF2B5EF4-FFF2-40B4-BE49-F238E27FC236}">
                <a16:creationId xmlns:a16="http://schemas.microsoft.com/office/drawing/2014/main" id="{E11E7B7A-D835-341A-BF43-9DAB8E8A6A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60563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4F902F1-003D-7460-ED37-3437D3523AEE}"/>
              </a:ext>
            </a:extLst>
          </p:cNvPr>
          <p:cNvSpPr>
            <a:spLocks noGrp="1"/>
          </p:cNvSpPr>
          <p:nvPr>
            <p:ph sz="half" idx="1"/>
          </p:nvPr>
        </p:nvSpPr>
        <p:spPr>
          <a:xfrm>
            <a:off x="838200" y="664029"/>
            <a:ext cx="5181600" cy="5943600"/>
          </a:xfrm>
        </p:spPr>
        <p:txBody>
          <a:bodyPr>
            <a:normAutofit lnSpcReduction="10000"/>
          </a:bodyPr>
          <a:lstStyle/>
          <a:p>
            <a:r>
              <a:rPr lang="en-IN" sz="2400" b="1" i="0" u="none" strike="noStrike" baseline="0" dirty="0">
                <a:latin typeface="AdvP6EC5"/>
              </a:rPr>
              <a:t>Stimulus generalization</a:t>
            </a:r>
          </a:p>
          <a:p>
            <a:pPr algn="l"/>
            <a:r>
              <a:rPr lang="en-US" sz="2000" b="0" i="0" u="none" strike="noStrike" baseline="0" dirty="0">
                <a:latin typeface="AdvOTbc475f09"/>
              </a:rPr>
              <a:t>dogs that had been trained to have a conditioned response to a certain tone, would show the same response to a tone that was slightly higher or lower in </a:t>
            </a:r>
            <a:r>
              <a:rPr lang="en-IN" sz="2000" b="0" i="0" u="none" strike="noStrike" baseline="0" dirty="0">
                <a:latin typeface="AdvOTbc475f09"/>
              </a:rPr>
              <a:t>pitch.</a:t>
            </a:r>
          </a:p>
          <a:p>
            <a:pPr algn="l"/>
            <a:r>
              <a:rPr lang="en-US" sz="2400" b="1" dirty="0">
                <a:latin typeface="AdvOT34fe1490.B"/>
              </a:rPr>
              <a:t>R</a:t>
            </a:r>
            <a:r>
              <a:rPr lang="en-US" sz="2400" b="1" i="0" u="none" strike="noStrike" baseline="0" dirty="0">
                <a:latin typeface="AdvOT34fe1490.B"/>
              </a:rPr>
              <a:t>esponse generalization</a:t>
            </a:r>
            <a:r>
              <a:rPr lang="en-US" sz="2400" b="1" i="0" u="none" strike="noStrike" baseline="0" dirty="0">
                <a:latin typeface="AdvOTbc475f09"/>
              </a:rPr>
              <a:t>:</a:t>
            </a:r>
            <a:r>
              <a:rPr lang="en-US" sz="2000" b="0" i="0" u="none" strike="noStrike" baseline="0" dirty="0">
                <a:solidFill>
                  <a:srgbClr val="000000"/>
                </a:solidFill>
                <a:latin typeface="AdvOTbc475f09"/>
              </a:rPr>
              <a:t> the more similar the new stimuli are to the original CS, the more likely they are to evoke the same response.</a:t>
            </a:r>
          </a:p>
          <a:p>
            <a:pPr algn="l"/>
            <a:r>
              <a:rPr lang="en-US" sz="2000" dirty="0">
                <a:latin typeface="AdvOTbc475f09"/>
              </a:rPr>
              <a:t>A</a:t>
            </a:r>
            <a:r>
              <a:rPr lang="en-US" sz="2000" b="0" i="0" u="none" strike="noStrike" baseline="0" dirty="0">
                <a:latin typeface="AdvOTbc475f09"/>
              </a:rPr>
              <a:t>ccounts in part for a human or animal</a:t>
            </a:r>
            <a:r>
              <a:rPr lang="en-US" sz="2000" b="0" i="0" u="none" strike="noStrike" baseline="0" dirty="0">
                <a:latin typeface="AdvOTbc475f09+20"/>
              </a:rPr>
              <a:t>’</a:t>
            </a:r>
            <a:r>
              <a:rPr lang="en-US" sz="2000" b="0" i="0" u="none" strike="noStrike" baseline="0" dirty="0">
                <a:latin typeface="AdvOTbc475f09"/>
              </a:rPr>
              <a:t>s ability to react to novel stimuli that are similar to familiar ones </a:t>
            </a:r>
            <a:r>
              <a:rPr lang="en-US" sz="2000" b="0" i="0" u="none" strike="noStrike" baseline="0" dirty="0">
                <a:latin typeface="AdvOTbc475f09+20"/>
              </a:rPr>
              <a:t>– </a:t>
            </a:r>
            <a:r>
              <a:rPr lang="en-US" sz="2000" b="0" i="0" u="none" strike="noStrike" baseline="0" dirty="0">
                <a:latin typeface="AdvOTbc475f09"/>
              </a:rPr>
              <a:t>an ability that is clearly adaptive</a:t>
            </a:r>
          </a:p>
          <a:p>
            <a:pPr algn="l"/>
            <a:r>
              <a:rPr lang="en-IN" sz="2400" b="1" dirty="0">
                <a:latin typeface="AdvOTbc475f09"/>
              </a:rPr>
              <a:t>Stimulus Discrimination and D</a:t>
            </a:r>
            <a:r>
              <a:rPr lang="en-IN" sz="2400" b="1" i="0" u="none" strike="noStrike" baseline="0" dirty="0">
                <a:latin typeface="AdvOTbc475f09"/>
              </a:rPr>
              <a:t>ifferential </a:t>
            </a:r>
            <a:r>
              <a:rPr lang="en-US" sz="2400" b="1" dirty="0">
                <a:latin typeface="AdvOTbc475f09"/>
              </a:rPr>
              <a:t>conditioning</a:t>
            </a:r>
            <a:r>
              <a:rPr lang="en-US" sz="2400" b="1" i="0" u="none" strike="noStrike" baseline="0" dirty="0">
                <a:latin typeface="AdvOTbc475f09"/>
              </a:rPr>
              <a:t>:</a:t>
            </a:r>
            <a:r>
              <a:rPr lang="en-US" sz="2000" b="0" i="0" u="none" strike="noStrike" baseline="0" dirty="0">
                <a:latin typeface="AdvOTbc475f09"/>
              </a:rPr>
              <a:t> another possible consequence of classical conditioning is a decrease in the probability or magnitude of a behavioral response </a:t>
            </a:r>
            <a:r>
              <a:rPr lang="en-US" sz="2000" b="0" i="0" u="none" strike="noStrike" baseline="0" dirty="0">
                <a:latin typeface="AdvOTbc475f09+20"/>
              </a:rPr>
              <a:t>– </a:t>
            </a:r>
            <a:r>
              <a:rPr lang="en-US" sz="2000" b="0" i="0" u="none" strike="noStrike" baseline="0" dirty="0">
                <a:latin typeface="AdvOTbc475f09"/>
              </a:rPr>
              <a:t>this </a:t>
            </a:r>
            <a:r>
              <a:rPr lang="en-IN" sz="2000" b="0" i="0" u="none" strike="noStrike" baseline="0" dirty="0">
                <a:latin typeface="AdvOTbc475f09"/>
              </a:rPr>
              <a:t>is </a:t>
            </a:r>
            <a:r>
              <a:rPr lang="en-IN" sz="2000" b="0" i="0" u="none" strike="noStrike" baseline="0" dirty="0">
                <a:latin typeface="AdvOT638a931c.I"/>
              </a:rPr>
              <a:t>inhibitory conditioning</a:t>
            </a:r>
            <a:r>
              <a:rPr lang="en-IN" sz="2000" b="0" i="0" u="none" strike="noStrike" baseline="0" dirty="0">
                <a:latin typeface="AdvOTbc475f09"/>
              </a:rPr>
              <a:t>.</a:t>
            </a:r>
            <a:endParaRPr lang="en-IN" sz="2000" dirty="0"/>
          </a:p>
        </p:txBody>
      </p:sp>
      <p:pic>
        <p:nvPicPr>
          <p:cNvPr id="8" name="Content Placeholder 7">
            <a:extLst>
              <a:ext uri="{FF2B5EF4-FFF2-40B4-BE49-F238E27FC236}">
                <a16:creationId xmlns:a16="http://schemas.microsoft.com/office/drawing/2014/main" id="{A6FF5144-4DE5-DC96-8BEC-051DDD680BF0}"/>
              </a:ext>
            </a:extLst>
          </p:cNvPr>
          <p:cNvPicPr>
            <a:picLocks noGrp="1" noChangeAspect="1"/>
          </p:cNvPicPr>
          <p:nvPr>
            <p:ph sz="half" idx="2"/>
          </p:nvPr>
        </p:nvPicPr>
        <p:blipFill>
          <a:blip r:embed="rId2"/>
          <a:stretch>
            <a:fillRect/>
          </a:stretch>
        </p:blipFill>
        <p:spPr>
          <a:xfrm>
            <a:off x="6830220" y="195943"/>
            <a:ext cx="5181600" cy="6542313"/>
          </a:xfrm>
        </p:spPr>
      </p:pic>
    </p:spTree>
    <p:extLst>
      <p:ext uri="{BB962C8B-B14F-4D97-AF65-F5344CB8AC3E}">
        <p14:creationId xmlns:p14="http://schemas.microsoft.com/office/powerpoint/2010/main" val="13083740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E4C49B15-2897-ABE2-6FF7-60B66115C646}"/>
              </a:ext>
            </a:extLst>
          </p:cNvPr>
          <p:cNvGraphicFramePr/>
          <p:nvPr>
            <p:extLst>
              <p:ext uri="{D42A27DB-BD31-4B8C-83A1-F6EECF244321}">
                <p14:modId xmlns:p14="http://schemas.microsoft.com/office/powerpoint/2010/main" val="1187165779"/>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ontent Placeholder 6">
            <a:extLst>
              <a:ext uri="{FF2B5EF4-FFF2-40B4-BE49-F238E27FC236}">
                <a16:creationId xmlns:a16="http://schemas.microsoft.com/office/drawing/2014/main" id="{51CC9039-0470-0464-4767-BA189165CE2A}"/>
              </a:ext>
            </a:extLst>
          </p:cNvPr>
          <p:cNvSpPr>
            <a:spLocks noGrp="1"/>
          </p:cNvSpPr>
          <p:nvPr>
            <p:ph idx="1"/>
          </p:nvPr>
        </p:nvSpPr>
        <p:spPr/>
        <p:txBody>
          <a:bodyPr/>
          <a:lstStyle/>
          <a:p>
            <a:pPr algn="l"/>
            <a:r>
              <a:rPr lang="en-US" sz="1800" b="0" i="0" u="none" strike="noStrike" baseline="0" dirty="0">
                <a:latin typeface="AdvOTbc475f09"/>
              </a:rPr>
              <a:t>Early behaviorists assumed that the laws of learning were the same for all species. Moreover, they assumed that </a:t>
            </a:r>
            <a:r>
              <a:rPr lang="en-US" sz="1800" b="0" i="0" u="none" strike="noStrike" baseline="0" dirty="0">
                <a:latin typeface="AdvOT638a931c.I"/>
              </a:rPr>
              <a:t>any </a:t>
            </a:r>
            <a:r>
              <a:rPr lang="en-US" sz="1800" b="0" i="0" u="none" strike="noStrike" baseline="0" dirty="0">
                <a:latin typeface="AdvOTbc475f09"/>
              </a:rPr>
              <a:t>CS could be associated with </a:t>
            </a:r>
            <a:r>
              <a:rPr lang="en-US" sz="1800" b="0" i="0" u="none" strike="noStrike" baseline="0" dirty="0">
                <a:latin typeface="AdvOT638a931c.I"/>
              </a:rPr>
              <a:t>any </a:t>
            </a:r>
            <a:r>
              <a:rPr lang="en-US" sz="1800" b="0" i="0" u="none" strike="noStrike" baseline="0" dirty="0">
                <a:latin typeface="AdvOTbc475f09"/>
              </a:rPr>
              <a:t>US through classical </a:t>
            </a:r>
            <a:r>
              <a:rPr lang="en-IN" sz="1800" b="0" i="0" u="none" strike="noStrike" baseline="0" dirty="0">
                <a:latin typeface="AdvOTbc475f09"/>
              </a:rPr>
              <a:t>conditioning.</a:t>
            </a:r>
          </a:p>
          <a:p>
            <a:pPr algn="l"/>
            <a:endParaRPr lang="en-IN" sz="1800" dirty="0">
              <a:latin typeface="AdvOTbc475f09"/>
            </a:endParaRPr>
          </a:p>
          <a:p>
            <a:pPr algn="l"/>
            <a:r>
              <a:rPr lang="en-IN" sz="1800" dirty="0">
                <a:latin typeface="AdvOTbc475f09"/>
              </a:rPr>
              <a:t>E</a:t>
            </a:r>
            <a:r>
              <a:rPr lang="en-IN" sz="1800" b="0" i="0" u="none" strike="noStrike" baseline="0" dirty="0">
                <a:latin typeface="AdvOTbc475f09"/>
              </a:rPr>
              <a:t>arly behaviourists firmly on </a:t>
            </a:r>
            <a:r>
              <a:rPr lang="en-US" sz="1800" b="0" i="0" u="none" strike="noStrike" baseline="0" dirty="0">
                <a:latin typeface="AdvOTbc475f09"/>
              </a:rPr>
              <a:t>the </a:t>
            </a:r>
            <a:r>
              <a:rPr lang="en-US" sz="1800" b="0" i="0" u="none" strike="noStrike" baseline="0" dirty="0">
                <a:latin typeface="AdvOT638a931c.I"/>
              </a:rPr>
              <a:t>nurture </a:t>
            </a:r>
            <a:r>
              <a:rPr lang="en-US" sz="1800" b="0" i="0" u="none" strike="noStrike" baseline="0" dirty="0">
                <a:latin typeface="AdvOTbc475f09"/>
              </a:rPr>
              <a:t>side of the nature</a:t>
            </a:r>
            <a:r>
              <a:rPr lang="en-US" sz="1800" b="0" i="0" u="none" strike="noStrike" baseline="0" dirty="0">
                <a:latin typeface="AdvOTbc475f09+20"/>
              </a:rPr>
              <a:t>–</a:t>
            </a:r>
            <a:r>
              <a:rPr lang="en-US" sz="1800" b="0" i="0" u="none" strike="noStrike" baseline="0" dirty="0">
                <a:latin typeface="AdvOTbc475f09"/>
              </a:rPr>
              <a:t>nurture debate: what an organism learns, depends entirely on its experiences with </a:t>
            </a:r>
            <a:r>
              <a:rPr lang="en-IN" sz="1800" b="0" i="0" u="none" strike="noStrike" baseline="0" dirty="0">
                <a:latin typeface="AdvOTbc475f09"/>
              </a:rPr>
              <a:t>the environment. – Babbling behaviour (Watson, 1913).</a:t>
            </a:r>
          </a:p>
          <a:p>
            <a:pPr algn="l"/>
            <a:endParaRPr lang="en-IN" dirty="0"/>
          </a:p>
          <a:p>
            <a:pPr algn="l"/>
            <a:r>
              <a:rPr lang="en-IN" sz="1800" b="0" i="0" u="none" strike="noStrike" baseline="0" dirty="0">
                <a:latin typeface="AdvOTbc475f09"/>
              </a:rPr>
              <a:t>Konrad Lorentz, </a:t>
            </a:r>
            <a:r>
              <a:rPr lang="de-DE" sz="1800" b="0" i="0" u="none" strike="noStrike" baseline="0" dirty="0">
                <a:latin typeface="AdvOTbc475f09"/>
              </a:rPr>
              <a:t>Nikolaas Tinbergen, and Karl von Frisch made discoveries </a:t>
            </a:r>
            <a:r>
              <a:rPr lang="en-US" sz="1800" b="0" i="0" u="none" strike="noStrike" baseline="0" dirty="0">
                <a:latin typeface="AdvOTbc475f09"/>
              </a:rPr>
              <a:t>that revealed powerful </a:t>
            </a:r>
            <a:r>
              <a:rPr lang="en-US" sz="1800" b="0" i="0" u="none" strike="noStrike" baseline="0" dirty="0">
                <a:latin typeface="AdvOT638a931c.I"/>
              </a:rPr>
              <a:t>biological predispositions </a:t>
            </a:r>
            <a:r>
              <a:rPr lang="en-US" sz="1800" b="0" i="0" u="none" strike="noStrike" baseline="0" dirty="0">
                <a:latin typeface="AdvOTbc475f09"/>
              </a:rPr>
              <a:t>in human and animal behavior (Tinbergen, 1951)</a:t>
            </a:r>
            <a:endParaRPr lang="en-IN" dirty="0"/>
          </a:p>
        </p:txBody>
      </p:sp>
    </p:spTree>
    <p:extLst>
      <p:ext uri="{BB962C8B-B14F-4D97-AF65-F5344CB8AC3E}">
        <p14:creationId xmlns:p14="http://schemas.microsoft.com/office/powerpoint/2010/main" val="1042726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AD4254-9ADE-A452-D5F4-ED2FA295D10E}"/>
              </a:ext>
            </a:extLst>
          </p:cNvPr>
          <p:cNvSpPr>
            <a:spLocks noGrp="1"/>
          </p:cNvSpPr>
          <p:nvPr>
            <p:ph type="title"/>
          </p:nvPr>
        </p:nvSpPr>
        <p:spPr>
          <a:xfrm>
            <a:off x="838200" y="365125"/>
            <a:ext cx="10515600" cy="843189"/>
          </a:xfrm>
        </p:spPr>
        <p:txBody>
          <a:bodyPr/>
          <a:lstStyle/>
          <a:p>
            <a:r>
              <a:rPr lang="en-IN" dirty="0"/>
              <a:t>Skinner’s Operant Chamber</a:t>
            </a:r>
          </a:p>
        </p:txBody>
      </p:sp>
      <p:sp>
        <p:nvSpPr>
          <p:cNvPr id="8" name="Content Placeholder 7">
            <a:extLst>
              <a:ext uri="{FF2B5EF4-FFF2-40B4-BE49-F238E27FC236}">
                <a16:creationId xmlns:a16="http://schemas.microsoft.com/office/drawing/2014/main" id="{C7825081-0B5D-E392-8D3D-72246B479A1F}"/>
              </a:ext>
            </a:extLst>
          </p:cNvPr>
          <p:cNvSpPr>
            <a:spLocks noGrp="1"/>
          </p:cNvSpPr>
          <p:nvPr>
            <p:ph sz="half" idx="1"/>
          </p:nvPr>
        </p:nvSpPr>
        <p:spPr>
          <a:xfrm>
            <a:off x="359229" y="1382486"/>
            <a:ext cx="5660571" cy="5245325"/>
          </a:xfrm>
        </p:spPr>
        <p:txBody>
          <a:bodyPr>
            <a:normAutofit fontScale="85000" lnSpcReduction="20000"/>
          </a:bodyPr>
          <a:lstStyle/>
          <a:p>
            <a:r>
              <a:rPr lang="en-US" dirty="0"/>
              <a:t>When a food-deprived rat is placed in the box, its behavior at first is spontaneous and random. The rat is active, sniffing, poking, and exploring its environment. These behaviors are emitted, not elicited; in other words, the rat is not responding to any specific stimulus in its environment.</a:t>
            </a:r>
          </a:p>
          <a:p>
            <a:endParaRPr lang="en-IN" dirty="0"/>
          </a:p>
          <a:p>
            <a:r>
              <a:rPr lang="en-US" dirty="0"/>
              <a:t>At some time during this activity, the rat will depress a lever or bar located on one wall of the Skinner box, causing a food pellet to drop into a trough.</a:t>
            </a:r>
          </a:p>
          <a:p>
            <a:endParaRPr lang="en-US" dirty="0"/>
          </a:p>
          <a:p>
            <a:r>
              <a:rPr lang="en-US" dirty="0"/>
              <a:t>The food is a reinforcer for the behavior of depressing the bar.</a:t>
            </a:r>
            <a:endParaRPr lang="en-IN" dirty="0"/>
          </a:p>
          <a:p>
            <a:endParaRPr lang="en-IN" dirty="0"/>
          </a:p>
        </p:txBody>
      </p:sp>
      <p:pic>
        <p:nvPicPr>
          <p:cNvPr id="10" name="Content Placeholder 4">
            <a:extLst>
              <a:ext uri="{FF2B5EF4-FFF2-40B4-BE49-F238E27FC236}">
                <a16:creationId xmlns:a16="http://schemas.microsoft.com/office/drawing/2014/main" id="{F91671E9-8E99-DA37-C2E2-77C2145258C1}"/>
              </a:ext>
            </a:extLst>
          </p:cNvPr>
          <p:cNvPicPr>
            <a:picLocks noGrp="1" noChangeAspect="1"/>
          </p:cNvPicPr>
          <p:nvPr>
            <p:ph sz="half" idx="2"/>
          </p:nvPr>
        </p:nvPicPr>
        <p:blipFill>
          <a:blip r:embed="rId2"/>
          <a:stretch>
            <a:fillRect/>
          </a:stretch>
        </p:blipFill>
        <p:spPr>
          <a:xfrm>
            <a:off x="6172200" y="1690688"/>
            <a:ext cx="5181600" cy="4802187"/>
          </a:xfrm>
          <a:prstGeom prst="rect">
            <a:avLst/>
          </a:prstGeom>
        </p:spPr>
      </p:pic>
    </p:spTree>
    <p:extLst>
      <p:ext uri="{BB962C8B-B14F-4D97-AF65-F5344CB8AC3E}">
        <p14:creationId xmlns:p14="http://schemas.microsoft.com/office/powerpoint/2010/main" val="1901690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88AB1DC-4B11-7215-8B40-651434192AC0}"/>
              </a:ext>
            </a:extLst>
          </p:cNvPr>
          <p:cNvGraphicFramePr/>
          <p:nvPr>
            <p:extLst>
              <p:ext uri="{D42A27DB-BD31-4B8C-83A1-F6EECF244321}">
                <p14:modId xmlns:p14="http://schemas.microsoft.com/office/powerpoint/2010/main" val="1103103044"/>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CC5F049C-301D-A038-E676-90D2942A7A9F}"/>
              </a:ext>
            </a:extLst>
          </p:cNvPr>
          <p:cNvSpPr>
            <a:spLocks noGrp="1"/>
          </p:cNvSpPr>
          <p:nvPr>
            <p:ph idx="1"/>
          </p:nvPr>
        </p:nvSpPr>
        <p:spPr>
          <a:xfrm>
            <a:off x="838200" y="1825624"/>
            <a:ext cx="5421086" cy="4958895"/>
          </a:xfrm>
        </p:spPr>
        <p:txBody>
          <a:bodyPr>
            <a:normAutofit fontScale="70000" lnSpcReduction="20000"/>
          </a:bodyPr>
          <a:lstStyle/>
          <a:p>
            <a:r>
              <a:rPr lang="en-IN" b="1" dirty="0"/>
              <a:t>Or Instrumental conditioning: </a:t>
            </a:r>
            <a:r>
              <a:rPr lang="en-IN" dirty="0"/>
              <a:t>instrumental – as learning some action ( or behaviour) is instrumental in bringing about a change in the environment that makes the action (or behaviour) more or less likely to occur again in future</a:t>
            </a:r>
          </a:p>
          <a:p>
            <a:r>
              <a:rPr lang="en-IN" dirty="0"/>
              <a:t>E.g. getting a reward </a:t>
            </a:r>
          </a:p>
          <a:p>
            <a:r>
              <a:rPr lang="en-IN" b="1" dirty="0"/>
              <a:t>Reinforcer: </a:t>
            </a:r>
            <a:r>
              <a:rPr lang="en-IN" dirty="0"/>
              <a:t>An environmental event that is the consequence of an instrumental response and that makes that response more likely to occur again- </a:t>
            </a:r>
            <a:r>
              <a:rPr lang="en-IN" b="1" dirty="0">
                <a:solidFill>
                  <a:schemeClr val="accent3"/>
                </a:solidFill>
              </a:rPr>
              <a:t>increases the likelihood that behaviour will occur again</a:t>
            </a:r>
          </a:p>
          <a:p>
            <a:r>
              <a:rPr lang="en-IN" b="1" dirty="0"/>
              <a:t>Positive reinforcer:</a:t>
            </a:r>
            <a:r>
              <a:rPr lang="en-IN" dirty="0"/>
              <a:t> Stimulus or event which when it follows a response increases the likelihood that the response will be made again – bar pressing is followed by food </a:t>
            </a:r>
          </a:p>
          <a:p>
            <a:pPr>
              <a:buFont typeface="Wingdings" panose="05000000000000000000" pitchFamily="2" charset="2"/>
              <a:buChar char="Ø"/>
            </a:pPr>
            <a:r>
              <a:rPr lang="en-IN" dirty="0"/>
              <a:t> the reinforcer has to be contingent upon the instrumental response</a:t>
            </a:r>
          </a:p>
        </p:txBody>
      </p:sp>
      <p:pic>
        <p:nvPicPr>
          <p:cNvPr id="2" name="Picture 1">
            <a:extLst>
              <a:ext uri="{FF2B5EF4-FFF2-40B4-BE49-F238E27FC236}">
                <a16:creationId xmlns:a16="http://schemas.microsoft.com/office/drawing/2014/main" id="{8E352D35-36AC-DD8F-AE8D-68D71B7DDB1F}"/>
              </a:ext>
            </a:extLst>
          </p:cNvPr>
          <p:cNvPicPr>
            <a:picLocks noChangeAspect="1"/>
          </p:cNvPicPr>
          <p:nvPr/>
        </p:nvPicPr>
        <p:blipFill>
          <a:blip r:embed="rId7"/>
          <a:stretch>
            <a:fillRect/>
          </a:stretch>
        </p:blipFill>
        <p:spPr>
          <a:xfrm>
            <a:off x="6738257" y="1746704"/>
            <a:ext cx="4746171" cy="4958896"/>
          </a:xfrm>
          <a:prstGeom prst="rect">
            <a:avLst/>
          </a:prstGeom>
        </p:spPr>
      </p:pic>
    </p:spTree>
    <p:extLst>
      <p:ext uri="{BB962C8B-B14F-4D97-AF65-F5344CB8AC3E}">
        <p14:creationId xmlns:p14="http://schemas.microsoft.com/office/powerpoint/2010/main" val="384309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BACB-F5AA-9FA2-B173-DAEA7A580B8F}"/>
              </a:ext>
            </a:extLst>
          </p:cNvPr>
          <p:cNvSpPr>
            <a:spLocks noGrp="1"/>
          </p:cNvSpPr>
          <p:nvPr>
            <p:ph type="title"/>
          </p:nvPr>
        </p:nvSpPr>
        <p:spPr/>
        <p:txBody>
          <a:bodyPr/>
          <a:lstStyle/>
          <a:p>
            <a:r>
              <a:rPr lang="en-IN" dirty="0"/>
              <a:t>Reinforcers</a:t>
            </a:r>
          </a:p>
        </p:txBody>
      </p:sp>
      <p:sp>
        <p:nvSpPr>
          <p:cNvPr id="3" name="Content Placeholder 2">
            <a:extLst>
              <a:ext uri="{FF2B5EF4-FFF2-40B4-BE49-F238E27FC236}">
                <a16:creationId xmlns:a16="http://schemas.microsoft.com/office/drawing/2014/main" id="{57375E5A-F604-2C51-3E2B-453682E3EE79}"/>
              </a:ext>
            </a:extLst>
          </p:cNvPr>
          <p:cNvSpPr>
            <a:spLocks noGrp="1"/>
          </p:cNvSpPr>
          <p:nvPr>
            <p:ph idx="1"/>
          </p:nvPr>
        </p:nvSpPr>
        <p:spPr>
          <a:xfrm>
            <a:off x="838200" y="1825625"/>
            <a:ext cx="5366657" cy="4667250"/>
          </a:xfrm>
        </p:spPr>
        <p:txBody>
          <a:bodyPr>
            <a:normAutofit fontScale="70000" lnSpcReduction="20000"/>
          </a:bodyPr>
          <a:lstStyle/>
          <a:p>
            <a:pPr>
              <a:spcAft>
                <a:spcPts val="1500"/>
              </a:spcAft>
            </a:pPr>
            <a:r>
              <a:rPr lang="en-US" b="0" i="0" dirty="0">
                <a:solidFill>
                  <a:srgbClr val="000000"/>
                </a:solidFill>
                <a:effectLst/>
                <a:latin typeface="Georgia" panose="02040502050405020303" pitchFamily="18" charset="0"/>
              </a:rPr>
              <a:t>The response results in the occurrence of the reinforcer – that is responses that pay off – are repeated </a:t>
            </a:r>
          </a:p>
          <a:p>
            <a:pPr>
              <a:spcAft>
                <a:spcPts val="1500"/>
              </a:spcAft>
            </a:pPr>
            <a:r>
              <a:rPr lang="en-US" b="0" i="0" dirty="0">
                <a:solidFill>
                  <a:srgbClr val="000000"/>
                </a:solidFill>
                <a:effectLst/>
                <a:latin typeface="Georgia" panose="02040502050405020303" pitchFamily="18" charset="0"/>
              </a:rPr>
              <a:t>E.g. food, water, praise, prize – when contingent on </a:t>
            </a:r>
            <a:r>
              <a:rPr lang="en-US" b="0" i="0" dirty="0" err="1">
                <a:solidFill>
                  <a:srgbClr val="000000"/>
                </a:solidFill>
                <a:effectLst/>
                <a:latin typeface="Georgia" panose="02040502050405020303" pitchFamily="18" charset="0"/>
              </a:rPr>
              <a:t>behaviour</a:t>
            </a:r>
            <a:endParaRPr lang="en-US" b="0" i="0" dirty="0">
              <a:solidFill>
                <a:srgbClr val="000000"/>
              </a:solidFill>
              <a:effectLst/>
              <a:latin typeface="Georgia" panose="02040502050405020303" pitchFamily="18" charset="0"/>
            </a:endParaRPr>
          </a:p>
          <a:p>
            <a:pPr>
              <a:spcAft>
                <a:spcPts val="1500"/>
              </a:spcAft>
            </a:pPr>
            <a:r>
              <a:rPr lang="en-US" b="0" i="0" dirty="0">
                <a:solidFill>
                  <a:srgbClr val="000000"/>
                </a:solidFill>
                <a:effectLst/>
                <a:latin typeface="Georgia" panose="02040502050405020303" pitchFamily="18" charset="0"/>
              </a:rPr>
              <a:t>Primary reinforcers are stimuli that are naturally reinforcing because they are not learned and directly satisfy a need, such as food or water.</a:t>
            </a:r>
          </a:p>
          <a:p>
            <a:pPr algn="l">
              <a:spcAft>
                <a:spcPts val="1500"/>
              </a:spcAft>
            </a:pPr>
            <a:r>
              <a:rPr lang="en-US" b="0" i="0" dirty="0">
                <a:solidFill>
                  <a:srgbClr val="000000"/>
                </a:solidFill>
                <a:effectLst/>
                <a:latin typeface="Georgia" panose="02040502050405020303" pitchFamily="18" charset="0"/>
              </a:rPr>
              <a:t>Secondary reinforcers are stimuli that are reinforced through their association with a primary reinforcer, such as money, school grades. They do not directly satisfy an innate need but may be the means.  So a secondary reinforcer can be just as powerful a motivator as a primary reinforcer.</a:t>
            </a:r>
          </a:p>
          <a:p>
            <a:endParaRPr lang="en-IN" dirty="0"/>
          </a:p>
        </p:txBody>
      </p:sp>
      <p:pic>
        <p:nvPicPr>
          <p:cNvPr id="4" name="Picture 3">
            <a:extLst>
              <a:ext uri="{FF2B5EF4-FFF2-40B4-BE49-F238E27FC236}">
                <a16:creationId xmlns:a16="http://schemas.microsoft.com/office/drawing/2014/main" id="{9D5D18FC-6EB4-6839-644B-820E0BC8B1B2}"/>
              </a:ext>
            </a:extLst>
          </p:cNvPr>
          <p:cNvPicPr>
            <a:picLocks noChangeAspect="1"/>
          </p:cNvPicPr>
          <p:nvPr/>
        </p:nvPicPr>
        <p:blipFill>
          <a:blip r:embed="rId2"/>
          <a:stretch>
            <a:fillRect/>
          </a:stretch>
        </p:blipFill>
        <p:spPr>
          <a:xfrm>
            <a:off x="6161209" y="1198788"/>
            <a:ext cx="4594923" cy="2393497"/>
          </a:xfrm>
          <a:prstGeom prst="rect">
            <a:avLst/>
          </a:prstGeom>
        </p:spPr>
      </p:pic>
      <p:pic>
        <p:nvPicPr>
          <p:cNvPr id="5" name="Picture 4">
            <a:extLst>
              <a:ext uri="{FF2B5EF4-FFF2-40B4-BE49-F238E27FC236}">
                <a16:creationId xmlns:a16="http://schemas.microsoft.com/office/drawing/2014/main" id="{D381B979-4E32-A99F-E3BA-DC7EAFBA666A}"/>
              </a:ext>
            </a:extLst>
          </p:cNvPr>
          <p:cNvPicPr>
            <a:picLocks noChangeAspect="1"/>
          </p:cNvPicPr>
          <p:nvPr/>
        </p:nvPicPr>
        <p:blipFill>
          <a:blip r:embed="rId3"/>
          <a:stretch>
            <a:fillRect/>
          </a:stretch>
        </p:blipFill>
        <p:spPr>
          <a:xfrm>
            <a:off x="7740266" y="2738437"/>
            <a:ext cx="3787600" cy="2920775"/>
          </a:xfrm>
          <a:prstGeom prst="rect">
            <a:avLst/>
          </a:prstGeom>
        </p:spPr>
      </p:pic>
    </p:spTree>
    <p:extLst>
      <p:ext uri="{BB962C8B-B14F-4D97-AF65-F5344CB8AC3E}">
        <p14:creationId xmlns:p14="http://schemas.microsoft.com/office/powerpoint/2010/main" val="128701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6AE0457-3076-7FA4-22D9-179249A70B3E}"/>
              </a:ext>
            </a:extLst>
          </p:cNvPr>
          <p:cNvSpPr>
            <a:spLocks noGrp="1"/>
          </p:cNvSpPr>
          <p:nvPr>
            <p:ph type="body" idx="1"/>
          </p:nvPr>
        </p:nvSpPr>
        <p:spPr>
          <a:xfrm>
            <a:off x="839788" y="472845"/>
            <a:ext cx="5157787" cy="823912"/>
          </a:xfrm>
          <a:solidFill>
            <a:schemeClr val="tx2">
              <a:lumMod val="10000"/>
              <a:lumOff val="90000"/>
            </a:schemeClr>
          </a:solidFill>
        </p:spPr>
        <p:txBody>
          <a:bodyPr/>
          <a:lstStyle/>
          <a:p>
            <a:r>
              <a:rPr lang="en-IN" dirty="0"/>
              <a:t>Negative reinforcer</a:t>
            </a:r>
          </a:p>
        </p:txBody>
      </p:sp>
      <p:sp>
        <p:nvSpPr>
          <p:cNvPr id="3" name="Content Placeholder 2">
            <a:extLst>
              <a:ext uri="{FF2B5EF4-FFF2-40B4-BE49-F238E27FC236}">
                <a16:creationId xmlns:a16="http://schemas.microsoft.com/office/drawing/2014/main" id="{AB6CEF23-E5B4-FA6C-298D-1BAC276F3118}"/>
              </a:ext>
            </a:extLst>
          </p:cNvPr>
          <p:cNvSpPr>
            <a:spLocks noGrp="1"/>
          </p:cNvSpPr>
          <p:nvPr>
            <p:ph sz="half" idx="2"/>
          </p:nvPr>
        </p:nvSpPr>
        <p:spPr>
          <a:xfrm>
            <a:off x="839788" y="1296756"/>
            <a:ext cx="5157787" cy="4810129"/>
          </a:xfrm>
          <a:solidFill>
            <a:schemeClr val="tx2">
              <a:lumMod val="10000"/>
              <a:lumOff val="90000"/>
            </a:schemeClr>
          </a:solidFill>
        </p:spPr>
        <p:txBody>
          <a:bodyPr>
            <a:noAutofit/>
          </a:bodyPr>
          <a:lstStyle/>
          <a:p>
            <a:r>
              <a:rPr lang="en-IN" sz="2200" dirty="0"/>
              <a:t>A stimulus or event which, when its cessation or termination is contingent on a response, increases the likelihood that the response you want them to learn will occur again</a:t>
            </a:r>
          </a:p>
          <a:p>
            <a:r>
              <a:rPr lang="en-IN" sz="2200" dirty="0"/>
              <a:t>The word negative (-</a:t>
            </a:r>
            <a:r>
              <a:rPr lang="en-IN" sz="2200" dirty="0" err="1"/>
              <a:t>ve</a:t>
            </a:r>
            <a:r>
              <a:rPr lang="en-IN" sz="2200" dirty="0"/>
              <a:t>) refers to the fact that the response causes the </a:t>
            </a:r>
            <a:r>
              <a:rPr lang="en-IN" sz="2200" b="1" dirty="0"/>
              <a:t>termination of the event</a:t>
            </a:r>
          </a:p>
          <a:p>
            <a:r>
              <a:rPr lang="en-IN" sz="2200" dirty="0"/>
              <a:t>E.g. bar pressing terminates or prevents shock, bawling by the boss will stop on doing good work</a:t>
            </a:r>
          </a:p>
          <a:p>
            <a:endParaRPr lang="en-IN" sz="800" dirty="0"/>
          </a:p>
          <a:p>
            <a:r>
              <a:rPr lang="en-IN" sz="2200" b="1" dirty="0">
                <a:solidFill>
                  <a:schemeClr val="accent5">
                    <a:lumMod val="60000"/>
                    <a:lumOff val="40000"/>
                  </a:schemeClr>
                </a:solidFill>
              </a:rPr>
              <a:t>Response tend to become</a:t>
            </a:r>
          </a:p>
          <a:p>
            <a:pPr marL="0" indent="0">
              <a:buNone/>
            </a:pPr>
            <a:r>
              <a:rPr lang="en-IN" sz="2200" b="1" dirty="0">
                <a:solidFill>
                  <a:schemeClr val="accent5">
                    <a:lumMod val="60000"/>
                    <a:lumOff val="40000"/>
                  </a:schemeClr>
                </a:solidFill>
              </a:rPr>
              <a:t> more likely</a:t>
            </a:r>
          </a:p>
        </p:txBody>
      </p:sp>
      <p:sp>
        <p:nvSpPr>
          <p:cNvPr id="5" name="Text Placeholder 4">
            <a:extLst>
              <a:ext uri="{FF2B5EF4-FFF2-40B4-BE49-F238E27FC236}">
                <a16:creationId xmlns:a16="http://schemas.microsoft.com/office/drawing/2014/main" id="{ADD22023-C2EF-87CF-C8FA-75C3D6124F38}"/>
              </a:ext>
            </a:extLst>
          </p:cNvPr>
          <p:cNvSpPr>
            <a:spLocks noGrp="1"/>
          </p:cNvSpPr>
          <p:nvPr>
            <p:ph type="body" sz="quarter" idx="3"/>
          </p:nvPr>
        </p:nvSpPr>
        <p:spPr>
          <a:xfrm>
            <a:off x="6172200" y="472845"/>
            <a:ext cx="5183188" cy="823912"/>
          </a:xfrm>
          <a:solidFill>
            <a:schemeClr val="tx2">
              <a:lumMod val="10000"/>
              <a:lumOff val="90000"/>
            </a:schemeClr>
          </a:solidFill>
        </p:spPr>
        <p:txBody>
          <a:bodyPr/>
          <a:lstStyle/>
          <a:p>
            <a:r>
              <a:rPr lang="en-IN" dirty="0"/>
              <a:t>Punishment</a:t>
            </a:r>
          </a:p>
        </p:txBody>
      </p:sp>
      <p:sp>
        <p:nvSpPr>
          <p:cNvPr id="6" name="Content Placeholder 5">
            <a:extLst>
              <a:ext uri="{FF2B5EF4-FFF2-40B4-BE49-F238E27FC236}">
                <a16:creationId xmlns:a16="http://schemas.microsoft.com/office/drawing/2014/main" id="{9B9D14B3-D6C5-C644-108B-446D0AC45C71}"/>
              </a:ext>
            </a:extLst>
          </p:cNvPr>
          <p:cNvSpPr>
            <a:spLocks noGrp="1"/>
          </p:cNvSpPr>
          <p:nvPr>
            <p:ph sz="quarter" idx="4"/>
          </p:nvPr>
        </p:nvSpPr>
        <p:spPr>
          <a:xfrm>
            <a:off x="6172200" y="1296756"/>
            <a:ext cx="5183188" cy="4810129"/>
          </a:xfrm>
          <a:solidFill>
            <a:schemeClr val="tx2">
              <a:lumMod val="10000"/>
              <a:lumOff val="90000"/>
            </a:schemeClr>
          </a:solidFill>
        </p:spPr>
        <p:txBody>
          <a:bodyPr>
            <a:normAutofit/>
          </a:bodyPr>
          <a:lstStyle/>
          <a:p>
            <a:r>
              <a:rPr lang="en-IN" sz="2200" dirty="0"/>
              <a:t>A stimulus or event whose onset is contingent on a response and thereby decreases the likelihood that the response will occur again</a:t>
            </a:r>
          </a:p>
          <a:p>
            <a:r>
              <a:rPr lang="en-IN" sz="2200" dirty="0"/>
              <a:t>E.g. the boss shouting if the job is not done well, Traffic fines, demerits, beatings – when contingent on behaviour ending, </a:t>
            </a:r>
          </a:p>
          <a:p>
            <a:r>
              <a:rPr lang="en-IN" sz="2200" b="1" dirty="0">
                <a:solidFill>
                  <a:schemeClr val="accent5">
                    <a:lumMod val="60000"/>
                    <a:lumOff val="40000"/>
                  </a:schemeClr>
                </a:solidFill>
              </a:rPr>
              <a:t>Responses followed by punishment                                      do not tend to be repeated</a:t>
            </a:r>
          </a:p>
          <a:p>
            <a:endParaRPr lang="en-IN" sz="2200" dirty="0"/>
          </a:p>
        </p:txBody>
      </p:sp>
      <p:pic>
        <p:nvPicPr>
          <p:cNvPr id="7" name="Picture 6">
            <a:extLst>
              <a:ext uri="{FF2B5EF4-FFF2-40B4-BE49-F238E27FC236}">
                <a16:creationId xmlns:a16="http://schemas.microsoft.com/office/drawing/2014/main" id="{01F185D1-5BD3-9A3B-0886-89F7A5A86359}"/>
              </a:ext>
            </a:extLst>
          </p:cNvPr>
          <p:cNvPicPr>
            <a:picLocks noChangeAspect="1"/>
          </p:cNvPicPr>
          <p:nvPr/>
        </p:nvPicPr>
        <p:blipFill>
          <a:blip r:embed="rId2"/>
          <a:stretch>
            <a:fillRect/>
          </a:stretch>
        </p:blipFill>
        <p:spPr>
          <a:xfrm>
            <a:off x="4758871" y="4637315"/>
            <a:ext cx="2730500" cy="2220686"/>
          </a:xfrm>
          <a:prstGeom prst="rect">
            <a:avLst/>
          </a:prstGeom>
        </p:spPr>
      </p:pic>
    </p:spTree>
    <p:extLst>
      <p:ext uri="{BB962C8B-B14F-4D97-AF65-F5344CB8AC3E}">
        <p14:creationId xmlns:p14="http://schemas.microsoft.com/office/powerpoint/2010/main" val="36198271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Successive Approximation: The Shaping of Behavior</a:t>
            </a:r>
            <a:endParaRPr lang="en-IN" dirty="0"/>
          </a:p>
        </p:txBody>
      </p:sp>
      <p:sp>
        <p:nvSpPr>
          <p:cNvPr id="3" name="Content Placeholder 2"/>
          <p:cNvSpPr>
            <a:spLocks noGrp="1"/>
          </p:cNvSpPr>
          <p:nvPr>
            <p:ph sz="half" idx="1"/>
          </p:nvPr>
        </p:nvSpPr>
        <p:spPr/>
        <p:txBody>
          <a:bodyPr>
            <a:normAutofit fontScale="62500" lnSpcReduction="20000"/>
          </a:bodyPr>
          <a:lstStyle/>
          <a:p>
            <a:r>
              <a:rPr lang="en-US" dirty="0"/>
              <a:t>Animals and humans demonstrate many more complex operant behaviors that have a much lower probability of occurrence in the normal course of events. </a:t>
            </a:r>
          </a:p>
          <a:p>
            <a:r>
              <a:rPr lang="en-US" dirty="0"/>
              <a:t>How are these complex behaviors learned? </a:t>
            </a:r>
          </a:p>
          <a:p>
            <a:r>
              <a:rPr lang="en-US" dirty="0"/>
              <a:t>How can an experimenter or a parent reinforce and condition a pigeon or a child to perform behaviors that are not </a:t>
            </a:r>
            <a:r>
              <a:rPr lang="en-IN" dirty="0"/>
              <a:t>likely to occur spontaneously?</a:t>
            </a:r>
          </a:p>
        </p:txBody>
      </p:sp>
      <p:sp>
        <p:nvSpPr>
          <p:cNvPr id="4" name="Content Placeholder 3"/>
          <p:cNvSpPr>
            <a:spLocks noGrp="1"/>
          </p:cNvSpPr>
          <p:nvPr>
            <p:ph sz="half" idx="2"/>
          </p:nvPr>
        </p:nvSpPr>
        <p:spPr/>
        <p:txBody>
          <a:bodyPr>
            <a:normAutofit fontScale="62500" lnSpcReduction="20000"/>
          </a:bodyPr>
          <a:lstStyle/>
          <a:p>
            <a:pPr marL="514350" indent="-514350">
              <a:buFont typeface="+mj-lt"/>
              <a:buAutoNum type="arabicPeriod"/>
            </a:pPr>
            <a:r>
              <a:rPr lang="en-US" dirty="0"/>
              <a:t>The pigeon was reinforced with food when it merely turned toward the designated spot. </a:t>
            </a:r>
          </a:p>
          <a:p>
            <a:pPr marL="514350" indent="-514350">
              <a:buFont typeface="+mj-lt"/>
              <a:buAutoNum type="arabicPeriod"/>
            </a:pPr>
            <a:r>
              <a:rPr lang="en-US" dirty="0"/>
              <a:t>Then reinforcement was withheld until the pigeon made some movement, however slight, toward the spot.</a:t>
            </a:r>
          </a:p>
          <a:p>
            <a:pPr marL="514350" indent="-514350">
              <a:buFont typeface="+mj-lt"/>
              <a:buAutoNum type="arabicPeriod"/>
            </a:pPr>
            <a:r>
              <a:rPr lang="en-US" dirty="0"/>
              <a:t>Reinforcement was given only for movements that brought the pigeon closer to the spot. </a:t>
            </a:r>
          </a:p>
          <a:p>
            <a:pPr marL="514350" indent="-514350">
              <a:buFont typeface="+mj-lt"/>
              <a:buAutoNum type="arabicPeriod"/>
            </a:pPr>
            <a:r>
              <a:rPr lang="en-US" dirty="0"/>
              <a:t>After that, the pigeon was reinforced only when it thrust its head toward the spot. Finally, the pigeon was reinforced only when its beak touched the spot. </a:t>
            </a:r>
          </a:p>
          <a:p>
            <a:pPr marL="0" indent="0">
              <a:buNone/>
            </a:pPr>
            <a:r>
              <a:rPr lang="en-US" dirty="0"/>
              <a:t>Although this sounds like a time-consuming process, Skinner conditioned pigeons in fewer than 3 minutes.</a:t>
            </a:r>
          </a:p>
          <a:p>
            <a:pPr marL="0" indent="0">
              <a:buNone/>
            </a:pPr>
            <a:endParaRPr lang="en-US" dirty="0"/>
          </a:p>
          <a:p>
            <a:pPr>
              <a:buFont typeface="Wingdings" panose="05000000000000000000" pitchFamily="2" charset="2"/>
              <a:buChar char="Ø"/>
            </a:pPr>
            <a:r>
              <a:rPr lang="en-US" dirty="0"/>
              <a:t>Skinners explanation of language acquisition in children.</a:t>
            </a:r>
            <a:endParaRPr lang="en-IN" dirty="0"/>
          </a:p>
        </p:txBody>
      </p:sp>
      <p:pic>
        <p:nvPicPr>
          <p:cNvPr id="5" name="Picture 4"/>
          <p:cNvPicPr>
            <a:picLocks noChangeAspect="1"/>
          </p:cNvPicPr>
          <p:nvPr/>
        </p:nvPicPr>
        <p:blipFill>
          <a:blip r:embed="rId2"/>
          <a:stretch>
            <a:fillRect/>
          </a:stretch>
        </p:blipFill>
        <p:spPr>
          <a:xfrm>
            <a:off x="1199849" y="4138863"/>
            <a:ext cx="3718660" cy="2598821"/>
          </a:xfrm>
          <a:prstGeom prst="rect">
            <a:avLst/>
          </a:prstGeom>
        </p:spPr>
      </p:pic>
      <p:sp>
        <p:nvSpPr>
          <p:cNvPr id="6" name="TextBox 5"/>
          <p:cNvSpPr txBox="1"/>
          <p:nvPr/>
        </p:nvSpPr>
        <p:spPr>
          <a:xfrm>
            <a:off x="6525927" y="6176962"/>
            <a:ext cx="3484347" cy="369332"/>
          </a:xfrm>
          <a:prstGeom prst="rect">
            <a:avLst/>
          </a:prstGeom>
          <a:solidFill>
            <a:schemeClr val="accent4"/>
          </a:solidFill>
        </p:spPr>
        <p:txBody>
          <a:bodyPr wrap="square" rtlCol="0">
            <a:spAutoFit/>
          </a:bodyPr>
          <a:lstStyle/>
          <a:p>
            <a:r>
              <a:rPr lang="en-US" dirty="0"/>
              <a:t>New use: Pigeon collecting waste</a:t>
            </a:r>
            <a:endParaRPr lang="en-IN" dirty="0"/>
          </a:p>
        </p:txBody>
      </p:sp>
    </p:spTree>
    <p:extLst>
      <p:ext uri="{BB962C8B-B14F-4D97-AF65-F5344CB8AC3E}">
        <p14:creationId xmlns:p14="http://schemas.microsoft.com/office/powerpoint/2010/main" val="3426224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C44DC-13DE-D2AB-3C14-EBEE5C2B7899}"/>
              </a:ext>
            </a:extLst>
          </p:cNvPr>
          <p:cNvSpPr>
            <a:spLocks noGrp="1"/>
          </p:cNvSpPr>
          <p:nvPr>
            <p:ph type="title"/>
          </p:nvPr>
        </p:nvSpPr>
        <p:spPr/>
        <p:txBody>
          <a:bodyPr/>
          <a:lstStyle/>
          <a:p>
            <a:endParaRPr lang="en-IN"/>
          </a:p>
        </p:txBody>
      </p:sp>
      <p:sp>
        <p:nvSpPr>
          <p:cNvPr id="6" name="Content Placeholder 5">
            <a:extLst>
              <a:ext uri="{FF2B5EF4-FFF2-40B4-BE49-F238E27FC236}">
                <a16:creationId xmlns:a16="http://schemas.microsoft.com/office/drawing/2014/main" id="{7EB790D5-89C9-A2A1-0EC3-63E7AB3AB18B}"/>
              </a:ext>
            </a:extLst>
          </p:cNvPr>
          <p:cNvSpPr>
            <a:spLocks noGrp="1"/>
          </p:cNvSpPr>
          <p:nvPr>
            <p:ph idx="1"/>
          </p:nvPr>
        </p:nvSpPr>
        <p:spPr>
          <a:xfrm>
            <a:off x="838200" y="1825625"/>
            <a:ext cx="7206343" cy="4351338"/>
          </a:xfrm>
        </p:spPr>
        <p:txBody>
          <a:bodyPr>
            <a:normAutofit fontScale="92500" lnSpcReduction="20000"/>
          </a:bodyPr>
          <a:lstStyle/>
          <a:p>
            <a:r>
              <a:rPr lang="en-US" dirty="0"/>
              <a:t>Skinner believed that most human and animal behavior is learned through operant conditioning. </a:t>
            </a:r>
          </a:p>
          <a:p>
            <a:endParaRPr lang="en-US" dirty="0"/>
          </a:p>
          <a:p>
            <a:r>
              <a:rPr lang="en-US" dirty="0"/>
              <a:t>E.g. learning among babies - An infant initially displays random, spontaneous behaviors, only some of which are reinforced (rewarded with food or hugs or toys, for example) by parents, siblings, or caregivers. As the infant grows, the positively reinforced behaviors, those of which the parents approve, will persist, whereas those of which the parents disapprove will be extinguished or discontinued. The concept is the same with the rat in the Skinner box.</a:t>
            </a:r>
            <a:endParaRPr lang="en-IN" dirty="0"/>
          </a:p>
          <a:p>
            <a:endParaRPr lang="en-IN" dirty="0"/>
          </a:p>
        </p:txBody>
      </p:sp>
      <p:pic>
        <p:nvPicPr>
          <p:cNvPr id="1026" name="Picture 2" descr="Parental Approval Images - Free Download on Freepik">
            <a:extLst>
              <a:ext uri="{FF2B5EF4-FFF2-40B4-BE49-F238E27FC236}">
                <a16:creationId xmlns:a16="http://schemas.microsoft.com/office/drawing/2014/main" id="{53F78B1E-D77F-F9FC-5DB4-851B29999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8457" y="1045028"/>
            <a:ext cx="3320142" cy="4954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74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A1F6235E-332B-8E9A-9F67-6FF20F72A8F0}"/>
              </a:ext>
            </a:extLst>
          </p:cNvPr>
          <p:cNvGraphicFramePr/>
          <p:nvPr>
            <p:extLst>
              <p:ext uri="{D42A27DB-BD31-4B8C-83A1-F6EECF244321}">
                <p14:modId xmlns:p14="http://schemas.microsoft.com/office/powerpoint/2010/main" val="659091608"/>
              </p:ext>
            </p:extLst>
          </p:nvPr>
        </p:nvGraphicFramePr>
        <p:xfrm>
          <a:off x="838200" y="365125"/>
          <a:ext cx="10515600" cy="10717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E70D9733-557E-B0AA-CE90-CEEA08BA17FE}"/>
              </a:ext>
            </a:extLst>
          </p:cNvPr>
          <p:cNvSpPr>
            <a:spLocks noGrp="1"/>
          </p:cNvSpPr>
          <p:nvPr>
            <p:ph sz="half" idx="1"/>
          </p:nvPr>
        </p:nvSpPr>
        <p:spPr>
          <a:xfrm>
            <a:off x="838200" y="1825624"/>
            <a:ext cx="5181600" cy="4814661"/>
          </a:xfrm>
        </p:spPr>
        <p:txBody>
          <a:bodyPr>
            <a:normAutofit fontScale="92500" lnSpcReduction="20000"/>
          </a:bodyPr>
          <a:lstStyle/>
          <a:p>
            <a:r>
              <a:rPr lang="en-IN" dirty="0">
                <a:latin typeface="Palatino Linotype" panose="02040502050505030304" pitchFamily="18" charset="0"/>
              </a:rPr>
              <a:t>Tolman’s </a:t>
            </a:r>
            <a:r>
              <a:rPr lang="en-IN" sz="2600" b="0" i="0" u="none" strike="noStrike" baseline="0" dirty="0">
                <a:latin typeface="Palatino Linotype" panose="02040502050505030304" pitchFamily="18" charset="0"/>
              </a:rPr>
              <a:t>Maze-Running Rats : Latent Learning</a:t>
            </a:r>
          </a:p>
          <a:p>
            <a:r>
              <a:rPr lang="en-US" sz="1800" b="0" i="0" u="none" strike="noStrike" baseline="0" dirty="0">
                <a:latin typeface="Palatino Linotype" panose="02040502050505030304" pitchFamily="18" charset="0"/>
              </a:rPr>
              <a:t>Teaching three groups of rats the same maze, one at a time (Tolman &amp; Honzik, 1930).</a:t>
            </a:r>
          </a:p>
          <a:p>
            <a:pPr algn="l"/>
            <a:r>
              <a:rPr lang="en-US" sz="1800" dirty="0">
                <a:latin typeface="Palatino Linotype" panose="02040502050505030304" pitchFamily="18" charset="0"/>
              </a:rPr>
              <a:t>Group 1 : </a:t>
            </a:r>
            <a:r>
              <a:rPr lang="en-US" sz="1800" b="0" i="0" u="none" strike="noStrike" baseline="0" dirty="0">
                <a:latin typeface="Palatino Linotype" panose="02040502050505030304" pitchFamily="18" charset="0"/>
              </a:rPr>
              <a:t>each rat was placed in the maze and reinforced with food for making its way out the other side. The rat was then placed back in the maze, reinforced upon completing the maze again, and so on until the rat could successfully solve the maze with no errors</a:t>
            </a:r>
            <a:endParaRPr lang="en-US" sz="1800" dirty="0">
              <a:latin typeface="Palatino Linotype" panose="02040502050505030304" pitchFamily="18" charset="0"/>
            </a:endParaRPr>
          </a:p>
          <a:p>
            <a:endParaRPr lang="en-US" sz="1800" dirty="0">
              <a:latin typeface="Palatino Linotype" panose="02040502050505030304" pitchFamily="18" charset="0"/>
            </a:endParaRPr>
          </a:p>
          <a:p>
            <a:pPr algn="l"/>
            <a:r>
              <a:rPr lang="en-US" sz="1800" dirty="0">
                <a:latin typeface="Palatino Linotype" panose="02040502050505030304" pitchFamily="18" charset="0"/>
              </a:rPr>
              <a:t>Group 2: </a:t>
            </a:r>
            <a:r>
              <a:rPr lang="en-US" sz="1800" b="0" i="0" u="none" strike="noStrike" baseline="0" dirty="0">
                <a:latin typeface="Palatino Linotype" panose="02040502050505030304" pitchFamily="18" charset="0"/>
              </a:rPr>
              <a:t>The second group of rats never received any reinforcement upon exiting the maze. Put back in again and again, until the 10</a:t>
            </a:r>
            <a:r>
              <a:rPr lang="en-US" sz="1800" b="0" i="0" u="none" strike="noStrike" baseline="30000" dirty="0">
                <a:latin typeface="Palatino Linotype" panose="02040502050505030304" pitchFamily="18" charset="0"/>
              </a:rPr>
              <a:t>th</a:t>
            </a:r>
            <a:r>
              <a:rPr lang="en-US" sz="1800" b="0" i="0" u="none" strike="noStrike" baseline="0" dirty="0">
                <a:latin typeface="Palatino Linotype" panose="02040502050505030304" pitchFamily="18" charset="0"/>
              </a:rPr>
              <a:t> </a:t>
            </a:r>
            <a:r>
              <a:rPr lang="en-IN" sz="1800" b="0" i="0" u="none" strike="noStrike" baseline="0" dirty="0">
                <a:latin typeface="Palatino Linotype" panose="02040502050505030304" pitchFamily="18" charset="0"/>
              </a:rPr>
              <a:t>day of the experiment- reinforcement given</a:t>
            </a:r>
          </a:p>
          <a:p>
            <a:pPr algn="l"/>
            <a:endParaRPr lang="en-IN" sz="1800" dirty="0">
              <a:latin typeface="Palatino Linotype" panose="02040502050505030304" pitchFamily="18" charset="0"/>
            </a:endParaRPr>
          </a:p>
          <a:p>
            <a:pPr algn="l"/>
            <a:r>
              <a:rPr lang="en-IN" sz="1800" dirty="0">
                <a:latin typeface="Palatino Linotype" panose="02040502050505030304" pitchFamily="18" charset="0"/>
              </a:rPr>
              <a:t>Group 3: </a:t>
            </a:r>
            <a:r>
              <a:rPr lang="en-US" sz="1800" b="0" i="0" u="none" strike="noStrike" baseline="0" dirty="0">
                <a:latin typeface="Palatino Linotype" panose="02040502050505030304" pitchFamily="18" charset="0"/>
              </a:rPr>
              <a:t>control group, was also not reinforced and was not given reinforcement for the entire duration of the experiment</a:t>
            </a:r>
            <a:endParaRPr lang="en-IN" dirty="0">
              <a:latin typeface="Palatino Linotype" panose="02040502050505030304" pitchFamily="18" charset="0"/>
            </a:endParaRPr>
          </a:p>
        </p:txBody>
      </p:sp>
      <p:pic>
        <p:nvPicPr>
          <p:cNvPr id="8" name="Content Placeholder 7">
            <a:extLst>
              <a:ext uri="{FF2B5EF4-FFF2-40B4-BE49-F238E27FC236}">
                <a16:creationId xmlns:a16="http://schemas.microsoft.com/office/drawing/2014/main" id="{929AF1DB-62ED-18A9-BFCE-38D1108AADEB}"/>
              </a:ext>
            </a:extLst>
          </p:cNvPr>
          <p:cNvPicPr>
            <a:picLocks noGrp="1" noChangeAspect="1"/>
          </p:cNvPicPr>
          <p:nvPr>
            <p:ph sz="half" idx="2"/>
          </p:nvPr>
        </p:nvPicPr>
        <p:blipFill>
          <a:blip r:embed="rId7"/>
          <a:stretch>
            <a:fillRect/>
          </a:stretch>
        </p:blipFill>
        <p:spPr>
          <a:xfrm>
            <a:off x="6172199" y="1825623"/>
            <a:ext cx="5584371" cy="4667251"/>
          </a:xfrm>
        </p:spPr>
      </p:pic>
    </p:spTree>
    <p:extLst>
      <p:ext uri="{BB962C8B-B14F-4D97-AF65-F5344CB8AC3E}">
        <p14:creationId xmlns:p14="http://schemas.microsoft.com/office/powerpoint/2010/main" val="377735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6E131C-2659-3362-24E4-1978BEC82295}"/>
              </a:ext>
            </a:extLst>
          </p:cNvPr>
          <p:cNvSpPr>
            <a:spLocks noGrp="1"/>
          </p:cNvSpPr>
          <p:nvPr>
            <p:ph sz="half" idx="1"/>
          </p:nvPr>
        </p:nvSpPr>
        <p:spPr>
          <a:xfrm>
            <a:off x="413657" y="130629"/>
            <a:ext cx="5606142" cy="6629400"/>
          </a:xfrm>
        </p:spPr>
        <p:txBody>
          <a:bodyPr>
            <a:noAutofit/>
          </a:bodyPr>
          <a:lstStyle/>
          <a:p>
            <a:pPr algn="l"/>
            <a:r>
              <a:rPr lang="en-IN" sz="1800" b="0" i="0" u="none" strike="noStrike" baseline="0" dirty="0">
                <a:latin typeface="Palatino Linotype" panose="02040502050505030304" pitchFamily="18" charset="0"/>
              </a:rPr>
              <a:t>The second </a:t>
            </a:r>
            <a:r>
              <a:rPr lang="en-US" sz="1800" b="0" i="0" u="none" strike="noStrike" baseline="0" dirty="0">
                <a:latin typeface="Palatino Linotype" panose="02040502050505030304" pitchFamily="18" charset="0"/>
              </a:rPr>
              <a:t>group of rats, </a:t>
            </a:r>
            <a:r>
              <a:rPr lang="en-US" sz="1800" b="0" i="1" u="none" strike="noStrike" baseline="0" dirty="0">
                <a:latin typeface="Palatino Linotype" panose="02040502050505030304" pitchFamily="18" charset="0"/>
              </a:rPr>
              <a:t>should </a:t>
            </a:r>
            <a:r>
              <a:rPr lang="en-US" sz="1800" b="0" i="0" u="none" strike="noStrike" baseline="0" dirty="0">
                <a:latin typeface="Palatino Linotype" panose="02040502050505030304" pitchFamily="18" charset="0"/>
              </a:rPr>
              <a:t>have then taken as long as the first group to solve the maze. Instead, they solved the maze almost </a:t>
            </a:r>
            <a:r>
              <a:rPr lang="en-IN" sz="1800" b="0" i="0" u="none" strike="noStrike" baseline="0" dirty="0">
                <a:latin typeface="Palatino Linotype" panose="02040502050505030304" pitchFamily="18" charset="0"/>
              </a:rPr>
              <a:t>immediately</a:t>
            </a:r>
          </a:p>
          <a:p>
            <a:pPr algn="l"/>
            <a:r>
              <a:rPr lang="en-US" sz="1800" b="0" i="0" u="none" strike="noStrike" baseline="0" dirty="0">
                <a:latin typeface="Palatino Linotype" panose="02040502050505030304" pitchFamily="18" charset="0"/>
              </a:rPr>
              <a:t>The rats had learned where all the blind alleys, wrong turns, and correct paths were and stored this knowledge away as a kind of “mental map,” or </a:t>
            </a:r>
            <a:r>
              <a:rPr lang="en-US" sz="1800" b="0" i="1" u="none" strike="noStrike" baseline="0" dirty="0">
                <a:latin typeface="Palatino Linotype" panose="02040502050505030304" pitchFamily="18" charset="0"/>
              </a:rPr>
              <a:t>cognitive map </a:t>
            </a:r>
            <a:r>
              <a:rPr lang="en-US" sz="1800" b="0" i="0" u="none" strike="noStrike" baseline="0" dirty="0">
                <a:latin typeface="Palatino Linotype" panose="02040502050505030304" pitchFamily="18" charset="0"/>
              </a:rPr>
              <a:t>of the physical layout of the maze.</a:t>
            </a:r>
          </a:p>
          <a:p>
            <a:r>
              <a:rPr lang="en-IN" sz="1800" b="1" dirty="0">
                <a:solidFill>
                  <a:schemeClr val="tx2">
                    <a:lumMod val="75000"/>
                    <a:lumOff val="25000"/>
                  </a:schemeClr>
                </a:solidFill>
                <a:latin typeface="Palatino Linotype" panose="02040502050505030304" pitchFamily="18" charset="0"/>
              </a:rPr>
              <a:t>Cognitive map </a:t>
            </a:r>
            <a:r>
              <a:rPr lang="en-IN" sz="1800" b="1" dirty="0">
                <a:solidFill>
                  <a:srgbClr val="000000"/>
                </a:solidFill>
                <a:latin typeface="Palatino Linotype" panose="02040502050505030304" pitchFamily="18" charset="0"/>
              </a:rPr>
              <a:t>– </a:t>
            </a:r>
            <a:r>
              <a:rPr lang="en-US" sz="1800" b="1" i="0" dirty="0">
                <a:solidFill>
                  <a:srgbClr val="212529"/>
                </a:solidFill>
                <a:effectLst/>
                <a:latin typeface="Palatino Linotype" panose="02040502050505030304" pitchFamily="18" charset="0"/>
              </a:rPr>
              <a:t>a mental understanding of an environment, formed through trial and error as well as observation. The concept is based on the assumption that an individual seeks and collects contextual clues, such as environmental relationships, rather than acting as a passive receptor of information needed to achieve a goal. (APA, 2018)</a:t>
            </a:r>
          </a:p>
          <a:p>
            <a:r>
              <a:rPr lang="en-US" sz="1800" dirty="0">
                <a:latin typeface="Palatino Linotype" panose="02040502050505030304" pitchFamily="18" charset="0"/>
              </a:rPr>
              <a:t>R</a:t>
            </a:r>
            <a:r>
              <a:rPr lang="en-US" sz="1800" b="0" i="0" u="none" strike="noStrike" baseline="0" dirty="0">
                <a:latin typeface="Palatino Linotype" panose="02040502050505030304" pitchFamily="18" charset="0"/>
              </a:rPr>
              <a:t>ats in the second group had learned and stored that learning away mentally but had not </a:t>
            </a:r>
            <a:r>
              <a:rPr lang="en-US" sz="1800" b="0" i="1" u="none" strike="noStrike" baseline="0" dirty="0">
                <a:latin typeface="Palatino Linotype" panose="02040502050505030304" pitchFamily="18" charset="0"/>
              </a:rPr>
              <a:t>demonstrated </a:t>
            </a:r>
            <a:r>
              <a:rPr lang="en-US" sz="1800" b="0" i="0" u="none" strike="noStrike" baseline="0" dirty="0">
                <a:latin typeface="Palatino Linotype" panose="02040502050505030304" pitchFamily="18" charset="0"/>
              </a:rPr>
              <a:t>this learning because there was no reason to do so.</a:t>
            </a:r>
          </a:p>
          <a:p>
            <a:r>
              <a:rPr lang="en-US" sz="1800" b="1" dirty="0">
                <a:solidFill>
                  <a:schemeClr val="tx2">
                    <a:lumMod val="75000"/>
                    <a:lumOff val="25000"/>
                  </a:schemeClr>
                </a:solidFill>
                <a:latin typeface="Palatino Linotype" panose="02040502050505030304" pitchFamily="18" charset="0"/>
              </a:rPr>
              <a:t>L</a:t>
            </a:r>
            <a:r>
              <a:rPr lang="en-US" sz="1800" b="1" i="0" u="none" strike="noStrike" baseline="0" dirty="0">
                <a:solidFill>
                  <a:schemeClr val="tx2">
                    <a:lumMod val="75000"/>
                    <a:lumOff val="25000"/>
                  </a:schemeClr>
                </a:solidFill>
                <a:latin typeface="Palatino Linotype" panose="02040502050505030304" pitchFamily="18" charset="0"/>
              </a:rPr>
              <a:t>atent learning</a:t>
            </a:r>
            <a:r>
              <a:rPr lang="en-US" sz="1800" b="1" dirty="0">
                <a:solidFill>
                  <a:schemeClr val="tx2">
                    <a:lumMod val="75000"/>
                    <a:lumOff val="25000"/>
                  </a:schemeClr>
                </a:solidFill>
                <a:latin typeface="Palatino Linotype" panose="02040502050505030304" pitchFamily="18" charset="0"/>
              </a:rPr>
              <a:t>:</a:t>
            </a:r>
            <a:r>
              <a:rPr lang="en-US" sz="1800" b="1" i="0" u="none" strike="noStrike" baseline="0" dirty="0">
                <a:latin typeface="Palatino Linotype" panose="02040502050505030304" pitchFamily="18" charset="0"/>
              </a:rPr>
              <a:t> </a:t>
            </a:r>
            <a:r>
              <a:rPr lang="en-US" sz="1800" b="1" dirty="0">
                <a:latin typeface="Palatino Linotype" panose="02040502050505030304" pitchFamily="18" charset="0"/>
              </a:rPr>
              <a:t>learning that is acquired without conscious effort, awareness, intention, or reinforcement and is not manifested as a change in performance until a specific need for it arises. (APA, 2018)</a:t>
            </a:r>
            <a:endParaRPr lang="en-IN" sz="1800" b="1" i="0" u="none" strike="noStrike" baseline="0" dirty="0">
              <a:latin typeface="Palatino Linotype" panose="02040502050505030304" pitchFamily="18" charset="0"/>
            </a:endParaRPr>
          </a:p>
        </p:txBody>
      </p:sp>
      <p:pic>
        <p:nvPicPr>
          <p:cNvPr id="6" name="Content Placeholder 5">
            <a:extLst>
              <a:ext uri="{FF2B5EF4-FFF2-40B4-BE49-F238E27FC236}">
                <a16:creationId xmlns:a16="http://schemas.microsoft.com/office/drawing/2014/main" id="{93DD6B36-8592-A2C7-2A8F-96ECFE6A66E2}"/>
              </a:ext>
            </a:extLst>
          </p:cNvPr>
          <p:cNvPicPr>
            <a:picLocks noGrp="1" noChangeAspect="1"/>
          </p:cNvPicPr>
          <p:nvPr>
            <p:ph sz="half" idx="2"/>
          </p:nvPr>
        </p:nvPicPr>
        <p:blipFill>
          <a:blip r:embed="rId2"/>
          <a:stretch>
            <a:fillRect/>
          </a:stretch>
        </p:blipFill>
        <p:spPr>
          <a:xfrm>
            <a:off x="6172202" y="748619"/>
            <a:ext cx="5812971" cy="5360761"/>
          </a:xfrm>
        </p:spPr>
      </p:pic>
    </p:spTree>
    <p:extLst>
      <p:ext uri="{BB962C8B-B14F-4D97-AF65-F5344CB8AC3E}">
        <p14:creationId xmlns:p14="http://schemas.microsoft.com/office/powerpoint/2010/main" val="229867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0846DE5-327F-128D-BC2C-7D0FE883957E}"/>
              </a:ext>
            </a:extLst>
          </p:cNvPr>
          <p:cNvGraphicFramePr/>
          <p:nvPr>
            <p:extLst>
              <p:ext uri="{D42A27DB-BD31-4B8C-83A1-F6EECF244321}">
                <p14:modId xmlns:p14="http://schemas.microsoft.com/office/powerpoint/2010/main" val="3387708717"/>
              </p:ext>
            </p:extLst>
          </p:nvPr>
        </p:nvGraphicFramePr>
        <p:xfrm>
          <a:off x="838200" y="365126"/>
          <a:ext cx="10515600" cy="11044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DAFBC2A0-E8A4-E14E-B55E-8E99A386CEDF}"/>
              </a:ext>
            </a:extLst>
          </p:cNvPr>
          <p:cNvSpPr>
            <a:spLocks noGrp="1"/>
          </p:cNvSpPr>
          <p:nvPr>
            <p:ph sz="half" idx="1"/>
          </p:nvPr>
        </p:nvSpPr>
        <p:spPr/>
        <p:txBody>
          <a:bodyPr/>
          <a:lstStyle/>
          <a:p>
            <a:pPr algn="l"/>
            <a:r>
              <a:rPr lang="en-US" sz="1800" b="0" i="0" u="none" strike="noStrike" baseline="0" dirty="0">
                <a:latin typeface="PalatinoLTPro-Roman"/>
              </a:rPr>
              <a:t>(Köhler, 1925), he set up a problem for one of the chimpanzees. </a:t>
            </a:r>
          </a:p>
          <a:p>
            <a:pPr algn="l"/>
            <a:r>
              <a:rPr lang="en-US" sz="1800" b="0" i="0" u="none" strike="noStrike" baseline="0" dirty="0">
                <a:latin typeface="PalatinoLTPro-Roman"/>
              </a:rPr>
              <a:t>Sultan the chimp was faced with the problem of how to get to a banana that was placed just out of his reach outside his cage.</a:t>
            </a:r>
            <a:endParaRPr lang="en-IN" dirty="0"/>
          </a:p>
        </p:txBody>
      </p:sp>
      <p:pic>
        <p:nvPicPr>
          <p:cNvPr id="2050" name="Picture 2" descr="The Creativity Post | Are You Smarter than an Ape's Uncle?">
            <a:extLst>
              <a:ext uri="{FF2B5EF4-FFF2-40B4-BE49-F238E27FC236}">
                <a16:creationId xmlns:a16="http://schemas.microsoft.com/office/drawing/2014/main" id="{AF5EADD3-E491-EB89-2025-F82B7E820D2E}"/>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6172200" y="1690687"/>
            <a:ext cx="5181600"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066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C267-75B1-AB15-914A-A1D2139A3245}"/>
              </a:ext>
            </a:extLst>
          </p:cNvPr>
          <p:cNvSpPr>
            <a:spLocks noGrp="1"/>
          </p:cNvSpPr>
          <p:nvPr>
            <p:ph sz="half" idx="1"/>
          </p:nvPr>
        </p:nvSpPr>
        <p:spPr/>
        <p:txBody>
          <a:bodyPr>
            <a:normAutofit/>
          </a:bodyPr>
          <a:lstStyle/>
          <a:p>
            <a:pPr algn="l"/>
            <a:r>
              <a:rPr lang="en-US" sz="1800" b="0" i="0" u="none" strike="noStrike" baseline="0" dirty="0">
                <a:latin typeface="PalatinoLTPro-Roman"/>
              </a:rPr>
              <a:t>Köhler called Sultan’s rapid “perception of relationships” </a:t>
            </a:r>
            <a:r>
              <a:rPr lang="en-US" sz="1800" b="1" i="0" u="none" strike="noStrike" baseline="0" dirty="0">
                <a:latin typeface="PalatinoLTPro-Bold"/>
              </a:rPr>
              <a:t>insight </a:t>
            </a:r>
            <a:r>
              <a:rPr lang="en-US" sz="1800" b="0" i="0" u="none" strike="noStrike" baseline="0" dirty="0">
                <a:latin typeface="PalatinoLTPro-Roman"/>
              </a:rPr>
              <a:t>and determined that insight could not be gained through trial-and-error learning alone (Köhler, 1925).</a:t>
            </a:r>
            <a:endParaRPr lang="en-IN" sz="1800" dirty="0">
              <a:latin typeface="PalatinoLTPro-Roman"/>
            </a:endParaRPr>
          </a:p>
          <a:p>
            <a:pPr marL="0" indent="0" algn="l">
              <a:buNone/>
            </a:pPr>
            <a:r>
              <a:rPr lang="en-IN" sz="1800" dirty="0">
                <a:latin typeface="PalatinoLTPro-Roman"/>
              </a:rPr>
              <a:t>I</a:t>
            </a:r>
            <a:r>
              <a:rPr lang="en-IN" sz="1800" b="0" i="0" u="none" strike="noStrike" baseline="0" dirty="0">
                <a:latin typeface="PalatinoLTPro-Roman"/>
              </a:rPr>
              <a:t>nsight requires a sudden </a:t>
            </a:r>
          </a:p>
          <a:p>
            <a:pPr algn="l"/>
            <a:r>
              <a:rPr lang="en-US" sz="1800" b="0" i="0" u="none" strike="noStrike" baseline="0" dirty="0">
                <a:latin typeface="PalatinoLTPro-Roman"/>
              </a:rPr>
              <a:t>“coming together” of all the elements</a:t>
            </a:r>
          </a:p>
          <a:p>
            <a:pPr algn="l"/>
            <a:r>
              <a:rPr lang="en-US" sz="1800" b="0" i="0" u="none" strike="noStrike" baseline="0" dirty="0">
                <a:latin typeface="PalatinoLTPro-Roman"/>
              </a:rPr>
              <a:t>of a problem in a kind of “aha” moment that is not predicted by traditional animal </a:t>
            </a:r>
            <a:r>
              <a:rPr lang="en-IN" sz="1800" b="0" i="0" u="none" strike="noStrike" baseline="0" dirty="0">
                <a:latin typeface="PalatinoLTPro-Roman"/>
              </a:rPr>
              <a:t>learning studies.</a:t>
            </a:r>
          </a:p>
          <a:p>
            <a:pPr algn="l"/>
            <a:endParaRPr lang="en-IN" sz="1800" dirty="0">
              <a:latin typeface="PalatinoLTPro-Roman"/>
            </a:endParaRPr>
          </a:p>
          <a:p>
            <a:pPr algn="l"/>
            <a:r>
              <a:rPr lang="en-IN" sz="1800" dirty="0">
                <a:latin typeface="PalatinoLTPro-Roman"/>
              </a:rPr>
              <a:t>149162536496481100…</a:t>
            </a:r>
          </a:p>
          <a:p>
            <a:pPr algn="l"/>
            <a:r>
              <a:rPr lang="en-IN" sz="1800" dirty="0">
                <a:latin typeface="PalatinoLTPro-Roman"/>
              </a:rPr>
              <a:t>Perceptual reorganization of elements in the environment such that new relationships between objects are suddenly seen </a:t>
            </a:r>
            <a:endParaRPr lang="en-IN" dirty="0"/>
          </a:p>
        </p:txBody>
      </p:sp>
      <p:pic>
        <p:nvPicPr>
          <p:cNvPr id="3074" name="Picture 2" descr="JaypeeDigital | eBook Reader">
            <a:extLst>
              <a:ext uri="{FF2B5EF4-FFF2-40B4-BE49-F238E27FC236}">
                <a16:creationId xmlns:a16="http://schemas.microsoft.com/office/drawing/2014/main" id="{BDFD44D8-48B8-F370-60F8-3038A7A3C3E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53201" y="2166257"/>
            <a:ext cx="5334000" cy="291737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a:extLst>
              <a:ext uri="{FF2B5EF4-FFF2-40B4-BE49-F238E27FC236}">
                <a16:creationId xmlns:a16="http://schemas.microsoft.com/office/drawing/2014/main" id="{BD9BB1C2-855A-23BB-2955-FCD0FFFA272E}"/>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8951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4C660-11F5-7E2E-81C6-9BEECF989E2F}"/>
              </a:ext>
            </a:extLst>
          </p:cNvPr>
          <p:cNvSpPr>
            <a:spLocks noGrp="1"/>
          </p:cNvSpPr>
          <p:nvPr>
            <p:ph type="title"/>
          </p:nvPr>
        </p:nvSpPr>
        <p:spPr/>
        <p:txBody>
          <a:bodyPr>
            <a:normAutofit/>
          </a:bodyPr>
          <a:lstStyle/>
          <a:p>
            <a:r>
              <a:rPr lang="en-IN" sz="4000" b="0" i="0" u="none" strike="noStrike" baseline="0" dirty="0">
                <a:latin typeface="PalatinoLTPro-Roman"/>
              </a:rPr>
              <a:t>Observational Learning: “monkey see, monkey do.”</a:t>
            </a:r>
            <a:endParaRPr lang="en-IN" sz="4000" dirty="0"/>
          </a:p>
        </p:txBody>
      </p:sp>
      <p:sp>
        <p:nvSpPr>
          <p:cNvPr id="3" name="Content Placeholder 2">
            <a:extLst>
              <a:ext uri="{FF2B5EF4-FFF2-40B4-BE49-F238E27FC236}">
                <a16:creationId xmlns:a16="http://schemas.microsoft.com/office/drawing/2014/main" id="{DE5059CB-EF95-5FD1-4A9D-8AC88F3ACA5F}"/>
              </a:ext>
            </a:extLst>
          </p:cNvPr>
          <p:cNvSpPr>
            <a:spLocks noGrp="1"/>
          </p:cNvSpPr>
          <p:nvPr>
            <p:ph sz="half" idx="1"/>
          </p:nvPr>
        </p:nvSpPr>
        <p:spPr>
          <a:xfrm>
            <a:off x="838200" y="1825625"/>
            <a:ext cx="3951514" cy="4858204"/>
          </a:xfrm>
        </p:spPr>
        <p:txBody>
          <a:bodyPr>
            <a:normAutofit/>
          </a:bodyPr>
          <a:lstStyle/>
          <a:p>
            <a:pPr algn="l"/>
            <a:r>
              <a:rPr lang="en-US" sz="2000" dirty="0">
                <a:latin typeface="PalatinoLTPro-Roman"/>
              </a:rPr>
              <a:t>L</a:t>
            </a:r>
            <a:r>
              <a:rPr lang="en-US" sz="2000" b="0" i="0" u="none" strike="noStrike" baseline="0" dirty="0">
                <a:latin typeface="PalatinoLTPro-Roman"/>
              </a:rPr>
              <a:t>earning of new behavior through watching the actions of a model (someone else who is doing that behavior) – form of latent learning. </a:t>
            </a:r>
          </a:p>
          <a:p>
            <a:pPr algn="l"/>
            <a:r>
              <a:rPr lang="en-US" sz="2000" b="1" dirty="0">
                <a:latin typeface="PalatinoLTPro-Roman"/>
              </a:rPr>
              <a:t>Imitation </a:t>
            </a:r>
            <a:r>
              <a:rPr lang="en-US" sz="2000" b="1" dirty="0" err="1">
                <a:latin typeface="PalatinoLTPro-Roman"/>
              </a:rPr>
              <a:t>behaviour</a:t>
            </a:r>
            <a:r>
              <a:rPr lang="en-US" sz="2000" b="1" dirty="0">
                <a:latin typeface="PalatinoLTPro-Roman"/>
              </a:rPr>
              <a:t>:  </a:t>
            </a:r>
            <a:r>
              <a:rPr lang="en-US" sz="2000" dirty="0">
                <a:latin typeface="PalatinoLTPro-Roman"/>
              </a:rPr>
              <a:t>a response that is like the stimulus that triggered it</a:t>
            </a:r>
            <a:endParaRPr lang="en-US" sz="2000" b="0" i="0" u="none" strike="noStrike" baseline="0" dirty="0">
              <a:latin typeface="PalatinoLTPro-Roman"/>
            </a:endParaRPr>
          </a:p>
          <a:p>
            <a:pPr algn="l"/>
            <a:r>
              <a:rPr lang="en-US" sz="2000" b="0" i="0" u="none" strike="noStrike" baseline="0" dirty="0">
                <a:latin typeface="PalatinoLTPro-Roman"/>
              </a:rPr>
              <a:t>Sometimes that behavior is desirable, and sometimes it is not</a:t>
            </a:r>
          </a:p>
          <a:p>
            <a:r>
              <a:rPr lang="en-US" sz="2000" b="1" dirty="0"/>
              <a:t>Bandura’s Bobo Doll experiment (1961)</a:t>
            </a:r>
            <a:endParaRPr lang="en-IN" sz="2000" b="1" dirty="0"/>
          </a:p>
        </p:txBody>
      </p:sp>
      <p:graphicFrame>
        <p:nvGraphicFramePr>
          <p:cNvPr id="6" name="Content Placeholder 5">
            <a:extLst>
              <a:ext uri="{FF2B5EF4-FFF2-40B4-BE49-F238E27FC236}">
                <a16:creationId xmlns:a16="http://schemas.microsoft.com/office/drawing/2014/main" id="{9656E733-6A36-6060-3D2F-234DA72E564E}"/>
              </a:ext>
            </a:extLst>
          </p:cNvPr>
          <p:cNvGraphicFramePr>
            <a:graphicFrameLocks noGrp="1"/>
          </p:cNvGraphicFramePr>
          <p:nvPr>
            <p:ph sz="half" idx="2"/>
            <p:extLst>
              <p:ext uri="{D42A27DB-BD31-4B8C-83A1-F6EECF244321}">
                <p14:modId xmlns:p14="http://schemas.microsoft.com/office/powerpoint/2010/main" val="1386426390"/>
              </p:ext>
            </p:extLst>
          </p:nvPr>
        </p:nvGraphicFramePr>
        <p:xfrm>
          <a:off x="6411686" y="5087031"/>
          <a:ext cx="5181600" cy="1596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93FD26DA-8F6B-7E64-451C-F419621D59A3}"/>
              </a:ext>
            </a:extLst>
          </p:cNvPr>
          <p:cNvPicPr>
            <a:picLocks noChangeAspect="1"/>
          </p:cNvPicPr>
          <p:nvPr/>
        </p:nvPicPr>
        <p:blipFill>
          <a:blip r:embed="rId7"/>
          <a:stretch>
            <a:fillRect/>
          </a:stretch>
        </p:blipFill>
        <p:spPr>
          <a:xfrm>
            <a:off x="9290109" y="1403691"/>
            <a:ext cx="2579914" cy="3342481"/>
          </a:xfrm>
          <a:prstGeom prst="rect">
            <a:avLst/>
          </a:prstGeom>
        </p:spPr>
      </p:pic>
      <p:pic>
        <p:nvPicPr>
          <p:cNvPr id="4098" name="Picture 2" descr="From the Bobo Doll Experiment to Modern Psychology">
            <a:extLst>
              <a:ext uri="{FF2B5EF4-FFF2-40B4-BE49-F238E27FC236}">
                <a16:creationId xmlns:a16="http://schemas.microsoft.com/office/drawing/2014/main" id="{3484E61F-03FF-A717-E200-2DD8BF820E9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293" r="36345"/>
          <a:stretch/>
        </p:blipFill>
        <p:spPr bwMode="auto">
          <a:xfrm>
            <a:off x="5637101" y="1787462"/>
            <a:ext cx="3365385" cy="2574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8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BABF-2317-8C25-8495-BBF81E73A5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C5351B-F6EF-21E6-BFD2-FD185D015D3E}"/>
              </a:ext>
            </a:extLst>
          </p:cNvPr>
          <p:cNvSpPr>
            <a:spLocks noGrp="1"/>
          </p:cNvSpPr>
          <p:nvPr>
            <p:ph sz="half" idx="1"/>
          </p:nvPr>
        </p:nvSpPr>
        <p:spPr/>
        <p:txBody>
          <a:bodyPr>
            <a:normAutofit lnSpcReduction="10000"/>
          </a:bodyPr>
          <a:lstStyle/>
          <a:p>
            <a:pPr algn="l"/>
            <a:r>
              <a:rPr lang="en-US" sz="1800" b="0" i="0" u="none" strike="noStrike" baseline="0" dirty="0">
                <a:latin typeface="PalatinoLTPro-Roman"/>
              </a:rPr>
              <a:t>The tendency for some movies and television programs to make “heroes” out of violent, aggressive “bad guys” is particularly disturbing in light of these findings. In fact, Bandura began this research to investigate possible links between children’s exposure to violence on television and aggressive behavior toward others.</a:t>
            </a:r>
          </a:p>
          <a:p>
            <a:pPr algn="l"/>
            <a:endParaRPr lang="en-US" sz="1800" dirty="0">
              <a:latin typeface="PalatinoLTPro-Roman"/>
            </a:endParaRPr>
          </a:p>
          <a:p>
            <a:pPr algn="l"/>
            <a:r>
              <a:rPr lang="en-US" sz="1800" b="0" i="0" u="none" strike="noStrike" baseline="0" dirty="0">
                <a:latin typeface="PalatinoLTPro-Roman"/>
              </a:rPr>
              <a:t>Prosocial behavior, which is behavior aimed at helping others, has also been shown to be influenced by media consumption. Studies have shown that when children watch media that models helping behavior, aggressive behavior decreases and prosocial </a:t>
            </a:r>
            <a:r>
              <a:rPr lang="en-IN" sz="1800" b="0" i="0" u="none" strike="noStrike" baseline="0" dirty="0" err="1">
                <a:latin typeface="PalatinoLTPro-Roman"/>
              </a:rPr>
              <a:t>behavior</a:t>
            </a:r>
            <a:r>
              <a:rPr lang="en-IN" sz="1800" b="0" i="0" u="none" strike="noStrike" baseline="0" dirty="0">
                <a:latin typeface="PalatinoLTPro-Roman"/>
              </a:rPr>
              <a:t> increases (Anderson et al., 2015; Prot et al., 2014).</a:t>
            </a:r>
            <a:endParaRPr lang="en-IN" dirty="0"/>
          </a:p>
        </p:txBody>
      </p:sp>
      <p:pic>
        <p:nvPicPr>
          <p:cNvPr id="5122" name="Picture 2" descr="Reduce Aggressive Behaviour in Children ...">
            <a:extLst>
              <a:ext uri="{FF2B5EF4-FFF2-40B4-BE49-F238E27FC236}">
                <a16:creationId xmlns:a16="http://schemas.microsoft.com/office/drawing/2014/main" id="{A6DA1488-A034-5538-DF9D-AF8D3F903E7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44378" y="797719"/>
            <a:ext cx="2987449" cy="32035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86BC893-8970-24EE-8C37-1E3D4E686E50}"/>
              </a:ext>
            </a:extLst>
          </p:cNvPr>
          <p:cNvPicPr>
            <a:picLocks noChangeAspect="1"/>
          </p:cNvPicPr>
          <p:nvPr/>
        </p:nvPicPr>
        <p:blipFill>
          <a:blip r:embed="rId3"/>
          <a:srcRect r="56429" b="20705"/>
          <a:stretch/>
        </p:blipFill>
        <p:spPr>
          <a:xfrm>
            <a:off x="8238102" y="3572319"/>
            <a:ext cx="3173617" cy="2487962"/>
          </a:xfrm>
          <a:prstGeom prst="rect">
            <a:avLst/>
          </a:prstGeom>
        </p:spPr>
      </p:pic>
    </p:spTree>
    <p:extLst>
      <p:ext uri="{BB962C8B-B14F-4D97-AF65-F5344CB8AC3E}">
        <p14:creationId xmlns:p14="http://schemas.microsoft.com/office/powerpoint/2010/main" val="360000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F1E1E-2DA6-912C-F2CF-3E02448F358D}"/>
              </a:ext>
            </a:extLst>
          </p:cNvPr>
          <p:cNvSpPr>
            <a:spLocks noGrp="1"/>
          </p:cNvSpPr>
          <p:nvPr>
            <p:ph type="title"/>
          </p:nvPr>
        </p:nvSpPr>
        <p:spPr/>
        <p:txBody>
          <a:bodyPr/>
          <a:lstStyle/>
          <a:p>
            <a:r>
              <a:rPr lang="en-IN" sz="1800" b="0" i="0" u="none" strike="noStrike" baseline="0" dirty="0">
                <a:latin typeface="AdvOTbc475f09"/>
              </a:rPr>
              <a:t>cognitive abilities </a:t>
            </a:r>
            <a:r>
              <a:rPr lang="en-US" sz="1800" b="0" i="0" u="none" strike="noStrike" baseline="0" dirty="0">
                <a:latin typeface="AdvOTbc475f09"/>
              </a:rPr>
              <a:t>necessary for observational learning to occur </a:t>
            </a:r>
            <a:r>
              <a:rPr lang="en-IN" sz="1800" b="0" i="0" u="none" strike="noStrike" baseline="0" dirty="0">
                <a:latin typeface="AdvOTbc475f09"/>
              </a:rPr>
              <a:t>(Bandura, 1977, 2001).</a:t>
            </a:r>
            <a:endParaRPr lang="en-IN" dirty="0"/>
          </a:p>
        </p:txBody>
      </p:sp>
      <p:sp>
        <p:nvSpPr>
          <p:cNvPr id="3" name="Content Placeholder 2">
            <a:extLst>
              <a:ext uri="{FF2B5EF4-FFF2-40B4-BE49-F238E27FC236}">
                <a16:creationId xmlns:a16="http://schemas.microsoft.com/office/drawing/2014/main" id="{AC7BC178-E61F-A760-55FC-8E48B6C0A99C}"/>
              </a:ext>
            </a:extLst>
          </p:cNvPr>
          <p:cNvSpPr>
            <a:spLocks noGrp="1"/>
          </p:cNvSpPr>
          <p:nvPr>
            <p:ph sz="half" idx="1"/>
          </p:nvPr>
        </p:nvSpPr>
        <p:spPr/>
        <p:txBody>
          <a:bodyPr/>
          <a:lstStyle/>
          <a:p>
            <a:pPr algn="l"/>
            <a:r>
              <a:rPr lang="en-US" sz="1800" b="0" i="0" u="none" strike="noStrike" baseline="0" dirty="0">
                <a:latin typeface="AdvOTbc475f09"/>
              </a:rPr>
              <a:t>The learner must be able to </a:t>
            </a:r>
          </a:p>
          <a:p>
            <a:pPr algn="l"/>
            <a:r>
              <a:rPr lang="en-US" sz="1800" b="0" i="0" u="none" strike="noStrike" baseline="0" dirty="0">
                <a:latin typeface="AdvOTbc475f09"/>
              </a:rPr>
              <a:t>(1) pay attention to the model</a:t>
            </a:r>
            <a:r>
              <a:rPr lang="en-US" sz="1800" b="0" i="0" u="none" strike="noStrike" baseline="0" dirty="0">
                <a:latin typeface="AdvOTbc475f09+20"/>
              </a:rPr>
              <a:t>’</a:t>
            </a:r>
            <a:r>
              <a:rPr lang="en-US" sz="1800" b="0" i="0" u="none" strike="noStrike" baseline="0" dirty="0">
                <a:latin typeface="AdvOTbc475f09"/>
              </a:rPr>
              <a:t>s behavior and observe its consequences, </a:t>
            </a:r>
          </a:p>
          <a:p>
            <a:pPr algn="l"/>
            <a:r>
              <a:rPr lang="en-US" sz="1800" b="0" i="0" u="none" strike="noStrike" baseline="0" dirty="0">
                <a:latin typeface="AdvOTbc475f09"/>
              </a:rPr>
              <a:t>(2) remember what was observed, </a:t>
            </a:r>
          </a:p>
          <a:p>
            <a:pPr algn="l"/>
            <a:r>
              <a:rPr lang="en-US" sz="1800" b="0" i="0" u="none" strike="noStrike" baseline="0" dirty="0">
                <a:latin typeface="AdvOTbc475f09"/>
              </a:rPr>
              <a:t>(3) be able to reproduce the behavior, and </a:t>
            </a:r>
          </a:p>
          <a:p>
            <a:pPr algn="l"/>
            <a:r>
              <a:rPr lang="en-US" sz="1800" b="0" i="0" u="none" strike="noStrike" baseline="0" dirty="0">
                <a:latin typeface="AdvOTbc475f09"/>
              </a:rPr>
              <a:t>(4) be motivated to do so. </a:t>
            </a:r>
          </a:p>
          <a:p>
            <a:pPr algn="l"/>
            <a:endParaRPr lang="en-US" sz="1800" dirty="0">
              <a:latin typeface="AdvOTbc475f09"/>
            </a:endParaRPr>
          </a:p>
          <a:p>
            <a:pPr algn="l"/>
            <a:r>
              <a:rPr lang="en-US" sz="1800" b="0" i="0" u="none" strike="noStrike" baseline="0" dirty="0">
                <a:latin typeface="AdvOTbc475f09"/>
              </a:rPr>
              <a:t>In other words: observational learning involves the ability to imagine and anticipate </a:t>
            </a:r>
            <a:r>
              <a:rPr lang="en-US" sz="1800" b="0" i="0" u="none" strike="noStrike" baseline="0" dirty="0">
                <a:latin typeface="AdvOTbc475f09+20"/>
              </a:rPr>
              <a:t>– </a:t>
            </a:r>
            <a:r>
              <a:rPr lang="en-US" sz="1800" b="0" i="0" u="none" strike="noStrike" baseline="0" dirty="0">
                <a:latin typeface="AdvOTbc475f09"/>
              </a:rPr>
              <a:t>thoughts and </a:t>
            </a:r>
            <a:r>
              <a:rPr lang="en-IN" sz="1800" b="0" i="0" u="none" strike="noStrike" baseline="0" dirty="0">
                <a:latin typeface="AdvOTbc475f09"/>
              </a:rPr>
              <a:t>intentions are essential.</a:t>
            </a:r>
            <a:endParaRPr lang="en-IN" dirty="0"/>
          </a:p>
        </p:txBody>
      </p:sp>
      <p:sp>
        <p:nvSpPr>
          <p:cNvPr id="4" name="Content Placeholder 3">
            <a:extLst>
              <a:ext uri="{FF2B5EF4-FFF2-40B4-BE49-F238E27FC236}">
                <a16:creationId xmlns:a16="http://schemas.microsoft.com/office/drawing/2014/main" id="{4583DE09-9EEC-886F-0E3C-6177100ADB5F}"/>
              </a:ext>
            </a:extLst>
          </p:cNvPr>
          <p:cNvSpPr>
            <a:spLocks noGrp="1"/>
          </p:cNvSpPr>
          <p:nvPr>
            <p:ph sz="half" idx="2"/>
          </p:nvPr>
        </p:nvSpPr>
        <p:spPr/>
        <p:txBody>
          <a:bodyPr/>
          <a:lstStyle/>
          <a:p>
            <a:pPr algn="l"/>
            <a:r>
              <a:rPr lang="en-US" sz="1800" b="0" i="0" u="none" strike="noStrike" baseline="0" dirty="0">
                <a:solidFill>
                  <a:srgbClr val="000000"/>
                </a:solidFill>
                <a:latin typeface="AdvOTbc475f09"/>
              </a:rPr>
              <a:t>Bandura</a:t>
            </a:r>
            <a:r>
              <a:rPr lang="en-US" sz="1800" b="0" i="0" u="none" strike="noStrike" baseline="0" dirty="0">
                <a:solidFill>
                  <a:srgbClr val="000000"/>
                </a:solidFill>
                <a:latin typeface="AdvOTbc475f09+20"/>
              </a:rPr>
              <a:t>’</a:t>
            </a:r>
            <a:r>
              <a:rPr lang="en-US" sz="1800" b="0" i="0" u="none" strike="noStrike" baseline="0" dirty="0">
                <a:solidFill>
                  <a:srgbClr val="000000"/>
                </a:solidFill>
                <a:latin typeface="AdvOTbc475f09"/>
              </a:rPr>
              <a:t>s </a:t>
            </a:r>
            <a:r>
              <a:rPr lang="en-US" sz="1800" b="0" i="0" u="none" strike="noStrike" baseline="0" dirty="0">
                <a:solidFill>
                  <a:srgbClr val="000000"/>
                </a:solidFill>
                <a:latin typeface="AdvOTbc475f09+20"/>
              </a:rPr>
              <a:t>‘</a:t>
            </a:r>
            <a:r>
              <a:rPr lang="en-US" sz="1800" b="0" i="0" u="none" strike="noStrike" baseline="0" dirty="0">
                <a:solidFill>
                  <a:srgbClr val="000000"/>
                </a:solidFill>
                <a:latin typeface="AdvOTbc475f09"/>
              </a:rPr>
              <a:t>agentic perspective</a:t>
            </a:r>
            <a:r>
              <a:rPr lang="en-US" sz="1800" b="0" i="0" u="none" strike="noStrike" baseline="0" dirty="0">
                <a:solidFill>
                  <a:srgbClr val="000000"/>
                </a:solidFill>
                <a:latin typeface="AdvOTbc475f09+20"/>
              </a:rPr>
              <a:t>’ </a:t>
            </a:r>
            <a:r>
              <a:rPr lang="en-US" sz="1800" b="0" i="0" u="none" strike="noStrike" baseline="0" dirty="0">
                <a:solidFill>
                  <a:srgbClr val="000000"/>
                </a:solidFill>
                <a:latin typeface="AdvOTbc475f09"/>
              </a:rPr>
              <a:t>draws our attention to the fact that cognitions motivate actions, and that a sense of </a:t>
            </a:r>
            <a:r>
              <a:rPr lang="en-US" sz="1800" b="0" i="0" u="none" strike="noStrike" baseline="0" dirty="0">
                <a:solidFill>
                  <a:srgbClr val="FF6666"/>
                </a:solidFill>
                <a:latin typeface="AdvOT34fe1490.B"/>
              </a:rPr>
              <a:t>self-efficacy </a:t>
            </a:r>
            <a:r>
              <a:rPr lang="en-US" sz="1800" b="0" i="0" u="none" strike="noStrike" baseline="0" dirty="0">
                <a:solidFill>
                  <a:srgbClr val="000000"/>
                </a:solidFill>
                <a:latin typeface="AdvOTbc475f09"/>
              </a:rPr>
              <a:t>(an individual</a:t>
            </a:r>
            <a:r>
              <a:rPr lang="en-US" sz="1800" b="0" i="0" u="none" strike="noStrike" baseline="0" dirty="0">
                <a:solidFill>
                  <a:srgbClr val="000000"/>
                </a:solidFill>
                <a:latin typeface="AdvOTbc475f09+20"/>
              </a:rPr>
              <a:t>’</a:t>
            </a:r>
            <a:r>
              <a:rPr lang="en-US" sz="1800" b="0" i="0" u="none" strike="noStrike" baseline="0" dirty="0">
                <a:solidFill>
                  <a:srgbClr val="000000"/>
                </a:solidFill>
                <a:latin typeface="AdvOTbc475f09"/>
              </a:rPr>
              <a:t>s belief in their own effectiveness) is essential for complex and social learning.</a:t>
            </a:r>
          </a:p>
          <a:p>
            <a:pPr algn="l"/>
            <a:r>
              <a:rPr lang="en-US" sz="1800" b="0" i="0" u="none" strike="noStrike" baseline="0" dirty="0">
                <a:solidFill>
                  <a:srgbClr val="000000"/>
                </a:solidFill>
                <a:latin typeface="AdvOTbc475f09"/>
              </a:rPr>
              <a:t>If you believe that you are simply incapable of giving a good presentation in class, you are unlikely to motivate</a:t>
            </a:r>
            <a:endParaRPr lang="en-IN" dirty="0"/>
          </a:p>
        </p:txBody>
      </p:sp>
    </p:spTree>
    <p:extLst>
      <p:ext uri="{BB962C8B-B14F-4D97-AF65-F5344CB8AC3E}">
        <p14:creationId xmlns:p14="http://schemas.microsoft.com/office/powerpoint/2010/main" val="1834197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F1C5-AAAA-5F55-57A9-7FD24AB92671}"/>
              </a:ext>
            </a:extLst>
          </p:cNvPr>
          <p:cNvSpPr>
            <a:spLocks noGrp="1"/>
          </p:cNvSpPr>
          <p:nvPr>
            <p:ph type="title"/>
          </p:nvPr>
        </p:nvSpPr>
        <p:spPr>
          <a:xfrm>
            <a:off x="4855028" y="365125"/>
            <a:ext cx="6498771" cy="1325563"/>
          </a:xfrm>
        </p:spPr>
        <p:txBody>
          <a:bodyPr/>
          <a:lstStyle/>
          <a:p>
            <a:r>
              <a:rPr lang="en-IN" dirty="0"/>
              <a:t>Biological Constrains</a:t>
            </a:r>
          </a:p>
        </p:txBody>
      </p:sp>
      <p:pic>
        <p:nvPicPr>
          <p:cNvPr id="6" name="Content Placeholder 5">
            <a:extLst>
              <a:ext uri="{FF2B5EF4-FFF2-40B4-BE49-F238E27FC236}">
                <a16:creationId xmlns:a16="http://schemas.microsoft.com/office/drawing/2014/main" id="{0301FDD1-ECC4-8713-0B5D-A819B73D85D2}"/>
              </a:ext>
            </a:extLst>
          </p:cNvPr>
          <p:cNvPicPr>
            <a:picLocks noGrp="1" noChangeAspect="1"/>
          </p:cNvPicPr>
          <p:nvPr>
            <p:ph sz="half" idx="1"/>
          </p:nvPr>
        </p:nvPicPr>
        <p:blipFill>
          <a:blip r:embed="rId2"/>
          <a:stretch>
            <a:fillRect/>
          </a:stretch>
        </p:blipFill>
        <p:spPr>
          <a:xfrm>
            <a:off x="337457" y="365125"/>
            <a:ext cx="4389821" cy="4351338"/>
          </a:xfrm>
        </p:spPr>
      </p:pic>
      <p:sp>
        <p:nvSpPr>
          <p:cNvPr id="7" name="Content Placeholder 2">
            <a:extLst>
              <a:ext uri="{FF2B5EF4-FFF2-40B4-BE49-F238E27FC236}">
                <a16:creationId xmlns:a16="http://schemas.microsoft.com/office/drawing/2014/main" id="{CD526AE5-0901-A7A6-6EAF-A813A1371CE1}"/>
              </a:ext>
            </a:extLst>
          </p:cNvPr>
          <p:cNvSpPr>
            <a:spLocks noGrp="1"/>
          </p:cNvSpPr>
          <p:nvPr>
            <p:ph sz="half" idx="2"/>
          </p:nvPr>
        </p:nvSpPr>
        <p:spPr>
          <a:xfrm>
            <a:off x="6172200" y="1825625"/>
            <a:ext cx="5181600" cy="4351338"/>
          </a:xfrm>
        </p:spPr>
        <p:txBody>
          <a:bodyPr/>
          <a:lstStyle/>
          <a:p>
            <a:pPr algn="l"/>
            <a:r>
              <a:rPr lang="en-US" sz="1800" dirty="0">
                <a:latin typeface="HelveticaNeueLTW1G-Lt"/>
              </a:rPr>
              <a:t>A</a:t>
            </a:r>
            <a:r>
              <a:rPr lang="en-US" sz="1800" b="0" i="0" u="none" strike="noStrike" baseline="0" dirty="0">
                <a:latin typeface="HelveticaNeueLTW1G-Lt"/>
              </a:rPr>
              <a:t>s the coins became more and more associated with food, the animals began to drift back into the instinctual patterns of behavior that they used with real food. </a:t>
            </a:r>
          </a:p>
          <a:p>
            <a:pPr algn="l"/>
            <a:r>
              <a:rPr lang="en-US" sz="1800" dirty="0">
                <a:latin typeface="HelveticaNeueLTW1G-Lt"/>
              </a:rPr>
              <a:t>R</a:t>
            </a:r>
            <a:r>
              <a:rPr lang="en-US" sz="1800" b="0" i="0" u="none" strike="noStrike" baseline="0" dirty="0">
                <a:latin typeface="HelveticaNeueLTW1G-Lt"/>
              </a:rPr>
              <a:t>accoons rub their food between their paws and dip it in and out of water. </a:t>
            </a:r>
          </a:p>
          <a:p>
            <a:pPr algn="l"/>
            <a:r>
              <a:rPr lang="en-US" sz="1800" b="0" i="0" u="none" strike="noStrike" baseline="0" dirty="0">
                <a:latin typeface="HelveticaNeueLTW1G-Lt"/>
              </a:rPr>
              <a:t>Pigs root and throw their food around before eating it. </a:t>
            </a:r>
          </a:p>
          <a:p>
            <a:pPr algn="l"/>
            <a:r>
              <a:rPr lang="en-US" sz="1800" b="0" i="0" u="none" strike="noStrike" baseline="0" dirty="0">
                <a:latin typeface="HelveticaNeueLTW1G-Lt"/>
              </a:rPr>
              <a:t>The </a:t>
            </a:r>
            <a:r>
              <a:rPr lang="en-US" sz="1800" b="0" i="0" u="none" strike="noStrike" baseline="0" dirty="0" err="1">
                <a:latin typeface="HelveticaNeueLTW1G-Lt"/>
              </a:rPr>
              <a:t>Brelands</a:t>
            </a:r>
            <a:r>
              <a:rPr lang="en-US" sz="1800" b="0" i="0" u="none" strike="noStrike" baseline="0" dirty="0">
                <a:latin typeface="HelveticaNeueLTW1G-Lt"/>
              </a:rPr>
              <a:t> called this tendency to revert to genetically controlled </a:t>
            </a:r>
            <a:r>
              <a:rPr lang="en-IN" sz="1800" b="0" i="0" u="none" strike="noStrike" baseline="0" dirty="0">
                <a:latin typeface="HelveticaNeueLTW1G-Lt"/>
              </a:rPr>
              <a:t>patterns </a:t>
            </a:r>
            <a:r>
              <a:rPr lang="en-IN" sz="1800" b="1" i="0" u="none" strike="noStrike" baseline="0" dirty="0">
                <a:latin typeface="HelveticaNeueLTW1G-Bd"/>
              </a:rPr>
              <a:t>instinctive drift</a:t>
            </a:r>
            <a:r>
              <a:rPr lang="en-IN" sz="1800" b="1" i="0" u="none" strike="noStrike" baseline="0" dirty="0">
                <a:latin typeface="HelveticaNeueLTW1G-Lt"/>
              </a:rPr>
              <a:t>. </a:t>
            </a:r>
            <a:endParaRPr lang="en-IN" b="1" dirty="0"/>
          </a:p>
        </p:txBody>
      </p:sp>
    </p:spTree>
    <p:extLst>
      <p:ext uri="{BB962C8B-B14F-4D97-AF65-F5344CB8AC3E}">
        <p14:creationId xmlns:p14="http://schemas.microsoft.com/office/powerpoint/2010/main" val="28865350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Schedules of Reinforcement</a:t>
            </a:r>
            <a:endParaRPr lang="en-IN" dirty="0"/>
          </a:p>
        </p:txBody>
      </p:sp>
      <p:sp>
        <p:nvSpPr>
          <p:cNvPr id="3" name="Content Placeholder 2"/>
          <p:cNvSpPr>
            <a:spLocks noGrp="1"/>
          </p:cNvSpPr>
          <p:nvPr>
            <p:ph sz="half" idx="1"/>
          </p:nvPr>
        </p:nvSpPr>
        <p:spPr>
          <a:xfrm>
            <a:off x="838200" y="1458686"/>
            <a:ext cx="5181600" cy="5134619"/>
          </a:xfrm>
          <a:solidFill>
            <a:schemeClr val="accent2"/>
          </a:solidFill>
        </p:spPr>
        <p:txBody>
          <a:bodyPr>
            <a:noAutofit/>
          </a:bodyPr>
          <a:lstStyle/>
          <a:p>
            <a:r>
              <a:rPr lang="en-US" sz="1700" dirty="0"/>
              <a:t>Skinner pointed out that in everyday life outside the psychology laboratory, our behavior is rarely reinforced every time it occurs </a:t>
            </a:r>
            <a:r>
              <a:rPr lang="en-US" sz="1700" b="1" dirty="0"/>
              <a:t>(continuous reinforcement). </a:t>
            </a:r>
            <a:r>
              <a:rPr lang="en-US" sz="1700" dirty="0"/>
              <a:t>E.g. babies, batsmen, bagger, singers, etc.</a:t>
            </a:r>
          </a:p>
          <a:p>
            <a:pPr marL="514350" indent="-514350">
              <a:buFont typeface="+mj-lt"/>
              <a:buAutoNum type="arabicPeriod"/>
            </a:pPr>
            <a:r>
              <a:rPr lang="en-US" sz="1700" b="1" i="1" dirty="0"/>
              <a:t>Fixed-interval schedule:</a:t>
            </a:r>
            <a:r>
              <a:rPr lang="en-US" sz="1700" b="1" dirty="0"/>
              <a:t> </a:t>
            </a:r>
            <a:r>
              <a:rPr lang="en-US" sz="1700" dirty="0"/>
              <a:t>interval might be 1 minute, 3 minutes, or any other fixed period of time. E.g. scheduled tests, monthly salary.</a:t>
            </a:r>
          </a:p>
          <a:p>
            <a:pPr marL="514350" indent="-514350">
              <a:buFont typeface="+mj-lt"/>
              <a:buAutoNum type="arabicPeriod"/>
            </a:pPr>
            <a:r>
              <a:rPr lang="en-IN" sz="1700" b="1" i="1" dirty="0"/>
              <a:t>Fixed-ratio schedule: </a:t>
            </a:r>
            <a:r>
              <a:rPr lang="en-US" sz="1700" dirty="0" err="1"/>
              <a:t>reinforcers</a:t>
            </a:r>
            <a:r>
              <a:rPr lang="en-US" sz="1700" dirty="0"/>
              <a:t> are given only after the organism has made a specified number of responses. For example, the experimenter could reinforce after every 10th or 20th response. E.g. sales or produce jobs</a:t>
            </a:r>
          </a:p>
          <a:p>
            <a:r>
              <a:rPr lang="en-US" sz="1700" dirty="0"/>
              <a:t>faster rate of responding than </a:t>
            </a:r>
            <a:r>
              <a:rPr lang="en-IN" sz="1700" dirty="0"/>
              <a:t>does the fixed-interval schedule.</a:t>
            </a:r>
            <a:endParaRPr lang="en-US" sz="1700" dirty="0"/>
          </a:p>
          <a:p>
            <a:pPr>
              <a:buFont typeface="Wingdings" panose="05000000000000000000" pitchFamily="2" charset="2"/>
              <a:buChar char="Ø"/>
            </a:pPr>
            <a:r>
              <a:rPr lang="en-US" sz="1700" dirty="0"/>
              <a:t>Nearly all reinforcement begins with continuous reinforcement then move towards intermittent. </a:t>
            </a:r>
          </a:p>
          <a:p>
            <a:pPr>
              <a:buFont typeface="Wingdings" panose="05000000000000000000" pitchFamily="2" charset="2"/>
              <a:buChar char="Ø"/>
            </a:pPr>
            <a:endParaRPr lang="en-US" sz="1700" dirty="0"/>
          </a:p>
        </p:txBody>
      </p:sp>
      <p:sp>
        <p:nvSpPr>
          <p:cNvPr id="4" name="Content Placeholder 3"/>
          <p:cNvSpPr>
            <a:spLocks noGrp="1"/>
          </p:cNvSpPr>
          <p:nvPr>
            <p:ph sz="half" idx="2"/>
          </p:nvPr>
        </p:nvSpPr>
        <p:spPr>
          <a:xfrm>
            <a:off x="6172200" y="1458686"/>
            <a:ext cx="5181600" cy="5134619"/>
          </a:xfrm>
          <a:solidFill>
            <a:schemeClr val="accent4"/>
          </a:solidFill>
        </p:spPr>
        <p:txBody>
          <a:bodyPr>
            <a:normAutofit fontScale="70000" lnSpcReduction="20000"/>
          </a:bodyPr>
          <a:lstStyle/>
          <a:p>
            <a:r>
              <a:rPr lang="en-US" dirty="0"/>
              <a:t>But everyday life doesn’t always permit a fixed-interval or fixed-ratio reinforcement </a:t>
            </a:r>
            <a:r>
              <a:rPr lang="en-IN" dirty="0"/>
              <a:t>schedule.</a:t>
            </a:r>
          </a:p>
          <a:p>
            <a:pPr marL="0" indent="0">
              <a:buNone/>
            </a:pPr>
            <a:r>
              <a:rPr lang="en-US" dirty="0"/>
              <a:t>3. </a:t>
            </a:r>
            <a:r>
              <a:rPr lang="en-IN" b="1" i="1" dirty="0"/>
              <a:t>Variable-interval schedule: </a:t>
            </a:r>
            <a:r>
              <a:rPr lang="en-US" dirty="0"/>
              <a:t>the reinforcer might appear after 2 hours in the first instance, after 1 and a 1⁄2 hours the next time, and after 2 hours and 15 minutes </a:t>
            </a:r>
            <a:r>
              <a:rPr lang="en-IN" dirty="0"/>
              <a:t>the third time. </a:t>
            </a:r>
            <a:r>
              <a:rPr lang="en-US" dirty="0"/>
              <a:t>E.g. fishing experiences</a:t>
            </a:r>
          </a:p>
          <a:p>
            <a:pPr marL="0" indent="0">
              <a:buNone/>
            </a:pPr>
            <a:r>
              <a:rPr lang="en-US" dirty="0"/>
              <a:t>4. </a:t>
            </a:r>
            <a:r>
              <a:rPr lang="en-IN" b="1" i="1" dirty="0"/>
              <a:t>Variable-ratio schedule: </a:t>
            </a:r>
            <a:r>
              <a:rPr lang="en-IN" b="1" dirty="0"/>
              <a:t> </a:t>
            </a:r>
            <a:r>
              <a:rPr lang="en-IN" dirty="0"/>
              <a:t>reinforced after every n</a:t>
            </a:r>
            <a:r>
              <a:rPr lang="en-IN" baseline="30000" dirty="0"/>
              <a:t>th</a:t>
            </a:r>
            <a:r>
              <a:rPr lang="en-IN" dirty="0"/>
              <a:t> response on the average. </a:t>
            </a:r>
          </a:p>
          <a:p>
            <a:pPr marL="0" indent="0">
              <a:buNone/>
            </a:pPr>
            <a:r>
              <a:rPr lang="en-IN" dirty="0"/>
              <a:t>3 – 6 – 10 , so on.</a:t>
            </a:r>
          </a:p>
          <a:p>
            <a:pPr marL="0" indent="0">
              <a:buNone/>
            </a:pPr>
            <a:endParaRPr lang="en-US" dirty="0"/>
          </a:p>
          <a:p>
            <a:pPr>
              <a:buFont typeface="Wingdings" panose="05000000000000000000" pitchFamily="2" charset="2"/>
              <a:buChar char="Ø"/>
            </a:pPr>
            <a:r>
              <a:rPr lang="en-US" dirty="0"/>
              <a:t>After a high mean is reached, say 500, responses become extremely resistant to extinction. </a:t>
            </a:r>
          </a:p>
          <a:p>
            <a:pPr>
              <a:buFont typeface="Wingdings" panose="05000000000000000000" pitchFamily="2" charset="2"/>
              <a:buChar char="Ø"/>
            </a:pPr>
            <a:r>
              <a:rPr lang="en-US" dirty="0"/>
              <a:t>Extinction: the tendency of a previously acquired response to become progressively weakened </a:t>
            </a:r>
            <a:r>
              <a:rPr lang="en-IN" dirty="0"/>
              <a:t>upon non-reinforcement.</a:t>
            </a:r>
          </a:p>
          <a:p>
            <a:pPr marL="0" indent="0">
              <a:buNone/>
            </a:pPr>
            <a:r>
              <a:rPr lang="en-US" dirty="0"/>
              <a:t>e.g. playing with slot machines.</a:t>
            </a:r>
            <a:endParaRPr lang="en-IN" dirty="0"/>
          </a:p>
        </p:txBody>
      </p:sp>
      <p:graphicFrame>
        <p:nvGraphicFramePr>
          <p:cNvPr id="6" name="Diagram 5"/>
          <p:cNvGraphicFramePr/>
          <p:nvPr>
            <p:extLst>
              <p:ext uri="{D42A27DB-BD31-4B8C-83A1-F6EECF244321}">
                <p14:modId xmlns:p14="http://schemas.microsoft.com/office/powerpoint/2010/main" val="566255630"/>
              </p:ext>
            </p:extLst>
          </p:nvPr>
        </p:nvGraphicFramePr>
        <p:xfrm>
          <a:off x="1639956" y="6158487"/>
          <a:ext cx="3578087" cy="696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67013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7A4C-CFB7-61A4-1570-723475D3ADD1}"/>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072E2D51-96FE-17A3-3842-9C1ECF795D5B}"/>
              </a:ext>
            </a:extLst>
          </p:cNvPr>
          <p:cNvSpPr>
            <a:spLocks noGrp="1"/>
          </p:cNvSpPr>
          <p:nvPr>
            <p:ph sz="half" idx="2"/>
          </p:nvPr>
        </p:nvSpPr>
        <p:spPr/>
        <p:txBody>
          <a:bodyPr/>
          <a:lstStyle/>
          <a:p>
            <a:endParaRPr lang="en-IN"/>
          </a:p>
        </p:txBody>
      </p:sp>
      <p:graphicFrame>
        <p:nvGraphicFramePr>
          <p:cNvPr id="5" name="Content Placeholder 4">
            <a:extLst>
              <a:ext uri="{FF2B5EF4-FFF2-40B4-BE49-F238E27FC236}">
                <a16:creationId xmlns:a16="http://schemas.microsoft.com/office/drawing/2014/main" id="{94C5E0AE-F570-31F8-2A33-F6BB6F7B89DD}"/>
              </a:ext>
            </a:extLst>
          </p:cNvPr>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6901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2E53B-524F-B7B7-D322-C5EAF75EE7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DB284BC-F48C-5AD1-6416-58451234B058}"/>
              </a:ext>
            </a:extLst>
          </p:cNvPr>
          <p:cNvSpPr>
            <a:spLocks noGrp="1"/>
          </p:cNvSpPr>
          <p:nvPr>
            <p:ph sz="half" idx="1"/>
          </p:nvPr>
        </p:nvSpPr>
        <p:spPr/>
        <p:txBody>
          <a:bodyPr/>
          <a:lstStyle/>
          <a:p>
            <a:pPr algn="l"/>
            <a:r>
              <a:rPr lang="en-US" sz="1800" b="0" i="0" u="none" strike="noStrike" baseline="0" dirty="0">
                <a:latin typeface="HelveticaNeueLTW1G-Lt"/>
              </a:rPr>
              <a:t>as the coins became more and more associated with food, the animals began to</a:t>
            </a:r>
          </a:p>
          <a:p>
            <a:pPr algn="l"/>
            <a:r>
              <a:rPr lang="en-US" sz="1800" b="0" i="0" u="none" strike="noStrike" baseline="0" dirty="0">
                <a:latin typeface="HelveticaNeueLTW1G-Lt"/>
              </a:rPr>
              <a:t>drift back into the instinctual patterns of behavior that they used with real food. Raccoons</a:t>
            </a:r>
          </a:p>
          <a:p>
            <a:pPr algn="l"/>
            <a:r>
              <a:rPr lang="en-US" sz="1800" b="0" i="0" u="none" strike="noStrike" baseline="0" dirty="0">
                <a:latin typeface="HelveticaNeueLTW1G-Lt"/>
              </a:rPr>
              <a:t>rub their food between their paws and dip it in and out of water. Pigs root and throw their</a:t>
            </a:r>
          </a:p>
          <a:p>
            <a:pPr algn="l"/>
            <a:r>
              <a:rPr lang="en-US" sz="1800" b="0" i="0" u="none" strike="noStrike" baseline="0" dirty="0">
                <a:latin typeface="HelveticaNeueLTW1G-Lt"/>
              </a:rPr>
              <a:t>food around before eating it. The </a:t>
            </a:r>
            <a:r>
              <a:rPr lang="en-US" sz="1800" b="0" i="0" u="none" strike="noStrike" baseline="0" dirty="0" err="1">
                <a:latin typeface="HelveticaNeueLTW1G-Lt"/>
              </a:rPr>
              <a:t>Brelands</a:t>
            </a:r>
            <a:r>
              <a:rPr lang="en-US" sz="1800" b="0" i="0" u="none" strike="noStrike" baseline="0" dirty="0">
                <a:latin typeface="HelveticaNeueLTW1G-Lt"/>
              </a:rPr>
              <a:t> called this tendency to revert to genetically controlled</a:t>
            </a:r>
          </a:p>
          <a:p>
            <a:pPr algn="l"/>
            <a:r>
              <a:rPr lang="en-IN" sz="1800" b="0" i="0" u="none" strike="noStrike" baseline="0" dirty="0">
                <a:latin typeface="HelveticaNeueLTW1G-Lt"/>
              </a:rPr>
              <a:t>patterns </a:t>
            </a:r>
            <a:r>
              <a:rPr lang="en-IN" sz="1800" b="0" i="0" u="none" strike="noStrike" baseline="0" dirty="0">
                <a:latin typeface="HelveticaNeueLTW1G-Bd"/>
              </a:rPr>
              <a:t>instinctive drift</a:t>
            </a:r>
            <a:r>
              <a:rPr lang="en-IN" sz="1800" b="0" i="0" u="none" strike="noStrike" baseline="0" dirty="0">
                <a:latin typeface="HelveticaNeueLTW1G-Lt"/>
              </a:rPr>
              <a:t>.</a:t>
            </a:r>
            <a:endParaRPr lang="en-IN" dirty="0"/>
          </a:p>
        </p:txBody>
      </p:sp>
      <p:sp>
        <p:nvSpPr>
          <p:cNvPr id="4" name="Content Placeholder 3">
            <a:extLst>
              <a:ext uri="{FF2B5EF4-FFF2-40B4-BE49-F238E27FC236}">
                <a16:creationId xmlns:a16="http://schemas.microsoft.com/office/drawing/2014/main" id="{AFAF1846-D111-89D5-0F9F-B75FCD21C8D0}"/>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2021460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6233</TotalTime>
  <Words>5394</Words>
  <Application>Microsoft Office PowerPoint</Application>
  <PresentationFormat>Widescreen</PresentationFormat>
  <Paragraphs>343</Paragraphs>
  <Slides>63</Slides>
  <Notes>2</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63</vt:i4>
      </vt:variant>
    </vt:vector>
  </HeadingPairs>
  <TitlesOfParts>
    <vt:vector size="84" baseType="lpstr">
      <vt:lpstr>AdvOT34fe1490.B</vt:lpstr>
      <vt:lpstr>AdvOT638a931c.I</vt:lpstr>
      <vt:lpstr>AdvOTbc475f09</vt:lpstr>
      <vt:lpstr>AdvOTbc475f09+20</vt:lpstr>
      <vt:lpstr>AdvP6EC5</vt:lpstr>
      <vt:lpstr>Aptos</vt:lpstr>
      <vt:lpstr>Aptos Display</vt:lpstr>
      <vt:lpstr>Arial</vt:lpstr>
      <vt:lpstr>Arial</vt:lpstr>
      <vt:lpstr>Georgia</vt:lpstr>
      <vt:lpstr>Goudy Old Style</vt:lpstr>
      <vt:lpstr>HelveticaNeueLTW1G-Bd</vt:lpstr>
      <vt:lpstr>HelveticaNeueLTW1G-Lt</vt:lpstr>
      <vt:lpstr>Palatino Linotype</vt:lpstr>
      <vt:lpstr>PalatinoLTPro-Bold</vt:lpstr>
      <vt:lpstr>PalatinoLTPro-Italic</vt:lpstr>
      <vt:lpstr>PalatinoLTPro-Medium</vt:lpstr>
      <vt:lpstr>PalatinoLTPro-Roman</vt:lpstr>
      <vt:lpstr>Times New Roman</vt:lpstr>
      <vt:lpstr>Wingdings</vt:lpstr>
      <vt:lpstr>Office Theme</vt:lpstr>
      <vt:lpstr>Introduction to Psychology- I</vt:lpstr>
      <vt:lpstr>Topics to be Covered</vt:lpstr>
      <vt:lpstr>Species typical behaviour patterns</vt:lpstr>
      <vt:lpstr>PowerPoint Presentation</vt:lpstr>
      <vt:lpstr>Species typical behaviour among cowbirds</vt:lpstr>
      <vt:lpstr>Survival can be promoted by warning/threatening</vt:lpstr>
      <vt:lpstr>Species typical behaviour patterns</vt:lpstr>
      <vt:lpstr>Species typical behaviour among Humans</vt:lpstr>
      <vt:lpstr>PowerPoint Presentation</vt:lpstr>
      <vt:lpstr>Evolutionary heritage leading to behaviours in Humans </vt:lpstr>
      <vt:lpstr>Books</vt:lpstr>
      <vt:lpstr>PowerPoint Presentation</vt:lpstr>
      <vt:lpstr>Nature vs. Nurture </vt:lpstr>
      <vt:lpstr>Organization of the Nervous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Synaptic Transmission</vt:lpstr>
      <vt:lpstr>2 types of effects</vt:lpstr>
      <vt:lpstr>Neurotransmitters : Acetylcholine</vt:lpstr>
      <vt:lpstr>Acetylcholine</vt:lpstr>
      <vt:lpstr>Norepinephrine</vt:lpstr>
      <vt:lpstr>Dopamine</vt:lpstr>
      <vt:lpstr>Serotonin</vt:lpstr>
      <vt:lpstr>GABA </vt:lpstr>
      <vt:lpstr>PowerPoint Presentation</vt:lpstr>
      <vt:lpstr>PowerPoint Presentation</vt:lpstr>
      <vt:lpstr>The Sympathetic Division</vt:lpstr>
      <vt:lpstr>The Parasympathetic Division </vt:lpstr>
      <vt:lpstr>PowerPoint Presentation</vt:lpstr>
      <vt:lpstr>Case: Phineas Gage </vt:lpstr>
      <vt:lpstr>PowerPoint Presentation</vt:lpstr>
      <vt:lpstr>Classical conditioning </vt:lpstr>
      <vt:lpstr>Pavlov’s Classical Conditioning/ Respondent Conditioning</vt:lpstr>
      <vt:lpstr>PowerPoint Presentation</vt:lpstr>
      <vt:lpstr>PowerPoint Presentation</vt:lpstr>
      <vt:lpstr>PowerPoint Presentation</vt:lpstr>
      <vt:lpstr>Everyday occurrences using Classical Conditioning</vt:lpstr>
      <vt:lpstr>PowerPoint Presentation</vt:lpstr>
      <vt:lpstr>Few basic principles about the process</vt:lpstr>
      <vt:lpstr>PowerPoint Presentation</vt:lpstr>
      <vt:lpstr>PowerPoint Presentation</vt:lpstr>
      <vt:lpstr>Skinner’s Operant Chamber</vt:lpstr>
      <vt:lpstr>PowerPoint Presentation</vt:lpstr>
      <vt:lpstr>Reinforcers</vt:lpstr>
      <vt:lpstr>PowerPoint Presentation</vt:lpstr>
      <vt:lpstr>Successive Approximation: The Shaping of Behavior</vt:lpstr>
      <vt:lpstr>PowerPoint Presentation</vt:lpstr>
      <vt:lpstr>PowerPoint Presentation</vt:lpstr>
      <vt:lpstr>PowerPoint Presentation</vt:lpstr>
      <vt:lpstr>PowerPoint Presentation</vt:lpstr>
      <vt:lpstr>PowerPoint Presentation</vt:lpstr>
      <vt:lpstr>Observational Learning: “monkey see, monkey do.”</vt:lpstr>
      <vt:lpstr>PowerPoint Presentation</vt:lpstr>
      <vt:lpstr>cognitive abilities necessary for observational learning to occur (Bandura, 1977, 2001).</vt:lpstr>
      <vt:lpstr>Biological Constrains</vt:lpstr>
      <vt:lpstr>Schedules of Reinforcement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Anindita Ghosh</dc:creator>
  <cp:lastModifiedBy>Dr Anindita Ghosh</cp:lastModifiedBy>
  <cp:revision>24</cp:revision>
  <dcterms:created xsi:type="dcterms:W3CDTF">2025-03-02T05:50:37Z</dcterms:created>
  <dcterms:modified xsi:type="dcterms:W3CDTF">2025-04-20T17:45:32Z</dcterms:modified>
</cp:coreProperties>
</file>