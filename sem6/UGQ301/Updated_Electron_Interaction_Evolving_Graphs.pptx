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5143500" cy="9144000"/>
  <p:embeddedFontLst>
    <p:embeddedFont>
      <p:font typeface="Mate"/>
      <p:regular r:id="rId38"/>
      <p:italic r:id="rId39"/>
    </p:embeddedFont>
    <p:embeddedFont>
      <p:font typeface="Inter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4AD7EF-0A89-489C-B17C-F9CA7E60652A}">
  <a:tblStyle styleId="{C04AD7EF-0A89-489C-B17C-F9CA7E6065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20" Type="http://schemas.openxmlformats.org/officeDocument/2006/relationships/slide" Target="slides/slide15.xml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Inter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ate-italic.fntdata"/><Relationship Id="rId16" Type="http://schemas.openxmlformats.org/officeDocument/2006/relationships/slide" Target="slides/slide11.xml"/><Relationship Id="rId38" Type="http://schemas.openxmlformats.org/officeDocument/2006/relationships/font" Target="fonts/Mat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4" name="Google Shape;53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3" name="Google Shape;56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4" name="Google Shape;60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8" name="Google Shape;768;p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7" name="Google Shape;78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8de9cffb_62_0)">
  <p:cSld name="Generated (g3de8de9cffb_62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64008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640080" y="0"/>
            <a:ext cx="8503920" cy="514350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6858000" y="-182880"/>
            <a:ext cx="2926080" cy="2926080"/>
          </a:xfrm>
          <a:prstGeom prst="ellipse">
            <a:avLst/>
          </a:prstGeom>
          <a:solidFill>
            <a:srgbClr val="0077A8">
              <a:alpha val="30196"/>
            </a:srgbClr>
          </a:solidFill>
          <a:ln cap="flat" cmpd="sng" w="25400">
            <a:solidFill>
              <a:srgbClr val="00B4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7315200" y="2103120"/>
            <a:ext cx="1828800" cy="1828800"/>
          </a:xfrm>
          <a:prstGeom prst="ellipse">
            <a:avLst/>
          </a:prstGeom>
          <a:solidFill>
            <a:srgbClr val="00B4D8">
              <a:alpha val="20000"/>
            </a:srgbClr>
          </a:solidFill>
          <a:ln cap="flat" cmpd="sng" w="12700">
            <a:solidFill>
              <a:srgbClr val="00B4D8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217920" y="3200400"/>
            <a:ext cx="1097280" cy="1097280"/>
          </a:xfrm>
          <a:prstGeom prst="ellipse">
            <a:avLst/>
          </a:prstGeom>
          <a:solidFill>
            <a:srgbClr val="FFD166">
              <a:alpha val="25098"/>
            </a:srgbClr>
          </a:solidFill>
          <a:ln cap="flat" cmpd="sng" w="12700">
            <a:solidFill>
              <a:srgbClr val="FFD16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22960" y="91440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Electron Interaction Prediction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822960" y="15087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as Evolving Graphs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822960" y="2194560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Dual-Approach Study: Sparse Spectral Set Prediction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and Dense Electron-Density Forecasting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822960" y="2944368"/>
            <a:ext cx="41148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22960" y="3063240"/>
            <a:ext cx="56692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Research domain: ML-accelerated quantum dynamics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0AFC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Two repositories, two formulations, one shared scientific objective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0AFC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Molecules in scope: ammonia (39 peaks) and water (55 peaks)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22960" y="47548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ACADEMIC RESEARCH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Roadmap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Five-section structured technical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320040" y="1097280"/>
            <a:ext cx="54864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29768" y="1161288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868680" y="1161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Motivation &amp; Problem Framing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868680" y="143560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Why fast surrogate models matter for quantum spectroscopy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20040" y="1856232"/>
            <a:ext cx="8503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20040" y="1856232"/>
            <a:ext cx="54864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29768" y="192024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868680" y="19202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Approach A — Electron-GNN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68680" y="219456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Methods, architecture evolution V1→V3, results and failure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20040" y="2615184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20040" y="2615184"/>
            <a:ext cx="54864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29768" y="2679192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68680" y="267919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Approach B — Evolving Graphs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868680" y="295351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Dense electron-density forecasting across multiple time horizons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20040" y="3374136"/>
            <a:ext cx="8503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320040" y="3374136"/>
            <a:ext cx="54864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29768" y="3438144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68680" y="343814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Cross-Approach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8680" y="3712464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Side-by-side metrics, output forms, deployment profiles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20040" y="4133088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20040" y="4133088"/>
            <a:ext cx="54864" cy="6583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29768" y="4197096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68680" y="41970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Synthesis &amp; 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68680" y="4471416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Integration roadmap, benchmark priority, dataset scaling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Problem Matters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Scientific, engineering, and modeling rationale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320040" y="1097280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20040" y="1097280"/>
            <a:ext cx="54864" cy="17190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29768" y="1170432"/>
            <a:ext cx="3995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Computational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29768" y="1444752"/>
            <a:ext cx="399592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Full RT-TDDFT workflows are expensive for iterative exploration — each run requires real-time electron propagation at quantum accuracy.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663440" y="1097280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663440" y="1097280"/>
            <a:ext cx="54864" cy="171907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773168" y="1170432"/>
            <a:ext cx="3995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Surrogate Acceleration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773168" y="1444752"/>
            <a:ext cx="399592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Fast ML surrogates can dramatically accelerate spectroscopy and dynamics workflows, enabling rapid molecular screening.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320040" y="3017520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320040" y="3017520"/>
            <a:ext cx="54864" cy="171907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29768" y="3090672"/>
            <a:ext cx="3995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Physical Interpretability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29768" y="3364992"/>
            <a:ext cx="399592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Scientific utility requires outputs that connect back to chemistry: peak frequencies, amplitudes, and spectral shape carry physical meaning.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663440" y="3017520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663440" y="3017520"/>
            <a:ext cx="54864" cy="1719072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773168" y="3090672"/>
            <a:ext cx="39959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Graph Representations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773168" y="3364992"/>
            <a:ext cx="3995928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Molecular graphs align naturally with relational structure — atoms as nodes, bonds and interactions as edges.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Speed alone is insufficient — scientific utility requires outputs that are physically meaningful and interpretable.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Theme, Two Prediction Targets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Complementary formulations of the same underlying electron dynamics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320040" y="1051560"/>
            <a:ext cx="42062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20040" y="1051560"/>
            <a:ext cx="420624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11704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TARGET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57200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Sparse Spectral Prediction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57200" y="1856232"/>
            <a:ext cx="374904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Unordered transition frequencies {ωₖ}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Unordered transition amplitudes {Bₖ}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Reconstructed absorption spectrum via Lorentzian sum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Output: compact peak-set representation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727448" y="1051560"/>
            <a:ext cx="420624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727448" y="1051560"/>
            <a:ext cx="4206240" cy="7315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4864608" y="11704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TARGET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864608" y="14173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Dense Density Forecasting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864608" y="1856232"/>
            <a:ext cx="374904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864608" y="1965960"/>
            <a:ext cx="38404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Node-level electron density at future timesteps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Multi-horizon temporal predictions (t+5, t+10, t+15)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Output: full spatial density field evolution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Captures continuous physical state trajectory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407408" y="2560320"/>
            <a:ext cx="320040" cy="73152"/>
          </a:xfrm>
          <a:prstGeom prst="rect">
            <a:avLst/>
          </a:prstGeom>
          <a:solidFill>
            <a:srgbClr val="90AFC5"/>
          </a:solidFill>
          <a:ln cap="flat" cmpd="sng" w="12700">
            <a:solidFill>
              <a:srgbClr val="90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74720" y="434340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77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7788"/>
                </a:solidFill>
                <a:latin typeface="Calibri"/>
                <a:ea typeface="Calibri"/>
                <a:cs typeface="Calibri"/>
                <a:sym typeface="Calibri"/>
              </a:rPr>
              <a:t>Shared Challenge: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77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7788"/>
                </a:solidFill>
                <a:latin typeface="Calibri"/>
                <a:ea typeface="Calibri"/>
                <a:cs typeface="Calibri"/>
                <a:sym typeface="Calibri"/>
              </a:rPr>
              <a:t>Low-data, high-dimensional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778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7788"/>
                </a:solidFill>
                <a:latin typeface="Calibri"/>
                <a:ea typeface="Calibri"/>
                <a:cs typeface="Calibri"/>
                <a:sym typeface="Calibri"/>
              </a:rPr>
              <a:t>scientific learning via GNNs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Characteristics and Constraints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From RT-TDDFT simulation outputs to learning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320040" y="1188720"/>
            <a:ext cx="1508760" cy="749808"/>
          </a:xfrm>
          <a:prstGeom prst="rect">
            <a:avLst/>
          </a:prstGeom>
          <a:solidFill>
            <a:srgbClr val="0077A8"/>
          </a:solidFill>
          <a:ln>
            <a:noFill/>
          </a:ln>
          <a:effectLst>
            <a:outerShdw blurRad="508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320040" y="118872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RT-TDDFT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ReSpect 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810512" y="1444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2039112" y="1188720"/>
            <a:ext cx="1508760" cy="749808"/>
          </a:xfrm>
          <a:prstGeom prst="rect">
            <a:avLst/>
          </a:prstGeom>
          <a:solidFill>
            <a:srgbClr val="1B2E45"/>
          </a:solidFill>
          <a:ln>
            <a:noFill/>
          </a:ln>
          <a:effectLst>
            <a:outerShdw blurRad="508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2039112" y="118872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parser.py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3529584" y="1444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3758184" y="1188720"/>
            <a:ext cx="1508760" cy="749808"/>
          </a:xfrm>
          <a:prstGeom prst="rect">
            <a:avLst/>
          </a:prstGeom>
          <a:solidFill>
            <a:srgbClr val="1B2E45"/>
          </a:solidFill>
          <a:ln>
            <a:noFill/>
          </a:ln>
          <a:effectLst>
            <a:outerShdw blurRad="508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758184" y="118872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scripts/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extract_peaks.py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248656" y="1444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77256" y="1188720"/>
            <a:ext cx="1508760" cy="749808"/>
          </a:xfrm>
          <a:prstGeom prst="rect">
            <a:avLst/>
          </a:prstGeom>
          <a:solidFill>
            <a:srgbClr val="0077A8"/>
          </a:solidFill>
          <a:ln>
            <a:noFill/>
          </a:ln>
          <a:effectLst>
            <a:outerShdw blurRad="508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77256" y="118872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data/processed/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*.pt files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967728" y="144475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7196328" y="1188720"/>
            <a:ext cx="1508760" cy="749808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508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196328" y="118872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GNN 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20040" y="2148840"/>
            <a:ext cx="4206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20040" y="2148840"/>
            <a:ext cx="4206240" cy="5486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7200" y="22402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Approach A: Physics-Guided Peak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57200" y="2679192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Dipole response decomposed into transition components via Padé roots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Clustering and positive LASSO identify active oscillations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Label extraction: {(ωₖ, Bₖ)} — frequency + amplitude pairs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Model focuses on structure-to-parameter mapping, not raw denoising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4727448" y="2148840"/>
            <a:ext cx="420624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4727448" y="2148840"/>
            <a:ext cx="420624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864608" y="224028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Approach B: Raw Temporal Density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864608" y="2679192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Time-indexed electron density files (rvlab.tdscf.rho.XXXXX)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401 files spanning timesteps 0–2000 with increment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Each file: grid index + density value (scientific notation)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Sequences built as supervised temporal samples with normalization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57200" y="4864608"/>
            <a:ext cx="8229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⚠  Data scarcity is the central bottleneck — only 2 processed molecules (ammonia: 39 peaks, water: 55 peaks)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Raw Physics Becomes Graph Learning Inputs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Representational choices drive architectural divergence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965960" y="1005840"/>
            <a:ext cx="3291840" cy="34747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965960" y="10058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A — Electron-GNN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APPROACH B — Evolving Graphs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20040" y="1417320"/>
            <a:ext cx="8503920" cy="658368"/>
          </a:xfrm>
          <a:prstGeom prst="rect">
            <a:avLst/>
          </a:prstGeom>
          <a:solidFill>
            <a:srgbClr val="EAF3F8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65760" y="141732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Graph Nodes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938528" y="1472184"/>
            <a:ext cx="36576" cy="548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2011680" y="1417320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Atoms — typed with one-hot element encoding over [H, C, N, O, F]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321808" y="1472184"/>
            <a:ext cx="36576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394960" y="1417320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Spatial grid points — electron density values at each grid 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20040" y="2130552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65760" y="2130552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Graph Edges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938528" y="2185416"/>
            <a:ext cx="36576" cy="548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2011680" y="2130552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Geometric neighborhood: directed edge (i→j) if ‖rᵢ - rⱼ‖₂ ≤ 5.0 a.u.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321808" y="2185416"/>
            <a:ext cx="36576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394960" y="2130552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Combined local neighborhood + feature-similarity logic across spatial grid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040" y="2843784"/>
            <a:ext cx="8503920" cy="658368"/>
          </a:xfrm>
          <a:prstGeom prst="rect">
            <a:avLst/>
          </a:prstGeom>
          <a:solidFill>
            <a:srgbClr val="EAF3F8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65760" y="2843784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Edge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938528" y="2898648"/>
            <a:ext cx="36576" cy="548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011680" y="2843784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4D vector: [dᵢⱼ, Δx, Δy, Δz] — distance and directional displacement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321808" y="2898648"/>
            <a:ext cx="36576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394960" y="2843784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Spatial adjacency encoding with density-based similarity measures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320040" y="3557016"/>
            <a:ext cx="850392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365760" y="3557016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Target 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938528" y="3611880"/>
            <a:ext cx="36576" cy="548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2011680" y="3557016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Unordered sparse set: {(ωₖ, Bₖ)} — variable-length per molecule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321808" y="3611880"/>
            <a:ext cx="36576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394960" y="3557016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Dense node-level field: ρ(r, t+Δt) for future timestep(s)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20040" y="4270248"/>
            <a:ext cx="8503920" cy="658368"/>
          </a:xfrm>
          <a:prstGeom prst="rect">
            <a:avLst/>
          </a:prstGeom>
          <a:solidFill>
            <a:srgbClr val="EAF3F8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65760" y="4270248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Supervision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938528" y="4325112"/>
            <a:ext cx="36576" cy="5486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2011680" y="4270248"/>
            <a:ext cx="3246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Permutation-invariant Hungarian bipartite matching loss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321808" y="4325112"/>
            <a:ext cx="36576" cy="5486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394960" y="4270248"/>
            <a:ext cx="3383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Direct MSE regression over all spatial grid nodes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94360" y="12801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APPROACH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Geometry to Spectrum-Relevant Peak Sets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94360" y="2926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Electron-GNN: Version evolution V1 → V2 → V3 (Hybrid)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 Extraction Before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Physics-guided pre-processing for tiny-data tractability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320040" y="1097280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254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384048" y="1188720"/>
            <a:ext cx="475488" cy="475488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84048" y="11887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960120" y="1161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RT-TDDFT Dipole Traces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960120" y="1435608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μₐ = {(tₙ, μₐ(tₙ))} for a ∈ {x, y, z}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438912" y="1719072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320040" y="1847088"/>
            <a:ext cx="8503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84048" y="1938528"/>
            <a:ext cx="475488" cy="475488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84048" y="193852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960120" y="19110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Padé Root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960120" y="2185416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Rational approximation identifies candidate oscillation frequencies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38912" y="2468880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20040" y="2596896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254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384048" y="2688336"/>
            <a:ext cx="475488" cy="475488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84048" y="268833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960120" y="26609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Frequency Clustering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960120" y="2935224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Candidate frequencies grouped to remove near-duplicates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438912" y="3218688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320040" y="3346704"/>
            <a:ext cx="850392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54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84048" y="3438144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384048" y="3438144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960120" y="341071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Positive LASSO Regression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960120" y="368503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μₓ(t) ≈ Σ Bₖ sin(ωₖt), Bₖ ≥ 0, threshold Bₖ &gt; 1e-8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38912" y="3968496"/>
            <a:ext cx="365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20040" y="4096512"/>
            <a:ext cx="8503920" cy="658368"/>
          </a:xfrm>
          <a:prstGeom prst="rect">
            <a:avLst/>
          </a:prstGeom>
          <a:solidFill>
            <a:srgbClr val="E0F2F8"/>
          </a:solidFill>
          <a:ln>
            <a:noFill/>
          </a:ln>
          <a:effectLst>
            <a:outerShdw blurRad="254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384048" y="4187952"/>
            <a:ext cx="475488" cy="475488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384048" y="418795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960120" y="416052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Active Peak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960120" y="443484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Output: {(ωₖ, Bₖ)} stored as .pt files in data/processed/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Anatomy: V1, V2, Hybrid V3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Specialized tower design for stable small-data learning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20040" y="1188720"/>
            <a:ext cx="2560320" cy="3474720"/>
          </a:xfrm>
          <a:prstGeom prst="rect">
            <a:avLst/>
          </a:prstGeom>
          <a:solidFill>
            <a:srgbClr val="E8F4F8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320040" y="1188720"/>
            <a:ext cx="256032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320040" y="12801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V1 FREQUENCY TOWER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57200" y="1645920"/>
            <a:ext cx="2286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SpectralEquivariantGNNV1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GNN encoder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Fixed K_max=50 frequency slots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Outputs: probabilities + frequencies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• Strong frequency prior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66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• Freq loss weight: 12×Lω + Lprob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3246120" y="1188720"/>
            <a:ext cx="2560320" cy="3474720"/>
          </a:xfrm>
          <a:prstGeom prst="rect">
            <a:avLst/>
          </a:prstGeom>
          <a:solidFill>
            <a:srgbClr val="FFF8E8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246120" y="1188720"/>
            <a:ext cx="2560320" cy="6400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246120" y="12801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8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8800"/>
                </a:solidFill>
                <a:latin typeface="Calibri"/>
                <a:ea typeface="Calibri"/>
                <a:cs typeface="Calibri"/>
                <a:sym typeface="Calibri"/>
              </a:rPr>
              <a:t>V2 AMPLITUDE TOWER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383280" y="1645920"/>
            <a:ext cx="2286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SpectralEquivariantGNN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GATv2 encoder + set decoder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DETR-style learned query slots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Heads: prob / freq / amp /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B70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B703"/>
                </a:solidFill>
                <a:latin typeface="Calibri"/>
                <a:ea typeface="Calibri"/>
                <a:cs typeface="Calibri"/>
                <a:sym typeface="Calibri"/>
              </a:rPr>
              <a:t>• Log-scale amplitude supervision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66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• Amp loss: 8×Lω + 8×Lamp + Lspec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6172200" y="1188720"/>
            <a:ext cx="2651760" cy="3474720"/>
          </a:xfrm>
          <a:prstGeom prst="rect">
            <a:avLst/>
          </a:prstGeom>
          <a:solidFill>
            <a:srgbClr val="F0F8E8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6172200" y="1188720"/>
            <a:ext cx="265176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172200" y="12801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55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55"/>
                </a:solidFill>
                <a:latin typeface="Calibri"/>
                <a:ea typeface="Calibri"/>
                <a:cs typeface="Calibri"/>
                <a:sym typeface="Calibri"/>
              </a:rPr>
              <a:t>V3 HYBRID COMBINER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309360" y="1645920"/>
            <a:ext cx="2423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combine_two_tower_predictions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Freq candidates from V1 slots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Count signal from V2 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• Frequency-aware assignment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• Overflow: borrows amp freqs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56677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56677"/>
                </a:solidFill>
                <a:latin typeface="Calibri"/>
                <a:ea typeface="Calibri"/>
                <a:cs typeface="Calibri"/>
                <a:sym typeface="Calibri"/>
              </a:rPr>
              <a:t>• Conservative confidence fusion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292608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852160" y="26517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Permutation-Invariant Supervision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Hungarian matching and bipartite loss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320040" y="1078992"/>
            <a:ext cx="3931920" cy="38404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320040" y="1078992"/>
            <a:ext cx="64008" cy="3840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475488" y="1143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WHY HUNGARIAN MATCHING?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75488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Peaks form an unordered set — slot index has no physical meaning.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Slot-index supervision would be ambiguous: the 3rd predicted slot has no reason to match the 3rd true peak.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Hungarian algorithm solves the bipartite assignment optimally in O(n³), giving a non-ambiguous matched loss.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Matching is non-negotiable for correct gradient flow in set-prediction.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389120" y="1078992"/>
            <a:ext cx="4434840" cy="384048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0" y="117043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LOSS EQUATIONS (from losses.py)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0" y="150876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Matching cost: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0" y="1737360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4617720" y="173736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Cᵢⱼ = 10|ωᵢ − ωⱼᵗ| + |Bᵢ − Bⱼᵗ|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572000" y="202996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Bipartite loss: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4572000" y="2258568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617720" y="2258568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L_bip = 8Lω + 8L_amp + 1.2L_prob + 1.0L_unmatched + 6.0L_sum + 0.5L_count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4572000" y="2551176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Log-amplitude: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572000" y="2779776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617720" y="2779776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L_amp = SmoothL1(log(1+10⁴B_pred), log(1+10⁴B_true))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72000" y="307238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Freq tower: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0" y="3300984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617720" y="3300984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L_freq = 12Lω + Lprob + 0.3L_count + 0.02L_unmatched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72000" y="359359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Total amp obj: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4572000" y="3822192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617720" y="382219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L_total = L_bip + 0.3 × L_spec_auto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0" y="41148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Spectrum auto: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572000" y="4343400"/>
            <a:ext cx="4114800" cy="228600"/>
          </a:xfrm>
          <a:prstGeom prst="rect">
            <a:avLst/>
          </a:prstGeom>
          <a:solidFill>
            <a:srgbClr val="1D3248"/>
          </a:solidFill>
          <a:ln cap="flat" cmpd="sng" w="12700">
            <a:solidFill>
              <a:srgbClr val="1D32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617720" y="434340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L_spec_auto = L_time + 0.5L_spec + 0.5L_area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Stability Tactics Under Data Scarcity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V3 training protocol — engineering for reproducibility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20040" y="1097280"/>
            <a:ext cx="8503920" cy="676656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384048" y="1197864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384048" y="11978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960120" y="116128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Tower-Separate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960120" y="1444752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Frequency and amplitude towers are trained with independent schedules. epochs_freq=0 by default — V1 frequency prior is frozen to preserve stability on tiny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320040" y="1865376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384048" y="1965960"/>
            <a:ext cx="457200" cy="457200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384048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②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960120" y="1929384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Warmup Freezing + Teacher Regularization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960120" y="2212848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High-capacity frequency retraining uses warmup freeze phase, then unfreeze transition with teacher slot anchoring to V1 predictions to prevent drift.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320040" y="2633472"/>
            <a:ext cx="8503920" cy="676656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384048" y="2734056"/>
            <a:ext cx="457200" cy="45720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84048" y="27340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960120" y="269748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Quality-Gated Checkpointing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960120" y="2980944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Amplitude checkpoints promoted using Q = overlap − 0.25 × count_error. Best quality checkpoint selected, not most recent.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20040" y="3401568"/>
            <a:ext cx="8503920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384048" y="3502152"/>
            <a:ext cx="457200" cy="457200"/>
          </a:xfrm>
          <a:prstGeom prst="ellipse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384048" y="35021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④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960120" y="346557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Early Stopping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960120" y="37490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Patience-controlled amp_early_stop_patience (default 12) with minimum delta guard. Prevents overfitting on tiny 2-molecule dataset.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320040" y="4169664"/>
            <a:ext cx="8503920" cy="676656"/>
          </a:xfrm>
          <a:prstGeom prst="rect">
            <a:avLst/>
          </a:prstGeom>
          <a:solidFill>
            <a:srgbClr val="EB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384048" y="4270248"/>
            <a:ext cx="457200" cy="45720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384048" y="4270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⑤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960120" y="423367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Safe Fallback Policy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960120" y="4517136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If fresh retraining underperforms best_model.pth in hybrid eval, production keeps historical baseline. Never silently promote a weaker checkpoint.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Peak Decoding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Production V3 inference — from towers to reconstructed spectrum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320040" y="1143000"/>
            <a:ext cx="27432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11480" y="1252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V1 Freq Slots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11480" y="1600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Ranked by prob threshold (0.65) or count 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3154680" y="1143000"/>
            <a:ext cx="27432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3154680" y="1143000"/>
            <a:ext cx="2743200" cy="6400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3246120" y="1252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V2 Amp Slots +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3246120" y="1600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Confidence-ranked amplitude and count estimate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989320" y="1143000"/>
            <a:ext cx="27432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5989320" y="1143000"/>
            <a:ext cx="27432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6080760" y="12527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Assignment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080760" y="160020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Cost: |ωf − ωa| + 0.05(1−pa) → linear_sum_assignment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3090672" y="1508760"/>
            <a:ext cx="91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5925312" y="1508760"/>
            <a:ext cx="91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320040" y="2331720"/>
            <a:ext cx="8503920" cy="1143000"/>
          </a:xfrm>
          <a:prstGeom prst="rect">
            <a:avLst/>
          </a:prstGeom>
          <a:solidFill>
            <a:srgbClr val="E8F4F8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320040" y="2331720"/>
            <a:ext cx="64008" cy="11430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475488" y="2395728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Overflow Handling (enabled by default)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475488" y="26974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If desired count (from V2 head) exceeds available V1 frequency slots, additional candidates are borrowed from the amplitude tower's predicted frequencies subject to minimum separation δ_min = 0.005. This prevents artificial peak-count truncation when water's 55 true peaks exceed V1's 50 slots.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20040" y="3639312"/>
            <a:ext cx="8503920" cy="132588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50800" rotWithShape="0" algn="bl" dir="8100000" dist="25400">
              <a:srgbClr val="000000">
                <a:alpha val="1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02920" y="373075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Spectrum Reconstruction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02920" y="40690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S(ω) = Σₖ Bₖ · γ / [(ω − ωₖ)² + γ²]    where γ = 0.015 (Lorentzian broadening)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02920" y="44074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Evaluation grid: ω ∈ [0.01, 5.0], 1024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Evidence for Electron-GNN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Quantitative snapshot — latest stable evaluation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6" name="Google Shape;366;p16"/>
          <p:cNvGraphicFramePr/>
          <p:nvPr/>
        </p:nvGraphicFramePr>
        <p:xfrm>
          <a:off x="32004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{C04AD7EF-0A89-489C-B17C-F9CA7E60652A}</a:tableStyleId>
              </a:tblPr>
              <a:tblGrid>
                <a:gridCol w="1280150"/>
                <a:gridCol w="914400"/>
                <a:gridCol w="1097275"/>
                <a:gridCol w="1097275"/>
                <a:gridCol w="1005850"/>
                <a:gridCol w="777250"/>
                <a:gridCol w="777250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Molecule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 MAE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Amp MAE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Overlap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E45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Ammonia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1.95e-3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Ammonia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1.08e-4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Ammonia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4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E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A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77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A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77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1.42e-4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D6A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D6A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0.0446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2.31e-3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6.50e-5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Water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E4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2E4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A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77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7A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77A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9.33e-5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D6A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6D6A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E8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16"/>
          <p:cNvSpPr/>
          <p:nvPr/>
        </p:nvSpPr>
        <p:spPr>
          <a:xfrm>
            <a:off x="320040" y="4160520"/>
            <a:ext cx="8503920" cy="274320"/>
          </a:xfrm>
          <a:prstGeom prst="rect">
            <a:avLst/>
          </a:prstGeom>
          <a:solidFill>
            <a:srgbClr val="F5FAFE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384048" y="41605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640080" y="417880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V1 remains strongest frequency prior on this tiny dataset (Freq MAE ~0.03 for ammonia)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solidFill>
            <a:srgbClr val="F5FAFE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384048" y="448056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640080" y="449884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V2 delivers lowest amplitude MAE but weaker frequency quality (Freq MAE up to 0.72)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solidFill>
            <a:srgbClr val="E8F8F0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384048" y="480060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640080" y="4818888"/>
            <a:ext cx="8046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Hybrid achieves best spectral overlap — the operationally relevant metric for spectroscopy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the Diagnostic Plots Show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Interpreting model behavior beyond aggregate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320040" y="1097280"/>
            <a:ext cx="64008" cy="1737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📉  Training &amp; Validation Loss Curves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57200" y="1536192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457200" y="1618488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Convergence monitoring across amplitude tower epochs. Early stopping at epoch 28 in latest retrain — best quality checkpoint reached around epoch 16 with quality score 0.547.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4727448" y="109728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4727448" y="1097280"/>
            <a:ext cx="64008" cy="173736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4864608" y="118872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📊  Parity Plots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4864608" y="1536192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864608" y="1618488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Predicted vs. true frequency scatter after Hungarian matching. Reveals frequency drift — key indicator when V1 prior would outperform retrained tower. Water shows larger deviation due to 55-peak complexity.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320040" y="3017520"/>
            <a:ext cx="64008" cy="17373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457200" y="3108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〰  Spectrum Overlay Plots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457200" y="3456432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457200" y="3538728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Side-by-side reconstructed vs. true Lorentzian spectrum curves. Overlap = ⟨Spred, Strue⟩ / (‖Spred‖‖Strue‖). Shape-level agreement more diagnostic than isolated MAE values.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727448" y="301752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4727448" y="3017520"/>
            <a:ext cx="64008" cy="17373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4864608" y="310896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✓  Checkpoint Quality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4864608" y="3456432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4864608" y="3538728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Auto-scores amplitude checkpoints using Q = overlap − 0.25×count_error. Dashboard displays checkpoint comparison table before model selection. Protects against silently promoting weak models.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V4 Was Archived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Principled engineering decision — not a negative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320040" y="1078992"/>
            <a:ext cx="3931920" cy="3886200"/>
          </a:xfrm>
          <a:prstGeom prst="rect">
            <a:avLst/>
          </a:prstGeom>
          <a:solidFill>
            <a:srgbClr val="FFF3F3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320040" y="1078992"/>
            <a:ext cx="64008" cy="3886200"/>
          </a:xfrm>
          <a:prstGeom prst="rect">
            <a:avLst/>
          </a:prstGeom>
          <a:solidFill>
            <a:srgbClr val="CC4444"/>
          </a:solidFill>
          <a:ln cap="flat" cmpd="sng" w="12700">
            <a:solidFill>
              <a:srgbClr val="CC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475488" y="114300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33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B3333"/>
                </a:solidFill>
                <a:latin typeface="Calibri"/>
                <a:ea typeface="Calibri"/>
                <a:cs typeface="Calibri"/>
                <a:sym typeface="Calibri"/>
              </a:rPr>
              <a:t>V4 INTENDED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475488" y="1463040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Verifier module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Added post-decode physics checking to verify peak consistency and physical plausibility.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Rational refiner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Iterative refinement of peak positions to improve spectral reconstruction quality.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7766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776655"/>
                </a:solidFill>
                <a:latin typeface="Calibri"/>
                <a:ea typeface="Calibri"/>
                <a:cs typeface="Calibri"/>
                <a:sym typeface="Calibri"/>
              </a:rPr>
              <a:t>Goal: enforce physics consistency and improve decode-stage precision.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4389120" y="1078992"/>
            <a:ext cx="4434840" cy="3886200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389120" y="1078992"/>
            <a:ext cx="64008" cy="3886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4544568" y="11430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OBSERVED FAILURE MODES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4544568" y="1508760"/>
            <a:ext cx="4114800" cy="6583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4636008" y="153619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Unstable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4636008" y="180136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V4 complexity exceeded the data regime — tiny 2-molecule dataset insufficient to train verifier and refiner reliably.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544568" y="2286000"/>
            <a:ext cx="4114800" cy="6583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4636008" y="23134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Decode Fragility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4636008" y="257860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Refinement stage introduced additional failure points. Small prediction errors amplified through iterative refinement.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4544568" y="3063240"/>
            <a:ext cx="4114800" cy="6583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4636008" y="30906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No Robust 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4636008" y="33558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Net evaluation: no reproducible improvement over V3 hybrid overlap or frequency quality in controlled benchmarks.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4544568" y="3840480"/>
            <a:ext cx="4114800" cy="6583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636008" y="3867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Decision: Archive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4636008" y="413308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Code preserved in archive/v4_failed_experiment/ for traceability, but excluded from dashboard, training, and evaluation paths.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502920" y="0"/>
            <a:ext cx="8641080" cy="514350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94360" y="128016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APPROACH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94360" y="182880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Electron-Density Forecasting on Evolving Graphs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594360" y="292608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Dense node-level field prediction across temporal horizons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Density Files to Learning Graphs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Data format, graph construction, and normalization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320040" y="1078992"/>
            <a:ext cx="4160520" cy="3858768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63500" rotWithShape="0" algn="bl" dir="81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502920" y="11704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FORMAT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502920" y="1508760"/>
            <a:ext cx="38404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onsolas"/>
                <a:ea typeface="Consolas"/>
                <a:cs typeface="Consolas"/>
                <a:sym typeface="Consolas"/>
              </a:rPr>
              <a:t>File pattern: rvlab.tdscf.rho.XXXXX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0AF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Each file contains: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 Col 1: Grid point 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 Col 2: Density value (scientific notation)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Total: 401 files, timesteps 0–2000, Δt=5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AFC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Molecules: ammonia_x/, water_x/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AFC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Normalization applied to stabilize optimization and enable cross-timestep comparability.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4617720" y="1078992"/>
            <a:ext cx="4206240" cy="3858768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0"/>
          <p:cNvSpPr/>
          <p:nvPr/>
        </p:nvSpPr>
        <p:spPr>
          <a:xfrm>
            <a:off x="4617720" y="1078992"/>
            <a:ext cx="64008" cy="38587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773168" y="117043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GRAPH CONSTRUCTION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773168" y="1508760"/>
            <a:ext cx="3931920" cy="594360"/>
          </a:xfrm>
          <a:prstGeom prst="rect">
            <a:avLst/>
          </a:prstGeom>
          <a:solidFill>
            <a:srgbClr val="E0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864608" y="1527048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4864608" y="176479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Spatial grid points carrying density signal as node features: ρ(r, 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773168" y="2167128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864608" y="2185416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Edge Type 1: Local Neighborhood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864608" y="24231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k-NN connectivity based on spatial proximity between grid points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4773168" y="2825496"/>
            <a:ext cx="3931920" cy="594360"/>
          </a:xfrm>
          <a:prstGeom prst="rect">
            <a:avLst/>
          </a:prstGeom>
          <a:solidFill>
            <a:srgbClr val="E0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4864608" y="2843784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Edge Type 2: Sequential Neighbors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864608" y="308152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Sequential adjacency along grid ordering for local density continuity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4773168" y="3483864"/>
            <a:ext cx="3931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4864608" y="350215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4864608" y="373989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Multiple Graph Convolutional layers with batch normalization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4773168" y="4142232"/>
            <a:ext cx="3931920" cy="594360"/>
          </a:xfrm>
          <a:prstGeom prst="rect">
            <a:avLst/>
          </a:prstGeom>
          <a:solidFill>
            <a:srgbClr val="E0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4864608" y="4160520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Temporal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4864608" y="439826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Sequences built as (input_timesteps, target_timestep) supervised pairs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Variant 1: Multi-Input → Single-Future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electron_density_gnn_multi_input.ipynb — Contextual near-term 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365760" y="1188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t−2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1234440" y="1188720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1234440" y="1188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t−1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2103120" y="1188720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2103120" y="118872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365760" y="201168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 Past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Timesteps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2971800" y="1536192"/>
            <a:ext cx="640080" cy="91440"/>
          </a:xfrm>
          <a:prstGeom prst="rect">
            <a:avLst/>
          </a:prstGeom>
          <a:solidFill>
            <a:srgbClr val="90AFC5"/>
          </a:solidFill>
          <a:ln cap="flat" cmpd="sng" w="12700">
            <a:solidFill>
              <a:srgbClr val="90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017520" y="13716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2880360" y="19202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GNN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3749040" y="1188720"/>
            <a:ext cx="1097280" cy="77724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3749040" y="118872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t+5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3749040" y="20116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1 Future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Timestep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36576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onsolas"/>
                <a:ea typeface="Consolas"/>
                <a:cs typeface="Consolas"/>
                <a:sym typeface="Consolas"/>
              </a:rPr>
              <a:t>Input: (num_nodes, 3) — 3 historical timestep channels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36576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onsolas"/>
                <a:ea typeface="Consolas"/>
                <a:cs typeface="Consolas"/>
                <a:sym typeface="Consolas"/>
              </a:rPr>
              <a:t>Output: (num_nodes, 1) — predicted density at t+5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120640" y="1078992"/>
            <a:ext cx="3703320" cy="3858768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5120640" y="1078992"/>
            <a:ext cx="64008" cy="385876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5276088" y="1170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STRENGTHS &amp; USE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5276088" y="150876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Leverages historical trajectory context for improved short-term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Higher accuracy for near-term predictions (t+5)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Short-horizon stability — contextual smoothing reduces noise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Analogous to local autoregressive conditioning through graph message passing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Use when: sequential observations available, high short-term accuracy required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Variant 2: Single-Input → Multi-Horizon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electron_density_gnn_multi_future.ipynb — Deployment-flexible trajectory 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365760" y="1188720"/>
            <a:ext cx="1097280" cy="777240"/>
          </a:xfrm>
          <a:prstGeom prst="rect">
            <a:avLst/>
          </a:prstGeom>
          <a:solidFill>
            <a:srgbClr val="00B4D8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365760" y="1188720"/>
            <a:ext cx="1097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365760" y="201168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Current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Timestep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1874520" y="1188720"/>
            <a:ext cx="1417320" cy="777240"/>
          </a:xfrm>
          <a:prstGeom prst="rect">
            <a:avLst/>
          </a:prstGeom>
          <a:solidFill>
            <a:srgbClr val="1B2E45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1874520" y="1188720"/>
            <a:ext cx="1417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3703320" y="914400"/>
            <a:ext cx="1005840" cy="68580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3703320" y="9144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t+5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3291840" y="1216152"/>
            <a:ext cx="411480" cy="73152"/>
          </a:xfrm>
          <a:prstGeom prst="rect">
            <a:avLst/>
          </a:prstGeom>
          <a:solidFill>
            <a:srgbClr val="90AFC5"/>
          </a:solidFill>
          <a:ln cap="flat" cmpd="sng" w="12700">
            <a:solidFill>
              <a:srgbClr val="90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3703320" y="1828800"/>
            <a:ext cx="1005840" cy="68580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703320" y="18288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t+10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3291840" y="2130552"/>
            <a:ext cx="411480" cy="73152"/>
          </a:xfrm>
          <a:prstGeom prst="rect">
            <a:avLst/>
          </a:prstGeom>
          <a:solidFill>
            <a:srgbClr val="90AFC5"/>
          </a:solidFill>
          <a:ln cap="flat" cmpd="sng" w="12700">
            <a:solidFill>
              <a:srgbClr val="90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3703320" y="2743200"/>
            <a:ext cx="1005840" cy="685800"/>
          </a:xfrm>
          <a:prstGeom prst="rect">
            <a:avLst/>
          </a:prstGeom>
          <a:solidFill>
            <a:srgbClr val="06D6A0"/>
          </a:solidFill>
          <a:ln>
            <a:noFill/>
          </a:ln>
          <a:effectLst>
            <a:outerShdw blurRad="38100" rotWithShape="0" algn="bl" dir="8100000" dist="127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3703320" y="274320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t+15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3291840" y="3044952"/>
            <a:ext cx="411480" cy="73152"/>
          </a:xfrm>
          <a:prstGeom prst="rect">
            <a:avLst/>
          </a:prstGeom>
          <a:solidFill>
            <a:srgbClr val="90AFC5"/>
          </a:solidFill>
          <a:ln cap="flat" cmpd="sng" w="12700">
            <a:solidFill>
              <a:srgbClr val="90AF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150876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365760" y="3017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onsolas"/>
                <a:ea typeface="Consolas"/>
                <a:cs typeface="Consolas"/>
                <a:sym typeface="Consolas"/>
              </a:rPr>
              <a:t>Input: (num_nodes, 1) — current state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65760" y="331012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34455"/>
                </a:solidFill>
                <a:latin typeface="Consolas"/>
                <a:ea typeface="Consolas"/>
                <a:cs typeface="Consolas"/>
                <a:sym typeface="Consolas"/>
              </a:rPr>
              <a:t>Output: (num_nodes, 3) — densities at t+5, t+10, t+15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5120640" y="1078992"/>
            <a:ext cx="3703320" cy="3858768"/>
          </a:xfrm>
          <a:prstGeom prst="rect">
            <a:avLst/>
          </a:prstGeom>
          <a:solidFill>
            <a:srgbClr val="F0F7FA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5120640" y="1078992"/>
            <a:ext cx="64008" cy="385876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276088" y="1170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880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98800"/>
                </a:solidFill>
                <a:latin typeface="Calibri"/>
                <a:ea typeface="Calibri"/>
                <a:cs typeface="Calibri"/>
                <a:sym typeface="Calibri"/>
              </a:rPr>
              <a:t>STRENGTHS &amp; 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5276088" y="1508760"/>
            <a:ext cx="347472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Simpler input requirements — only current state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Predicts full 3-horizon trajectory in single forward pass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Shared backbone + 3 separate output heads is parameter-efficient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Useful for long-term planning when historical buffers unavailable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Trades some contextual accuracy for deployment flexibility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Use when: only current state or multiple future steps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 Design for Dense Forecasting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Loss, metrics, baselines, and visual diagnostics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320040" y="1097280"/>
            <a:ext cx="64008" cy="17373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Loss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457200" y="1499616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3"/>
          <p:cNvSpPr/>
          <p:nvPr/>
        </p:nvSpPr>
        <p:spPr>
          <a:xfrm>
            <a:off x="457200" y="1572768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MSE over node-level density predictions with horizon-aware reporting. Each of the 3 future heads supervised independently against ground-truth density files.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4727448" y="109728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4727448" y="1097280"/>
            <a:ext cx="64008" cy="17373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3"/>
          <p:cNvSpPr/>
          <p:nvPr/>
        </p:nvSpPr>
        <p:spPr>
          <a:xfrm>
            <a:off x="4864608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Primary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4864608" y="1499616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4864608" y="1572768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R² Score: &gt;0.85 = Excellent, 0.70–0.85 = Good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MAE per horizon: should be &lt;2% of data range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Baseline improvement: should exceed trivial predictors by &gt;10%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3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320040" y="3017520"/>
            <a:ext cx="64008" cy="173736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457200" y="31089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Baseline Comparisons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457200" y="3419856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457200" y="3493008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Identity baseline (predict current state as future) and mean baseline evaluated to verify model learns non-trivial temporal dynamics — not just persistence.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4727448" y="3017520"/>
            <a:ext cx="420624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4727448" y="3017520"/>
            <a:ext cx="64008" cy="17373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4864608" y="31089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Visual Diagnostics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4864608" y="3419856"/>
            <a:ext cx="3931920" cy="27432"/>
          </a:xfrm>
          <a:prstGeom prst="rect">
            <a:avLst/>
          </a:prstGeom>
          <a:solidFill>
            <a:srgbClr val="DDE8EE"/>
          </a:solidFill>
          <a:ln cap="flat" cmpd="sng" w="12700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4864608" y="3493008"/>
            <a:ext cx="3931920" cy="1170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Trajectory overlays: predicted vs. true density curves across timesteps.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Distribution diagnostics: predicted density value distributions.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Parity checks per horizon.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4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4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Observed Performance and Caution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Strong within-domain fit — generalization remains open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20040" y="1143000"/>
            <a:ext cx="18288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4"/>
          <p:cNvSpPr/>
          <p:nvPr/>
        </p:nvSpPr>
        <p:spPr>
          <a:xfrm>
            <a:off x="320040" y="1143000"/>
            <a:ext cx="18288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365760" y="12527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0.9984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365760" y="175564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Average R² across all horizons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4"/>
          <p:cNvSpPr/>
          <p:nvPr/>
        </p:nvSpPr>
        <p:spPr>
          <a:xfrm>
            <a:off x="2331720" y="1143000"/>
            <a:ext cx="18288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4"/>
          <p:cNvSpPr/>
          <p:nvPr/>
        </p:nvSpPr>
        <p:spPr>
          <a:xfrm>
            <a:off x="2331720" y="1143000"/>
            <a:ext cx="18288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2377440" y="12527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0.342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2377440" y="175564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Future 1 MAE (t+5)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/>
          <p:nvPr/>
        </p:nvSpPr>
        <p:spPr>
          <a:xfrm>
            <a:off x="4343400" y="1143000"/>
            <a:ext cx="18288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/>
          <p:nvPr/>
        </p:nvSpPr>
        <p:spPr>
          <a:xfrm>
            <a:off x="4343400" y="1143000"/>
            <a:ext cx="18288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4389120" y="12527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0.343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4389120" y="175564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Future 2 MAE (t+10)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6355080" y="1143000"/>
            <a:ext cx="1828800" cy="1005840"/>
          </a:xfrm>
          <a:prstGeom prst="rect">
            <a:avLst/>
          </a:prstGeom>
          <a:solidFill>
            <a:srgbClr val="152535"/>
          </a:solidFill>
          <a:ln>
            <a:noFill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6355080" y="1143000"/>
            <a:ext cx="18288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6400800" y="125272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0.345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6400800" y="1755648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Future 3 MAE (t+15)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320040" y="2331720"/>
            <a:ext cx="8503920" cy="731520"/>
          </a:xfrm>
          <a:prstGeom prst="rect">
            <a:avLst/>
          </a:prstGeom>
          <a:solidFill>
            <a:srgbClr val="FFF8E8"/>
          </a:solidFill>
          <a:ln>
            <a:noFill/>
          </a:ln>
          <a:effectLst>
            <a:outerShdw blurRad="381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320040" y="2331720"/>
            <a:ext cx="64008" cy="731520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475488" y="24231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55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85500"/>
                </a:solidFill>
                <a:latin typeface="Calibri"/>
                <a:ea typeface="Calibri"/>
                <a:cs typeface="Calibri"/>
                <a:sym typeface="Calibri"/>
              </a:rPr>
              <a:t>Performance Grade: C ⚠ — "NEEDS IMPROVEMENT" (automated grader verdict from model_performance_summary.txt)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475488" y="27157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550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65500"/>
                </a:solidFill>
                <a:latin typeface="Calibri"/>
                <a:ea typeface="Calibri"/>
                <a:cs typeface="Calibri"/>
                <a:sym typeface="Calibri"/>
              </a:rPr>
              <a:t>Note: R²=0.998 looks excellent by regression standards, but "Improvement over Baseline: −305,636.8%" indicates the model may not beat trivial predictors on absolute density scale. Physics constraints recommended.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320040" y="3200400"/>
            <a:ext cx="27432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320040" y="3200400"/>
            <a:ext cx="27432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438912" y="331012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High R² Interpretation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438912" y="370332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R²=0.998 indicates extremely strong variance explanation within the current molecular domain. MAE stability across horizons (0.342–0.345) suggests no significant degradation with forecast distance.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3200400" y="3200400"/>
            <a:ext cx="27432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3200400" y="3200400"/>
            <a:ext cx="2743200" cy="64008"/>
          </a:xfrm>
          <a:prstGeom prst="rect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3319272" y="331012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Generalization Caution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3319272" y="370332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Performance evaluated only on ammonia and water. External generalization to diverse chemistry cannot be claimed without broader validation. Data diversity is the open bottleneck.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6080760" y="3200400"/>
            <a:ext cx="274320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4"/>
          <p:cNvSpPr/>
          <p:nvPr/>
        </p:nvSpPr>
        <p:spPr>
          <a:xfrm>
            <a:off x="6080760" y="3200400"/>
            <a:ext cx="27432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6199632" y="331012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E4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E45"/>
                </a:solidFill>
                <a:latin typeface="Calibri"/>
                <a:ea typeface="Calibri"/>
                <a:cs typeface="Calibri"/>
                <a:sym typeface="Calibri"/>
              </a:rPr>
              <a:t>Recommended Next Steps (per summary)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4"/>
          <p:cNvSpPr/>
          <p:nvPr/>
        </p:nvSpPr>
        <p:spPr>
          <a:xfrm>
            <a:off x="6199632" y="3703320"/>
            <a:ext cx="2514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1. Add physics conservation law constraints to loss function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2. Ensemble multiple model predictions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Calibri"/>
                <a:ea typeface="Calibri"/>
                <a:cs typeface="Calibri"/>
                <a:sym typeface="Calibri"/>
              </a:rPr>
              <a:t>3. Document and prepare results for publication once constraints added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A vs Approach B: Side-by-Side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Orthogonal strengths — not competing approaches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1965960" y="1005840"/>
            <a:ext cx="3246120" cy="3200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1965960" y="1005840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 A — Electron-GNN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5303520" y="100584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APPROACH B — Evolving Graphs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320040" y="1371600"/>
            <a:ext cx="8503920" cy="493776"/>
          </a:xfrm>
          <a:prstGeom prst="rect">
            <a:avLst/>
          </a:prstGeom>
          <a:solidFill>
            <a:srgbClr val="EBF6FA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365760" y="137160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Output 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1938528" y="142646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2011680" y="137160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Sparse peak-set: {(ωₖ, Bₖ)} + reconstructed absorption spectrum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5276088" y="142646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5349240" y="137160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Dense spatial field: ρ(r, t+Δt) at every grid node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320040" y="1897380"/>
            <a:ext cx="85039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365760" y="189738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Supervision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1938528" y="195224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2011680" y="18973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Permutation-invariant Hungarian bipartite matching loss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5"/>
          <p:cNvSpPr/>
          <p:nvPr/>
        </p:nvSpPr>
        <p:spPr>
          <a:xfrm>
            <a:off x="5276088" y="195224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5349240" y="189738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Direct MSE regression across all spatial nodes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320040" y="2423160"/>
            <a:ext cx="8503920" cy="493776"/>
          </a:xfrm>
          <a:prstGeom prst="rect">
            <a:avLst/>
          </a:prstGeom>
          <a:solidFill>
            <a:srgbClr val="EBF6FA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365760" y="242316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Core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1938528" y="247802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201168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Spectral overlap, matched Freq-MAE, matched Amp-MAE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5276088" y="247802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5349240" y="242316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R² per horizon, MAE per horizon, baseline comparison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320040" y="2948940"/>
            <a:ext cx="85039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365760" y="294894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Current 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1938528" y="300380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2011680" y="294894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Hybrid overlap 0.647 (ammonia), 0.492 (water)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5276088" y="300380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5349240" y="294894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Average R²=0.998 across t+5, t+10, t+15 horizons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320040" y="3474720"/>
            <a:ext cx="8503920" cy="493776"/>
          </a:xfrm>
          <a:prstGeom prst="rect">
            <a:avLst/>
          </a:prstGeom>
          <a:solidFill>
            <a:srgbClr val="EBF6FA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365760" y="347472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Strength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5"/>
          <p:cNvSpPr/>
          <p:nvPr/>
        </p:nvSpPr>
        <p:spPr>
          <a:xfrm>
            <a:off x="1938528" y="352958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2011680" y="34747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Physically interpretable — peaks map to quantum transitions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5276088" y="352958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5349240" y="347472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State-complete — full density field retained at each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5"/>
          <p:cNvSpPr/>
          <p:nvPr/>
        </p:nvSpPr>
        <p:spPr>
          <a:xfrm>
            <a:off x="320040" y="4000500"/>
            <a:ext cx="8503920" cy="493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365760" y="400050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1938528" y="405536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5"/>
          <p:cNvSpPr/>
          <p:nvPr/>
        </p:nvSpPr>
        <p:spPr>
          <a:xfrm>
            <a:off x="2011680" y="400050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Spectroscopy workflow: structure → predicted spectrum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5"/>
          <p:cNvSpPr/>
          <p:nvPr/>
        </p:nvSpPr>
        <p:spPr>
          <a:xfrm>
            <a:off x="5276088" y="405536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5349240" y="400050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Temporal forecasting: current state → future density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5"/>
          <p:cNvSpPr/>
          <p:nvPr/>
        </p:nvSpPr>
        <p:spPr>
          <a:xfrm>
            <a:off x="320040" y="4526280"/>
            <a:ext cx="8503920" cy="493776"/>
          </a:xfrm>
          <a:prstGeom prst="rect">
            <a:avLst/>
          </a:prstGeom>
          <a:solidFill>
            <a:srgbClr val="EBF6FA"/>
          </a:solidFill>
          <a:ln cap="flat" cmpd="sng" w="9525">
            <a:solidFill>
              <a:srgbClr val="DD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5"/>
          <p:cNvSpPr/>
          <p:nvPr/>
        </p:nvSpPr>
        <p:spPr>
          <a:xfrm>
            <a:off x="365760" y="4526280"/>
            <a:ext cx="155448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A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77A8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5"/>
          <p:cNvSpPr/>
          <p:nvPr/>
        </p:nvSpPr>
        <p:spPr>
          <a:xfrm>
            <a:off x="1938528" y="4581144"/>
            <a:ext cx="36576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2011680" y="45262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Amplitude calibration on tiny dataset (2 molecules)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5"/>
          <p:cNvSpPr/>
          <p:nvPr/>
        </p:nvSpPr>
        <p:spPr>
          <a:xfrm>
            <a:off x="5276088" y="4581144"/>
            <a:ext cx="36576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5"/>
          <p:cNvSpPr/>
          <p:nvPr/>
        </p:nvSpPr>
        <p:spPr>
          <a:xfrm>
            <a:off x="5349240" y="4526280"/>
            <a:ext cx="342900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Baseline improvement and physics constraint enforcement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A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320040" y="109728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These Two Pipelines Can Be Unified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Strategic roadmap: benchmark rigor and uncertainty-aware scaling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6"/>
          <p:cNvSpPr/>
          <p:nvPr/>
        </p:nvSpPr>
        <p:spPr>
          <a:xfrm>
            <a:off x="320040" y="1078992"/>
            <a:ext cx="278892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320040" y="107899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429768" y="1536192"/>
            <a:ext cx="2578608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Build shared benchmark splits across both formulations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Implement per-sample quality flags in processed .pt files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Add multi-checkpoint A/B selector to dashboard sidebar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Add a true validation split once dataset grows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6"/>
          <p:cNvSpPr/>
          <p:nvPr/>
        </p:nvSpPr>
        <p:spPr>
          <a:xfrm>
            <a:off x="3227832" y="1078992"/>
            <a:ext cx="278892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3227832" y="1078992"/>
            <a:ext cx="2788920" cy="384048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3227832" y="107899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MID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3337560" y="1536192"/>
            <a:ext cx="2578608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Explore transfer: dense density forecasts → spectral-set priors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Add uncertainty calibration heads for both sparse and dense outputs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Increase molecule diversity before adding deeper architectural complexity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Retrain frequency tower at K_max ≥ 64 on larger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6135624" y="1078992"/>
            <a:ext cx="278892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6135624" y="1078992"/>
            <a:ext cx="2788920" cy="38404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6135624" y="1078992"/>
            <a:ext cx="2788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 TERM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6"/>
          <p:cNvSpPr/>
          <p:nvPr/>
        </p:nvSpPr>
        <p:spPr>
          <a:xfrm>
            <a:off x="6245352" y="1536192"/>
            <a:ext cx="2578608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Scale from 2 molecules to multi-molecule benchmark 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Introduce physics constraints selectively where empirically stabilizing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Compare against RT-TDDFT and linear-response baselines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33445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Incorporate automated dataset generation for HPC campaign control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548640" y="0"/>
            <a:ext cx="8595360" cy="5143500"/>
          </a:xfrm>
          <a:prstGeom prst="rect">
            <a:avLst/>
          </a:prstGeom>
          <a:solidFill>
            <a:srgbClr val="1B2E45"/>
          </a:solidFill>
          <a:ln cap="flat" cmpd="sng" w="12700">
            <a:solidFill>
              <a:srgbClr val="1B2E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77A8">
              <a:alpha val="25098"/>
            </a:srgbClr>
          </a:solidFill>
          <a:ln cap="flat" cmpd="sng" w="12700">
            <a:solidFill>
              <a:srgbClr val="00B4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731520" y="3200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731520" y="5943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Findings &amp; Next Steps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731520" y="1143000"/>
            <a:ext cx="77724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731520" y="1261872"/>
            <a:ext cx="8046720" cy="621792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795528" y="1335024"/>
            <a:ext cx="457200" cy="457200"/>
          </a:xfrm>
          <a:prstGeom prst="ellipse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7"/>
          <p:cNvSpPr/>
          <p:nvPr/>
        </p:nvSpPr>
        <p:spPr>
          <a:xfrm>
            <a:off x="795528" y="13350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1353312" y="129844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Graph learning is effective for electron-interaction modeling in two complementary output regimes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731520" y="1993392"/>
            <a:ext cx="8046720" cy="621792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795528" y="2066544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795528" y="20665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1353312" y="202996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Hybrid sparse-set modeling (V3) is the most robust spectroscopy-oriented workflow currently available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731520" y="2724912"/>
            <a:ext cx="8046720" cy="621792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795528" y="2798064"/>
            <a:ext cx="457200" cy="457200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7"/>
          <p:cNvSpPr/>
          <p:nvPr/>
        </p:nvSpPr>
        <p:spPr>
          <a:xfrm>
            <a:off x="795528" y="279806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1353312" y="276148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Dense multi-horizon forecasting demonstrates strong local predictive fidelity (R²=0.998 across 3 horizons)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731520" y="3456432"/>
            <a:ext cx="8046720" cy="621792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795528" y="3529584"/>
            <a:ext cx="457200" cy="457200"/>
          </a:xfrm>
          <a:prstGeom prst="ellipse">
            <a:avLst/>
          </a:prstGeom>
          <a:solidFill>
            <a:srgbClr val="FFB703"/>
          </a:solidFill>
          <a:ln cap="flat" cmpd="sng" w="12700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795528" y="3529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1353312" y="349300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Data scarcity (2 molecules) is the dominant limitation — drives all next-phase planning decisions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731520" y="4187952"/>
            <a:ext cx="8046720" cy="621792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795528" y="4261104"/>
            <a:ext cx="457200" cy="45720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795528" y="42611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1353312" y="4224528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F0F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The strongest next step: integrated, reproducible cross-approach benchmark with broader chemistry diversity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731520" y="4864608"/>
            <a:ext cx="7772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AFC5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Both approaches are valuable — the next scientific gain comes from disciplined integration and broader validation.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8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8"/>
          <p:cNvSpPr/>
          <p:nvPr/>
        </p:nvSpPr>
        <p:spPr>
          <a:xfrm>
            <a:off x="731520" y="320040"/>
            <a:ext cx="457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GNN ELECTRON DENSITY PREDICTION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731520" y="594360"/>
            <a:ext cx="6858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Electron Density Prediction via Graph Attention Networks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8"/>
          <p:cNvSpPr/>
          <p:nvPr/>
        </p:nvSpPr>
        <p:spPr>
          <a:xfrm>
            <a:off x="731520" y="1143000"/>
            <a:ext cx="7772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p28"/>
          <p:cNvGrpSpPr/>
          <p:nvPr/>
        </p:nvGrpSpPr>
        <p:grpSpPr>
          <a:xfrm>
            <a:off x="731520" y="1333500"/>
            <a:ext cx="8039100" cy="762000"/>
            <a:chOff x="731520" y="1333500"/>
            <a:chExt cx="8039100" cy="762000"/>
          </a:xfrm>
        </p:grpSpPr>
        <p:sp>
          <p:nvSpPr>
            <p:cNvPr id="719" name="Google Shape;719;p28"/>
            <p:cNvSpPr/>
            <p:nvPr/>
          </p:nvSpPr>
          <p:spPr>
            <a:xfrm>
              <a:off x="731520" y="1333500"/>
              <a:ext cx="8039100" cy="762000"/>
            </a:xfrm>
            <a:prstGeom prst="roundRect">
              <a:avLst>
                <a:gd fmla="val 10000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904875" y="1524000"/>
              <a:ext cx="381000" cy="381000"/>
            </a:xfrm>
            <a:prstGeom prst="roundRect">
              <a:avLst>
                <a:gd fmla="val 50000" name="adj"/>
              </a:avLst>
            </a:prstGeom>
            <a:solidFill>
              <a:srgbClr val="06D6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8"/>
            <p:cNvSpPr txBox="1"/>
            <p:nvPr/>
          </p:nvSpPr>
          <p:spPr>
            <a:xfrm>
              <a:off x="904875" y="155028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D1B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22" name="Google Shape;722;p28"/>
            <p:cNvSpPr txBox="1"/>
            <p:nvPr/>
          </p:nvSpPr>
          <p:spPr>
            <a:xfrm>
              <a:off x="1428750" y="1333500"/>
              <a:ext cx="7143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Temporal Prediction: NH3 Electron Density</a:t>
              </a:r>
              <a:endParaRPr b="1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-US" sz="11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Using Sliding Window and Graph Attention Networks (GAT)</a:t>
              </a:r>
              <a:endParaRPr b="0" i="0" sz="11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3" name="Google Shape;723;p28"/>
          <p:cNvGrpSpPr/>
          <p:nvPr/>
        </p:nvGrpSpPr>
        <p:grpSpPr>
          <a:xfrm>
            <a:off x="731520" y="2286000"/>
            <a:ext cx="3924300" cy="1428900"/>
            <a:chOff x="731520" y="2286000"/>
            <a:chExt cx="3924300" cy="1428900"/>
          </a:xfrm>
        </p:grpSpPr>
        <p:sp>
          <p:nvSpPr>
            <p:cNvPr id="724" name="Google Shape;724;p28"/>
            <p:cNvSpPr/>
            <p:nvPr/>
          </p:nvSpPr>
          <p:spPr>
            <a:xfrm>
              <a:off x="731520" y="2286000"/>
              <a:ext cx="3924300" cy="1428900"/>
            </a:xfrm>
            <a:prstGeom prst="roundRect">
              <a:avLst>
                <a:gd fmla="val 5333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922020" y="242887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8"/>
            <p:cNvSpPr txBox="1"/>
            <p:nvPr/>
          </p:nvSpPr>
          <p:spPr>
            <a:xfrm>
              <a:off x="922020" y="244932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D1B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27" name="Google Shape;727;p28"/>
            <p:cNvSpPr txBox="1"/>
            <p:nvPr/>
          </p:nvSpPr>
          <p:spPr>
            <a:xfrm>
              <a:off x="1333500" y="2286000"/>
              <a:ext cx="3143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Stats &amp; Dataset</a:t>
              </a:r>
              <a:endPara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Grid Nodes: 10,540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Timesteps: 401 (~4.2M total values)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Dataset: ammonia_x (0 to 2000, step=5)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8" name="Google Shape;728;p28"/>
          <p:cNvGrpSpPr/>
          <p:nvPr/>
        </p:nvGrpSpPr>
        <p:grpSpPr>
          <a:xfrm>
            <a:off x="4846320" y="2286000"/>
            <a:ext cx="3924300" cy="1428900"/>
            <a:chOff x="4846320" y="2286000"/>
            <a:chExt cx="3924300" cy="1428900"/>
          </a:xfrm>
        </p:grpSpPr>
        <p:sp>
          <p:nvSpPr>
            <p:cNvPr id="729" name="Google Shape;729;p28"/>
            <p:cNvSpPr/>
            <p:nvPr/>
          </p:nvSpPr>
          <p:spPr>
            <a:xfrm>
              <a:off x="4846320" y="2286000"/>
              <a:ext cx="3924300" cy="1428900"/>
            </a:xfrm>
            <a:prstGeom prst="roundRect">
              <a:avLst>
                <a:gd fmla="val 5333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5036820" y="2428875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FFB70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28"/>
            <p:cNvSpPr txBox="1"/>
            <p:nvPr/>
          </p:nvSpPr>
          <p:spPr>
            <a:xfrm>
              <a:off x="5036820" y="2449322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D1B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32" name="Google Shape;732;p28"/>
            <p:cNvSpPr txBox="1"/>
            <p:nvPr/>
          </p:nvSpPr>
          <p:spPr>
            <a:xfrm>
              <a:off x="5448300" y="2286000"/>
              <a:ext cx="3143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142875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Loading</a:t>
              </a:r>
              <a:endParaRPr b="1" i="0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Raw Matrix: (401, 10540)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Grid Coordinates: (10540, 3)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401 timesteps x 10,540 grid points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3" name="Google Shape;733;p28"/>
          <p:cNvGrpSpPr/>
          <p:nvPr/>
        </p:nvGrpSpPr>
        <p:grpSpPr>
          <a:xfrm>
            <a:off x="731520" y="3905250"/>
            <a:ext cx="8039100" cy="571500"/>
            <a:chOff x="731520" y="3905250"/>
            <a:chExt cx="8039100" cy="571500"/>
          </a:xfrm>
        </p:grpSpPr>
        <p:sp>
          <p:nvSpPr>
            <p:cNvPr id="734" name="Google Shape;734;p28"/>
            <p:cNvSpPr/>
            <p:nvPr/>
          </p:nvSpPr>
          <p:spPr>
            <a:xfrm>
              <a:off x="731520" y="3905250"/>
              <a:ext cx="8039100" cy="571500"/>
            </a:xfrm>
            <a:prstGeom prst="roundRect">
              <a:avLst>
                <a:gd fmla="val 13333" name="adj"/>
              </a:avLst>
            </a:prstGeom>
            <a:solidFill>
              <a:srgbClr val="FFD166">
                <a:alpha val="14901"/>
              </a:srgbClr>
            </a:solidFill>
            <a:ln cap="flat" cmpd="sng" w="9525">
              <a:solidFill>
                <a:srgbClr val="FFD1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922020" y="4038600"/>
              <a:ext cx="304800" cy="304800"/>
            </a:xfrm>
            <a:prstGeom prst="roundRect">
              <a:avLst>
                <a:gd fmla="val 50000" name="adj"/>
              </a:avLst>
            </a:prstGeom>
            <a:solidFill>
              <a:srgbClr val="FFD1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28"/>
            <p:cNvSpPr txBox="1"/>
            <p:nvPr/>
          </p:nvSpPr>
          <p:spPr>
            <a:xfrm>
              <a:off x="922020" y="4059047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D1B2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37" name="Google Shape;737;p28"/>
            <p:cNvSpPr txBox="1"/>
            <p:nvPr/>
          </p:nvSpPr>
          <p:spPr>
            <a:xfrm>
              <a:off x="1428750" y="3905250"/>
              <a:ext cx="7143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D166"/>
                  </a:solidFill>
                  <a:latin typeface="Calibri"/>
                  <a:ea typeface="Calibri"/>
                  <a:cs typeface="Calibri"/>
                  <a:sym typeface="Calibri"/>
                </a:rPr>
                <a:t>Goal: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Predict future electron density at all spatial grid nodes given a short history of snapshots.</a:t>
              </a:r>
              <a:endParaRPr b="0" i="0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8" name="Google Shape;738;p28"/>
          <p:cNvSpPr txBox="1"/>
          <p:nvPr/>
        </p:nvSpPr>
        <p:spPr>
          <a:xfrm>
            <a:off x="731520" y="4762500"/>
            <a:ext cx="77724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This section summarizes the complete NH3 temporal electron-density pipeline and outcomes.</a:t>
            </a:r>
            <a:endParaRPr b="0" i="1" sz="10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9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9"/>
          <p:cNvSpPr txBox="1"/>
          <p:nvPr/>
        </p:nvSpPr>
        <p:spPr>
          <a:xfrm>
            <a:off x="731520" y="320040"/>
            <a:ext cx="571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PROBLEM COMPLEXITY &amp; SCALE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9"/>
          <p:cNvSpPr txBox="1"/>
          <p:nvPr/>
        </p:nvSpPr>
        <p:spPr>
          <a:xfrm>
            <a:off x="731520" y="594360"/>
            <a:ext cx="7620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Is This Problem Challenging?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731520" y="1143000"/>
            <a:ext cx="7772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8" name="Google Shape;748;p29"/>
          <p:cNvGrpSpPr/>
          <p:nvPr/>
        </p:nvGrpSpPr>
        <p:grpSpPr>
          <a:xfrm>
            <a:off x="731520" y="285611"/>
            <a:ext cx="7597125" cy="4095889"/>
            <a:chOff x="731520" y="285611"/>
            <a:chExt cx="7597125" cy="4095889"/>
          </a:xfrm>
        </p:grpSpPr>
        <p:sp>
          <p:nvSpPr>
            <p:cNvPr id="749" name="Google Shape;749;p29"/>
            <p:cNvSpPr/>
            <p:nvPr/>
          </p:nvSpPr>
          <p:spPr>
            <a:xfrm>
              <a:off x="73152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29"/>
            <p:cNvSpPr txBox="1"/>
            <p:nvPr/>
          </p:nvSpPr>
          <p:spPr>
            <a:xfrm>
              <a:off x="5852145" y="285611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B4D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51" name="Google Shape;751;p29"/>
            <p:cNvSpPr txBox="1"/>
            <p:nvPr/>
          </p:nvSpPr>
          <p:spPr>
            <a:xfrm>
              <a:off x="866870" y="1523025"/>
              <a:ext cx="2190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Ext</a:t>
              </a: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reme Dynamic Range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Values span 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17 orders of m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agnitude</a:t>
              </a: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: from vacuum (7.5 × 10⁻¹⁷) to nucleus (196.64).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2" name="Google Shape;752;p29"/>
            <p:cNvPicPr preferRelativeResize="0"/>
            <p:nvPr/>
          </p:nvPicPr>
          <p:blipFill rotWithShape="1">
            <a:blip r:embed="rId4">
              <a:alphaModFix/>
            </a:blip>
            <a:srcRect b="-9980" l="-9164" r="-26393" t="9980"/>
            <a:stretch/>
          </p:blipFill>
          <p:spPr>
            <a:xfrm>
              <a:off x="874400" y="2757700"/>
              <a:ext cx="2190900" cy="14811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  <p:sp>
          <p:nvSpPr>
            <p:cNvPr id="753" name="Google Shape;753;p29"/>
            <p:cNvSpPr txBox="1"/>
            <p:nvPr/>
          </p:nvSpPr>
          <p:spPr>
            <a:xfrm>
              <a:off x="866870" y="1951725"/>
              <a:ext cx="21906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Standard NNs struggle, requiring </a:t>
              </a:r>
              <a:r>
                <a:rPr b="1" i="0" lang="en-US" sz="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logarithmic transformation</a:t>
              </a: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 for stability.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4" name="Google Shape;754;p29"/>
          <p:cNvGrpSpPr/>
          <p:nvPr/>
        </p:nvGrpSpPr>
        <p:grpSpPr>
          <a:xfrm>
            <a:off x="3375660" y="1333500"/>
            <a:ext cx="2476500" cy="3048000"/>
            <a:chOff x="3375660" y="1333500"/>
            <a:chExt cx="2476500" cy="3048000"/>
          </a:xfrm>
        </p:grpSpPr>
        <p:sp>
          <p:nvSpPr>
            <p:cNvPr id="755" name="Google Shape;755;p29"/>
            <p:cNvSpPr/>
            <p:nvPr/>
          </p:nvSpPr>
          <p:spPr>
            <a:xfrm>
              <a:off x="337566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29"/>
            <p:cNvSpPr txBox="1"/>
            <p:nvPr/>
          </p:nvSpPr>
          <p:spPr>
            <a:xfrm>
              <a:off x="3375660" y="1380236"/>
              <a:ext cx="247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B4D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57" name="Google Shape;757;p29"/>
            <p:cNvSpPr txBox="1"/>
            <p:nvPr/>
          </p:nvSpPr>
          <p:spPr>
            <a:xfrm>
              <a:off x="3518473" y="1556325"/>
              <a:ext cx="2190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Tiny Temporal Changes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Mean Δρ ≈ </a:t>
              </a: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9.2 × 10⁻⁵</a:t>
              </a: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, a relative change of only </a:t>
              </a: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0.000916%</a:t>
              </a: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Detecting signal variations is like </a:t>
              </a:r>
              <a:r>
                <a:rPr b="1" i="0" lang="en-US" sz="10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finding a needle in a haystack</a:t>
              </a:r>
              <a:r>
                <a:rPr b="0" i="0" lang="en-US" sz="10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0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8" name="Google Shape;758;p29"/>
          <p:cNvSpPr txBox="1"/>
          <p:nvPr/>
        </p:nvSpPr>
        <p:spPr>
          <a:xfrm>
            <a:off x="731520" y="4524375"/>
            <a:ext cx="7772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The model must navigate extreme scale disparities and vanishingly small deltas while ignoring static noise from the majority of the grid points.</a:t>
            </a:r>
            <a:endParaRPr b="0" i="1" sz="10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9" name="Google Shape;759;p29"/>
          <p:cNvGrpSpPr/>
          <p:nvPr/>
        </p:nvGrpSpPr>
        <p:grpSpPr>
          <a:xfrm>
            <a:off x="6019800" y="605959"/>
            <a:ext cx="2476500" cy="3775541"/>
            <a:chOff x="6019800" y="605959"/>
            <a:chExt cx="2476500" cy="3775541"/>
          </a:xfrm>
        </p:grpSpPr>
        <p:sp>
          <p:nvSpPr>
            <p:cNvPr id="760" name="Google Shape;760;p29"/>
            <p:cNvSpPr/>
            <p:nvPr/>
          </p:nvSpPr>
          <p:spPr>
            <a:xfrm>
              <a:off x="601980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9"/>
            <p:cNvSpPr txBox="1"/>
            <p:nvPr/>
          </p:nvSpPr>
          <p:spPr>
            <a:xfrm>
              <a:off x="6333625" y="605959"/>
              <a:ext cx="867300" cy="14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rgbClr val="00B4D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762" name="Google Shape;762;p29"/>
            <p:cNvSpPr txBox="1"/>
            <p:nvPr/>
          </p:nvSpPr>
          <p:spPr>
            <a:xfrm>
              <a:off x="6162600" y="1512675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Static vs </a:t>
              </a: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ctive Nodes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Only 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~6,400 n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 (60.8%)</a:t>
              </a: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 exhibit meaningful variability.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9"/>
            <p:cNvSpPr txBox="1"/>
            <p:nvPr/>
          </p:nvSpPr>
          <p:spPr>
            <a:xfrm>
              <a:off x="6119075" y="1951725"/>
              <a:ext cx="2190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Loss is dominated by </a:t>
              </a:r>
              <a:r>
                <a:rPr b="1" i="0" lang="en-US" sz="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4,140 inactive regions</a:t>
              </a: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, drowning the signal.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4" name="Google Shape;764;p29"/>
            <p:cNvPicPr preferRelativeResize="0"/>
            <p:nvPr/>
          </p:nvPicPr>
          <p:blipFill rotWithShape="1">
            <a:blip r:embed="rId5">
              <a:alphaModFix/>
            </a:blip>
            <a:srcRect b="-19774" l="-20414" r="-30575" t="-19774"/>
            <a:stretch/>
          </p:blipFill>
          <p:spPr>
            <a:xfrm>
              <a:off x="6119075" y="2512229"/>
              <a:ext cx="2190900" cy="17559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0"/>
          <p:cNvSpPr/>
          <p:nvPr/>
        </p:nvSpPr>
        <p:spPr>
          <a:xfrm>
            <a:off x="0" y="0"/>
            <a:ext cx="4764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1" name="Google Shape;771;p30"/>
          <p:cNvGrpSpPr/>
          <p:nvPr/>
        </p:nvGrpSpPr>
        <p:grpSpPr>
          <a:xfrm>
            <a:off x="666750" y="285750"/>
            <a:ext cx="7810500" cy="781200"/>
            <a:chOff x="666750" y="285750"/>
            <a:chExt cx="7810500" cy="781200"/>
          </a:xfrm>
        </p:grpSpPr>
        <p:sp>
          <p:nvSpPr>
            <p:cNvPr id="772" name="Google Shape;772;p30"/>
            <p:cNvSpPr txBox="1"/>
            <p:nvPr/>
          </p:nvSpPr>
          <p:spPr>
            <a:xfrm>
              <a:off x="666750" y="28575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DATA TRANSFORMATION &amp; DELTA PREDICTION</a:t>
              </a:r>
              <a:endParaRPr b="1" i="0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0"/>
            <p:cNvSpPr txBox="1"/>
            <p:nvPr/>
          </p:nvSpPr>
          <p:spPr>
            <a:xfrm>
              <a:off x="666750" y="571500"/>
              <a:ext cx="762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Optimizing Learning Signals via Numerical Conditioning</a:t>
              </a:r>
              <a:endParaRPr b="1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666750" y="1047750"/>
              <a:ext cx="7810500" cy="192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5" name="Google Shape;775;p30"/>
          <p:cNvGrpSpPr/>
          <p:nvPr/>
        </p:nvGrpSpPr>
        <p:grpSpPr>
          <a:xfrm>
            <a:off x="666750" y="1238250"/>
            <a:ext cx="2571900" cy="3238500"/>
            <a:chOff x="666750" y="1238250"/>
            <a:chExt cx="2571900" cy="3238500"/>
          </a:xfrm>
        </p:grpSpPr>
        <p:sp>
          <p:nvSpPr>
            <p:cNvPr id="776" name="Google Shape;776;p30"/>
            <p:cNvSpPr/>
            <p:nvPr/>
          </p:nvSpPr>
          <p:spPr>
            <a:xfrm>
              <a:off x="666750" y="1238250"/>
              <a:ext cx="2571900" cy="3238500"/>
            </a:xfrm>
            <a:prstGeom prst="roundRect">
              <a:avLst>
                <a:gd fmla="val 3703" name="adj"/>
              </a:avLst>
            </a:prstGeom>
            <a:solidFill>
              <a:srgbClr val="1B2E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30"/>
            <p:cNvSpPr txBox="1"/>
            <p:nvPr/>
          </p:nvSpPr>
          <p:spPr>
            <a:xfrm>
              <a:off x="809625" y="1381125"/>
              <a:ext cx="2286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1. Log1p Transformation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Before: Raw Density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Min: 7.42e⁻¹⁷ | Max: 196.64</a:t>
              </a:r>
              <a:b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Skew: 4.08 (Highly Right-Skewed)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Formula: </a:t>
              </a: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xtf = log(1 + x)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Inverse: </a:t>
              </a: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x = exp(xtf) - 1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After: log1p-Transformed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Range: [0.00, 5.29] (Compressed)</a:t>
              </a:r>
              <a:b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Skew: 3.34 (Reduced Improvement)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8" name="Google Shape;778;p30"/>
          <p:cNvGrpSpPr/>
          <p:nvPr/>
        </p:nvGrpSpPr>
        <p:grpSpPr>
          <a:xfrm>
            <a:off x="3381375" y="1238250"/>
            <a:ext cx="2571900" cy="3238500"/>
            <a:chOff x="3381375" y="1238250"/>
            <a:chExt cx="2571900" cy="3238500"/>
          </a:xfrm>
        </p:grpSpPr>
        <p:sp>
          <p:nvSpPr>
            <p:cNvPr id="779" name="Google Shape;779;p30"/>
            <p:cNvSpPr/>
            <p:nvPr/>
          </p:nvSpPr>
          <p:spPr>
            <a:xfrm>
              <a:off x="3381375" y="1238250"/>
              <a:ext cx="2571900" cy="3238500"/>
            </a:xfrm>
            <a:prstGeom prst="roundRect">
              <a:avLst>
                <a:gd fmla="val 3703" name="adj"/>
              </a:avLst>
            </a:prstGeom>
            <a:solidFill>
              <a:srgbClr val="1B2E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0"/>
            <p:cNvSpPr txBox="1"/>
            <p:nvPr/>
          </p:nvSpPr>
          <p:spPr>
            <a:xfrm>
              <a:off x="3524250" y="1381125"/>
              <a:ext cx="2286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2. Delta Prediction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Formula: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Δρ = log1p(ρ(t+1)) − log1p(ρ(t))</a:t>
              </a:r>
              <a:endParaRPr b="0" i="0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The Problem: Scale Mismatch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F0F8"/>
                </a:buClr>
                <a:buSzPts val="900"/>
                <a:buFont typeface="Calibri"/>
                <a:buChar char="●"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Range: [-4.7e⁻⁴, 4.7e⁻⁴]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45720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CAF0F8"/>
                </a:buClr>
                <a:buSzPts val="900"/>
                <a:buFont typeface="Calibri"/>
                <a:buChar char="●"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Mean Δρ: 9.2 × 10⁻⁵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5750" lvl="0" marL="45720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CAF0F8"/>
                </a:buClr>
                <a:buSzPts val="900"/>
                <a:buFont typeface="Calibri"/>
                <a:buChar char="●"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σ = 6.34e⁻⁰⁵: Model output would be noise at this scale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75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Benefit: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Residual learning focuses on temporal variations.</a:t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1" name="Google Shape;781;p30"/>
          <p:cNvGrpSpPr/>
          <p:nvPr/>
        </p:nvGrpSpPr>
        <p:grpSpPr>
          <a:xfrm>
            <a:off x="6096000" y="1238250"/>
            <a:ext cx="2571900" cy="3238500"/>
            <a:chOff x="6096000" y="1238250"/>
            <a:chExt cx="2571900" cy="3238500"/>
          </a:xfrm>
        </p:grpSpPr>
        <p:sp>
          <p:nvSpPr>
            <p:cNvPr id="782" name="Google Shape;782;p30"/>
            <p:cNvSpPr/>
            <p:nvPr/>
          </p:nvSpPr>
          <p:spPr>
            <a:xfrm>
              <a:off x="6096000" y="1238250"/>
              <a:ext cx="2571900" cy="3238500"/>
            </a:xfrm>
            <a:prstGeom prst="roundRect">
              <a:avLst>
                <a:gd fmla="val 3703" name="adj"/>
              </a:avLst>
            </a:prstGeom>
            <a:solidFill>
              <a:srgbClr val="1B2E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0"/>
            <p:cNvSpPr txBox="1"/>
            <p:nvPr/>
          </p:nvSpPr>
          <p:spPr>
            <a:xfrm>
              <a:off x="6238875" y="1381125"/>
              <a:ext cx="2286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3. Standardization</a:t>
              </a:r>
              <a:endParaRPr b="1" i="0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After Processing (÷ σ):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AF0F8"/>
                </a:buClr>
                <a:buSzPts val="950"/>
                <a:buFont typeface="Calibri"/>
                <a:buChar char="●"/>
              </a:pPr>
              <a:r>
                <a:rPr b="1" i="0" lang="en-US" sz="95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Scale factor:</a:t>
              </a: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 15,774×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CAF0F8"/>
                </a:buClr>
                <a:buSzPts val="950"/>
                <a:buFont typeface="Calibri"/>
                <a:buChar char="●"/>
              </a:pPr>
              <a:r>
                <a:rPr b="1" i="0" lang="en-US" sz="95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Range:</a:t>
              </a: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 [-7.47, 7.49] 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CAF0F8"/>
                </a:buClr>
                <a:buSzPts val="950"/>
                <a:buFont typeface="Calibri"/>
                <a:buChar char="●"/>
              </a:pPr>
              <a:r>
                <a:rPr b="1" i="0" lang="en-US" sz="95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Std Dev:</a:t>
              </a: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 1.0000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Final Result:</a:t>
              </a:r>
              <a:endParaRPr b="1" i="0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Learnable range with unit variance for stable optimization.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4" name="Google Shape;784;p30"/>
          <p:cNvSpPr txBox="1"/>
          <p:nvPr/>
        </p:nvSpPr>
        <p:spPr>
          <a:xfrm>
            <a:off x="666750" y="4572000"/>
            <a:ext cx="8001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Why Delta Prediction? Predicting change (Δρ) instead of absolute density acts as residual learning, focusing the model on meaningful temporal variations rather than the static baseline.</a:t>
            </a:r>
            <a:endParaRPr b="0" i="1" sz="95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1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31"/>
          <p:cNvSpPr txBox="1"/>
          <p:nvPr/>
        </p:nvSpPr>
        <p:spPr>
          <a:xfrm>
            <a:off x="731520" y="320040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 PREPROCESSING &amp; SPLITTING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 txBox="1"/>
          <p:nvPr/>
        </p:nvSpPr>
        <p:spPr>
          <a:xfrm>
            <a:off x="731520" y="594360"/>
            <a:ext cx="685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Sliding Window &amp; Data Splitting Strategy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731520" y="1143000"/>
            <a:ext cx="7772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4" name="Google Shape;794;p31"/>
          <p:cNvGrpSpPr/>
          <p:nvPr/>
        </p:nvGrpSpPr>
        <p:grpSpPr>
          <a:xfrm>
            <a:off x="731520" y="1333500"/>
            <a:ext cx="2476500" cy="3048000"/>
            <a:chOff x="731520" y="1333500"/>
            <a:chExt cx="2476500" cy="3048000"/>
          </a:xfrm>
        </p:grpSpPr>
        <p:sp>
          <p:nvSpPr>
            <p:cNvPr id="795" name="Google Shape;795;p31"/>
            <p:cNvSpPr/>
            <p:nvPr/>
          </p:nvSpPr>
          <p:spPr>
            <a:xfrm>
              <a:off x="73152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31"/>
            <p:cNvSpPr txBox="1"/>
            <p:nvPr/>
          </p:nvSpPr>
          <p:spPr>
            <a:xfrm>
              <a:off x="82677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Sliding Window Input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Input Window: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[t₀, t₅, t₁₀, t₁₅, t₂₀]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Prediction Target: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t₂₅ (Next Timestep)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Total Samples: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~396 instances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7" name="Google Shape;797;p31"/>
          <p:cNvGrpSpPr/>
          <p:nvPr/>
        </p:nvGrpSpPr>
        <p:grpSpPr>
          <a:xfrm>
            <a:off x="3375660" y="1333500"/>
            <a:ext cx="2476500" cy="3048000"/>
            <a:chOff x="3375660" y="1333500"/>
            <a:chExt cx="2476500" cy="3048000"/>
          </a:xfrm>
        </p:grpSpPr>
        <p:sp>
          <p:nvSpPr>
            <p:cNvPr id="798" name="Google Shape;798;p31"/>
            <p:cNvSpPr/>
            <p:nvPr/>
          </p:nvSpPr>
          <p:spPr>
            <a:xfrm>
              <a:off x="337566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31"/>
            <p:cNvSpPr txBox="1"/>
            <p:nvPr/>
          </p:nvSpPr>
          <p:spPr>
            <a:xfrm>
              <a:off x="347091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Data Split Protocol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Training Set (80%):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317 Samples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Validation Set (10%):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40 Samples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Test Set (10%):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40 Samples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0" name="Google Shape;800;p31"/>
          <p:cNvGrpSpPr/>
          <p:nvPr/>
        </p:nvGrpSpPr>
        <p:grpSpPr>
          <a:xfrm>
            <a:off x="6019800" y="1333500"/>
            <a:ext cx="2476500" cy="3048000"/>
            <a:chOff x="6019800" y="1333500"/>
            <a:chExt cx="2476500" cy="3048000"/>
          </a:xfrm>
        </p:grpSpPr>
        <p:sp>
          <p:nvSpPr>
            <p:cNvPr id="801" name="Google Shape;801;p31"/>
            <p:cNvSpPr/>
            <p:nvPr/>
          </p:nvSpPr>
          <p:spPr>
            <a:xfrm>
              <a:off x="601980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31"/>
            <p:cNvSpPr txBox="1"/>
            <p:nvPr/>
          </p:nvSpPr>
          <p:spPr>
            <a:xfrm>
              <a:off x="611505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Temporal Integrity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Chronological split preserves causal order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No shuffling permitted between sets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Prevents future-info data leakage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• Ensures realistic field prediction</a:t>
              </a:r>
              <a:endParaRPr b="0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3" name="Google Shape;803;p31"/>
          <p:cNvSpPr txBox="1"/>
          <p:nvPr/>
        </p:nvSpPr>
        <p:spPr>
          <a:xfrm>
            <a:off x="731520" y="4524375"/>
            <a:ext cx="7772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Critical: Chronological splitting prevents data leakage. Random shuffling would artificially inflate performance by allowing future information to influence past predictions.</a:t>
            </a:r>
            <a:endParaRPr b="0" i="1" sz="10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2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2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2"/>
          <p:cNvSpPr txBox="1"/>
          <p:nvPr/>
        </p:nvSpPr>
        <p:spPr>
          <a:xfrm>
            <a:off x="731520" y="320040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GRAPH CONSTRUCTION &amp; CONNECTIVITY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2"/>
          <p:cNvSpPr txBox="1"/>
          <p:nvPr/>
        </p:nvSpPr>
        <p:spPr>
          <a:xfrm>
            <a:off x="731520" y="594360"/>
            <a:ext cx="6858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Encoding Spatial Dependencies via Multi-Scale Edges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2"/>
          <p:cNvSpPr/>
          <p:nvPr/>
        </p:nvSpPr>
        <p:spPr>
          <a:xfrm>
            <a:off x="731520" y="1143000"/>
            <a:ext cx="7772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3" name="Google Shape;813;p32"/>
          <p:cNvGrpSpPr/>
          <p:nvPr/>
        </p:nvGrpSpPr>
        <p:grpSpPr>
          <a:xfrm>
            <a:off x="731520" y="1333500"/>
            <a:ext cx="2476500" cy="3048000"/>
            <a:chOff x="731520" y="1333500"/>
            <a:chExt cx="2476500" cy="3048000"/>
          </a:xfrm>
        </p:grpSpPr>
        <p:sp>
          <p:nvSpPr>
            <p:cNvPr id="814" name="Google Shape;814;p32"/>
            <p:cNvSpPr/>
            <p:nvPr/>
          </p:nvSpPr>
          <p:spPr>
            <a:xfrm>
              <a:off x="73152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2"/>
            <p:cNvSpPr txBox="1"/>
            <p:nvPr/>
          </p:nvSpPr>
          <p:spPr>
            <a:xfrm>
              <a:off x="82677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Node Topology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Grid Resolution: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10,540 Grid Points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Input Features: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5 timesteps (Density)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Each spatial grid point is initialized as a graph node capturing local temporal density states.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6" name="Google Shape;816;p32"/>
          <p:cNvGrpSpPr/>
          <p:nvPr/>
        </p:nvGrpSpPr>
        <p:grpSpPr>
          <a:xfrm>
            <a:off x="3375660" y="1333500"/>
            <a:ext cx="2476500" cy="3048000"/>
            <a:chOff x="3375660" y="1333500"/>
            <a:chExt cx="2476500" cy="3048000"/>
          </a:xfrm>
        </p:grpSpPr>
        <p:sp>
          <p:nvSpPr>
            <p:cNvPr id="817" name="Google Shape;817;p32"/>
            <p:cNvSpPr/>
            <p:nvPr/>
          </p:nvSpPr>
          <p:spPr>
            <a:xfrm>
              <a:off x="337566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32"/>
            <p:cNvSpPr txBox="1"/>
            <p:nvPr/>
          </p:nvSpPr>
          <p:spPr>
            <a:xfrm>
              <a:off x="347091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Edge Generation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Sequential Edges: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~105,400 (k=5 index)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Spatial Edges: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~211,000 (k=10 dist)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Combined Graph:</a:t>
              </a:r>
              <a:endParaRPr b="1" i="0" sz="10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~262,000 Total Edges</a:t>
              </a:r>
              <a:endParaRPr b="1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Avg Degree ≈ 25 per node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9" name="Google Shape;819;p32"/>
          <p:cNvGrpSpPr/>
          <p:nvPr/>
        </p:nvGrpSpPr>
        <p:grpSpPr>
          <a:xfrm>
            <a:off x="6019800" y="1333500"/>
            <a:ext cx="2476500" cy="3048000"/>
            <a:chOff x="6019800" y="1333500"/>
            <a:chExt cx="2476500" cy="3048000"/>
          </a:xfrm>
        </p:grpSpPr>
        <p:sp>
          <p:nvSpPr>
            <p:cNvPr id="820" name="Google Shape;820;p32"/>
            <p:cNvSpPr/>
            <p:nvPr/>
          </p:nvSpPr>
          <p:spPr>
            <a:xfrm>
              <a:off x="6019800" y="133350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technical 3D visualization of a complex molecular grid graph with nodes connected by glowing lines, illustrating connectivity and spatial dependencies in a dark scientific aesthetic." id="821" name="Google Shape;821;p32"/>
            <p:cNvPicPr preferRelativeResize="0"/>
            <p:nvPr/>
          </p:nvPicPr>
          <p:blipFill rotWithShape="1">
            <a:blip r:embed="rId4">
              <a:alphaModFix/>
            </a:blip>
            <a:srcRect b="0" l="9376" r="9376" t="0"/>
            <a:stretch/>
          </p:blipFill>
          <p:spPr>
            <a:xfrm>
              <a:off x="6019800" y="1333500"/>
              <a:ext cx="2476500" cy="3048000"/>
            </a:xfrm>
            <a:prstGeom prst="roundRect">
              <a:avLst>
                <a:gd fmla="val 3076" name="adj"/>
              </a:avLst>
            </a:prstGeom>
            <a:noFill/>
            <a:ln>
              <a:noFill/>
            </a:ln>
          </p:spPr>
        </p:pic>
        <p:sp>
          <p:nvSpPr>
            <p:cNvPr id="822" name="Google Shape;822;p32"/>
            <p:cNvSpPr/>
            <p:nvPr/>
          </p:nvSpPr>
          <p:spPr>
            <a:xfrm>
              <a:off x="6019800" y="1333500"/>
              <a:ext cx="2476500" cy="3048000"/>
            </a:xfrm>
            <a:prstGeom prst="rect">
              <a:avLst/>
            </a:prstGeom>
            <a:solidFill>
              <a:srgbClr val="152535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2"/>
            <p:cNvSpPr txBox="1"/>
            <p:nvPr/>
          </p:nvSpPr>
          <p:spPr>
            <a:xfrm>
              <a:off x="6115050" y="14287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Why GNNs?</a:t>
              </a:r>
              <a:endParaRPr b="1" i="0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Naturally captures spatial dependencies via message passing.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Superior for irregular molecular grid spacing vs. CNNs.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75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●"/>
              </a:pPr>
              <a:r>
                <a:rPr b="0" i="0" lang="en-US" sz="95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Attention weights dynamic neighborhood influence.</a:t>
              </a:r>
              <a:endParaRPr b="0" i="0" sz="95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4" name="Google Shape;824;p32"/>
          <p:cNvSpPr txBox="1"/>
          <p:nvPr/>
        </p:nvSpPr>
        <p:spPr>
          <a:xfrm>
            <a:off x="731520" y="4524375"/>
            <a:ext cx="7772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Note: The union of sequential index-based neighbors and 3D Euclidean spatial neighbors ensures the model learns both the data acquisition order and the underlying physical geometry.</a:t>
            </a:r>
            <a:endParaRPr b="0" i="1" sz="10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3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33"/>
          <p:cNvSpPr txBox="1"/>
          <p:nvPr/>
        </p:nvSpPr>
        <p:spPr>
          <a:xfrm>
            <a:off x="731520" y="320040"/>
            <a:ext cx="457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MODEL ARCHITECTURE &amp; ATTENTION MECHANISMS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 txBox="1"/>
          <p:nvPr/>
        </p:nvSpPr>
        <p:spPr>
          <a:xfrm>
            <a:off x="731520" y="594360"/>
            <a:ext cx="7620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Detailed Graph Attention Network (GAT) Architecture</a:t>
            </a:r>
            <a:endParaRPr b="1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/>
          <p:nvPr/>
        </p:nvSpPr>
        <p:spPr>
          <a:xfrm>
            <a:off x="731520" y="1143000"/>
            <a:ext cx="77724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4" name="Google Shape;834;p33"/>
          <p:cNvGrpSpPr/>
          <p:nvPr/>
        </p:nvGrpSpPr>
        <p:grpSpPr>
          <a:xfrm>
            <a:off x="731520" y="1333500"/>
            <a:ext cx="3048000" cy="3238500"/>
            <a:chOff x="731520" y="1333500"/>
            <a:chExt cx="3048000" cy="3238500"/>
          </a:xfrm>
        </p:grpSpPr>
        <p:sp>
          <p:nvSpPr>
            <p:cNvPr id="835" name="Google Shape;835;p33"/>
            <p:cNvSpPr/>
            <p:nvPr/>
          </p:nvSpPr>
          <p:spPr>
            <a:xfrm>
              <a:off x="731520" y="1333500"/>
              <a:ext cx="3048000" cy="3238500"/>
            </a:xfrm>
            <a:prstGeom prst="roundRect">
              <a:avLst>
                <a:gd fmla="val 2500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33"/>
            <p:cNvSpPr txBox="1"/>
            <p:nvPr/>
          </p:nvSpPr>
          <p:spPr>
            <a:xfrm>
              <a:off x="731520" y="1333500"/>
              <a:ext cx="30480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2875" lIns="142875" spcFirstLastPara="1" rIns="142875" wrap="square" tIns="142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Architecture Flow</a:t>
              </a:r>
              <a:endParaRPr b="1" i="0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Input (N=10540 nodes, 5 features each)</a:t>
              </a:r>
              <a:endParaRPr b="0" i="0" sz="80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Input Projection: Linear(5→128) + LayerNorm + GELU + Dropout (r: 0.15)</a:t>
              </a:r>
              <a:endParaRPr b="0" i="0" sz="80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GAT Layer 1: GATConv(128 → 128, 4 heads)</a:t>
              </a:r>
              <a:endParaRPr b="1" i="0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LayerNorm + GELU + Dropout + Residual</a:t>
              </a:r>
              <a:endParaRPr b="0" i="0" sz="75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GAT Layer 2: GATConv(128 → 128, 4 heads)</a:t>
              </a:r>
              <a:endParaRPr b="1" i="0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LayerNorm + GELU + Dropout + Residual</a:t>
              </a:r>
              <a:endParaRPr b="0" i="0" sz="75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GAT Layer 3: GATConv(128 → 128, 4 heads)</a:t>
              </a:r>
              <a:endParaRPr b="1" i="0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LayerNorm + GELU + Dropout + Residual</a:t>
              </a:r>
              <a:endParaRPr b="0" i="0" sz="75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GAT Layer 4: GATConv(128 → 128, 1 head)</a:t>
              </a:r>
              <a:endParaRPr b="1" i="0" sz="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50"/>
                <a:buFont typeface="Arial"/>
                <a:buNone/>
              </a:pPr>
              <a:r>
                <a:rPr b="0" i="0" lang="en-US" sz="75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+ LayerNorm + GELU + Dropout + Residual</a:t>
              </a:r>
              <a:endParaRPr b="0" i="0" sz="75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CAF0F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Output Head: Linear(128→64) → GELU → Linear(64→32) → GELU → Linear(32→1)</a:t>
              </a:r>
              <a:endParaRPr b="0" i="0" sz="800" u="none" cap="none" strike="noStrike">
                <a:solidFill>
                  <a:srgbClr val="CAF0F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06D6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Predicted Δρ per node: Shape (N, 10540)</a:t>
              </a:r>
              <a:endParaRPr b="0" i="0" sz="800" u="none" cap="none" strike="noStrike">
                <a:solidFill>
                  <a:srgbClr val="06D6A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837" name="Google Shape;837;p33"/>
          <p:cNvSpPr txBox="1"/>
          <p:nvPr/>
        </p:nvSpPr>
        <p:spPr>
          <a:xfrm>
            <a:off x="3952875" y="1333500"/>
            <a:ext cx="2381400" cy="32385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t" bIns="142875" lIns="142875" spcFirstLastPara="1" rIns="142875" wrap="square" tIns="14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 Mechanism: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Learns attention weights α(i,j) for neighbors.</a:t>
            </a:r>
            <a:endParaRPr b="1" i="0" sz="9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6D6A0"/>
                </a:solidFill>
                <a:latin typeface="Courier New"/>
                <a:ea typeface="Courier New"/>
                <a:cs typeface="Courier New"/>
                <a:sym typeface="Courier New"/>
              </a:rPr>
              <a:t>α(i,j)=softmax(LeakyReLU(aᵀ[Whᵢ||Whⱼ]))</a:t>
            </a:r>
            <a:endParaRPr b="0" i="0" sz="800" u="none" cap="none" strike="noStrike">
              <a:solidFill>
                <a:srgbClr val="06D6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Multi-Head (4 heads):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4 viewpoints of neighbor importance, concatenated then averaged.</a:t>
            </a:r>
            <a:endParaRPr b="1" i="0" sz="9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Residual Connections: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Prevents vanishing gradients; learns corrections.</a:t>
            </a:r>
            <a:endParaRPr b="1" i="0" sz="9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LayerNorm: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Stabilizes hidden vector magnitudes.</a:t>
            </a:r>
            <a:endParaRPr b="1" i="0" sz="9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GELU: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Smooth activation </a:t>
            </a:r>
            <a:r>
              <a:rPr b="0" i="0" lang="en-US" sz="800" u="none" cap="none" strike="noStrike">
                <a:solidFill>
                  <a:srgbClr val="06D6A0"/>
                </a:solidFill>
                <a:latin typeface="Courier New"/>
                <a:ea typeface="Courier New"/>
                <a:cs typeface="Courier New"/>
                <a:sym typeface="Courier New"/>
              </a:rPr>
              <a:t>x·Φ(x)</a:t>
            </a: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 for better training stability.</a:t>
            </a:r>
            <a:endParaRPr b="1" i="0" sz="9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 txBox="1"/>
          <p:nvPr/>
        </p:nvSpPr>
        <p:spPr>
          <a:xfrm>
            <a:off x="731520" y="4619625"/>
            <a:ext cx="777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The architecture integrates multi-scale spatial learning with heavy attention mechanisms to accurately predict density changes at 10,540 discrete grid nodes.</a:t>
            </a:r>
            <a:endParaRPr b="0" i="1" sz="9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477000" y="1333500"/>
            <a:ext cx="2047800" cy="3238500"/>
          </a:xfrm>
          <a:prstGeom prst="rect">
            <a:avLst/>
          </a:prstGeom>
          <a:solidFill>
            <a:srgbClr val="152535"/>
          </a:solidFill>
          <a:ln>
            <a:noFill/>
          </a:ln>
        </p:spPr>
        <p:txBody>
          <a:bodyPr anchorCtr="0" anchor="t" bIns="142875" lIns="142875" spcFirstLastPara="1" rIns="142875" wrap="square" tIns="14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1" i="0" sz="1100" u="none" cap="none" strike="noStrike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Input projection: 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~660</a:t>
            </a:r>
            <a:endParaRPr b="0" i="0" sz="900" u="none" cap="none" strike="noStrike">
              <a:solidFill>
                <a:srgbClr val="CA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4 GAT layers: 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~394,000</a:t>
            </a:r>
            <a:endParaRPr b="0" i="0" sz="900" u="none" cap="none" strike="noStrike">
              <a:solidFill>
                <a:srgbClr val="CA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rPr>
              <a:t>Output head: </a:t>
            </a: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~25,320</a:t>
            </a:r>
            <a:endParaRPr b="0" i="0" sz="900" u="none" cap="none" strike="noStrike">
              <a:solidFill>
                <a:srgbClr val="CAF0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Total: ~420,000</a:t>
            </a:r>
            <a:endParaRPr b="1" i="0" sz="1000" u="none" cap="none" strike="noStrike">
              <a:solidFill>
                <a:srgbClr val="06D6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4" name="Google Shape;844;p34"/>
          <p:cNvGrpSpPr/>
          <p:nvPr/>
        </p:nvGrpSpPr>
        <p:grpSpPr>
          <a:xfrm>
            <a:off x="0" y="0"/>
            <a:ext cx="9143940" cy="5143500"/>
            <a:chOff x="0" y="0"/>
            <a:chExt cx="9143940" cy="5143500"/>
          </a:xfrm>
        </p:grpSpPr>
        <p:sp>
          <p:nvSpPr>
            <p:cNvPr id="845" name="Google Shape;845;p34"/>
            <p:cNvSpPr/>
            <p:nvPr/>
          </p:nvSpPr>
          <p:spPr>
            <a:xfrm>
              <a:off x="548640" y="0"/>
              <a:ext cx="8595300" cy="1143000"/>
            </a:xfrm>
            <a:prstGeom prst="rect">
              <a:avLst/>
            </a:prstGeom>
            <a:solidFill>
              <a:srgbClr val="1B2E45">
                <a:alpha val="50196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0" y="0"/>
              <a:ext cx="548700" cy="51435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34"/>
            <p:cNvSpPr txBox="1"/>
            <p:nvPr/>
          </p:nvSpPr>
          <p:spPr>
            <a:xfrm>
              <a:off x="731520" y="28575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rPr>
                <a:t>8. Training — Variance-Weighted Loss</a:t>
              </a:r>
              <a:endParaRPr b="1" i="0" sz="11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8" name="Google Shape;848;p34"/>
            <p:cNvSpPr txBox="1"/>
            <p:nvPr/>
          </p:nvSpPr>
          <p:spPr>
            <a:xfrm>
              <a:off x="731520" y="571500"/>
              <a:ext cx="762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Focusing Signal on Electron Density Dynamics</a:t>
              </a:r>
              <a:endParaRPr b="1" i="0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731520" y="1095375"/>
              <a:ext cx="7772400" cy="192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34"/>
          <p:cNvGrpSpPr/>
          <p:nvPr/>
        </p:nvGrpSpPr>
        <p:grpSpPr>
          <a:xfrm>
            <a:off x="731520" y="1285875"/>
            <a:ext cx="7772325" cy="1524000"/>
            <a:chOff x="731520" y="1285875"/>
            <a:chExt cx="7772325" cy="1524000"/>
          </a:xfrm>
        </p:grpSpPr>
        <p:sp>
          <p:nvSpPr>
            <p:cNvPr id="851" name="Google Shape;851;p34"/>
            <p:cNvSpPr/>
            <p:nvPr/>
          </p:nvSpPr>
          <p:spPr>
            <a:xfrm>
              <a:off x="731520" y="1285875"/>
              <a:ext cx="3762300" cy="1524000"/>
            </a:xfrm>
            <a:prstGeom prst="roundRect">
              <a:avLst>
                <a:gd fmla="val 6250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34"/>
            <p:cNvSpPr txBox="1"/>
            <p:nvPr/>
          </p:nvSpPr>
          <p:spPr>
            <a:xfrm>
              <a:off x="1333500" y="1428750"/>
              <a:ext cx="2952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0B4D8"/>
                  </a:solidFill>
                  <a:latin typeface="Inter"/>
                  <a:ea typeface="Inter"/>
                  <a:cs typeface="Inter"/>
                  <a:sym typeface="Inter"/>
                </a:rPr>
                <a:t>Standard MSE Limitation</a:t>
              </a:r>
              <a:endParaRPr b="1" i="0" sz="12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Inter"/>
                  <a:ea typeface="Inter"/>
                  <a:cs typeface="Inter"/>
                  <a:sym typeface="Inter"/>
                </a:rPr>
                <a:t>Treats all 10,540 nodes equally. 39% are near-zero static nodes that dilute the training signal and bias optimization towards inactivity.</a:t>
              </a:r>
              <a:endParaRPr b="0" i="0" sz="1050" u="none" cap="none" strike="noStrike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876300" y="1400175"/>
              <a:ext cx="342900" cy="342900"/>
            </a:xfrm>
            <a:prstGeom prst="ellipse">
              <a:avLst/>
            </a:prstGeom>
            <a:solidFill>
              <a:srgbClr val="00B4D8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4"/>
            <p:cNvSpPr txBox="1"/>
            <p:nvPr/>
          </p:nvSpPr>
          <p:spPr>
            <a:xfrm>
              <a:off x="876300" y="1426464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B4D8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4741545" y="1285875"/>
              <a:ext cx="3762300" cy="1524000"/>
            </a:xfrm>
            <a:prstGeom prst="roundRect">
              <a:avLst>
                <a:gd fmla="val 6250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4"/>
            <p:cNvSpPr txBox="1"/>
            <p:nvPr/>
          </p:nvSpPr>
          <p:spPr>
            <a:xfrm>
              <a:off x="5343525" y="1428750"/>
              <a:ext cx="29529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06D6A0"/>
                  </a:solidFill>
                  <a:latin typeface="Inter"/>
                  <a:ea typeface="Inter"/>
                  <a:cs typeface="Inter"/>
                  <a:sym typeface="Inter"/>
                </a:rPr>
                <a:t>Weighted MSE Advantage</a:t>
              </a:r>
              <a:endParaRPr b="1" i="0" sz="1200" u="none" cap="none" strike="noStrike">
                <a:solidFill>
                  <a:srgbClr val="06D6A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050" u="none" cap="none" strike="noStrike">
                  <a:solidFill>
                    <a:srgbClr val="CAF0F8"/>
                  </a:solidFill>
                  <a:latin typeface="Inter"/>
                  <a:ea typeface="Inter"/>
                  <a:cs typeface="Inter"/>
                  <a:sym typeface="Inter"/>
                </a:rPr>
                <a:t>Focuses ALL gradient signal on nodes that exhibit electron density dynamics. Suppresses static-node dominance during optimization.</a:t>
              </a:r>
              <a:endParaRPr b="0" i="0" sz="1050" u="none" cap="none" strike="noStrike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4886325" y="1400175"/>
              <a:ext cx="342900" cy="342900"/>
            </a:xfrm>
            <a:prstGeom prst="ellipse">
              <a:avLst/>
            </a:prstGeom>
            <a:solidFill>
              <a:srgbClr val="06D6A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4"/>
            <p:cNvSpPr txBox="1"/>
            <p:nvPr/>
          </p:nvSpPr>
          <p:spPr>
            <a:xfrm>
              <a:off x="4886325" y="1426464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6D6A0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</p:grpSp>
      <p:grpSp>
        <p:nvGrpSpPr>
          <p:cNvPr id="859" name="Google Shape;859;p34"/>
          <p:cNvGrpSpPr/>
          <p:nvPr/>
        </p:nvGrpSpPr>
        <p:grpSpPr>
          <a:xfrm>
            <a:off x="731520" y="2952750"/>
            <a:ext cx="7772400" cy="857400"/>
            <a:chOff x="731520" y="2952750"/>
            <a:chExt cx="7772400" cy="857400"/>
          </a:xfrm>
        </p:grpSpPr>
        <p:sp>
          <p:nvSpPr>
            <p:cNvPr id="860" name="Google Shape;860;p34"/>
            <p:cNvSpPr/>
            <p:nvPr/>
          </p:nvSpPr>
          <p:spPr>
            <a:xfrm>
              <a:off x="731520" y="2952750"/>
              <a:ext cx="7772400" cy="857400"/>
            </a:xfrm>
            <a:prstGeom prst="roundRect">
              <a:avLst>
                <a:gd fmla="val 11111" name="adj"/>
              </a:avLst>
            </a:prstGeom>
            <a:solidFill>
              <a:srgbClr val="1B2E45"/>
            </a:solidFill>
            <a:ln cap="flat" cmpd="sng" w="9525">
              <a:solidFill>
                <a:srgbClr val="00B4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4"/>
            <p:cNvSpPr txBox="1"/>
            <p:nvPr/>
          </p:nvSpPr>
          <p:spPr>
            <a:xfrm>
              <a:off x="922020" y="2952750"/>
              <a:ext cx="7391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06D6A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loss = Σ( weight[i] × (pred[i] - true[i])² ) / Σ(weight[i] for active i)</a:t>
              </a:r>
              <a:endParaRPr b="1" i="0" sz="1300" u="none" cap="none" strike="noStrike">
                <a:solidFill>
                  <a:srgbClr val="06D6A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CAF0F8"/>
                  </a:solidFill>
                  <a:latin typeface="Inter"/>
                  <a:ea typeface="Inter"/>
                  <a:cs typeface="Inter"/>
                  <a:sym typeface="Inter"/>
                </a:rPr>
                <a:t>where </a:t>
              </a:r>
              <a:r>
                <a:rPr b="1" i="0" lang="en-US" sz="1000" u="none" cap="none" strike="noStrike">
                  <a:solidFill>
                    <a:srgbClr val="FFFF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weight[i] = sqrt(node_temporal_std[i])</a:t>
              </a:r>
              <a:r>
                <a:rPr b="0" i="0" lang="en-US" sz="1000" u="none" cap="none" strike="noStrike">
                  <a:solidFill>
                    <a:srgbClr val="CAF0F8"/>
                  </a:solidFill>
                  <a:latin typeface="Inter"/>
                  <a:ea typeface="Inter"/>
                  <a:cs typeface="Inter"/>
                  <a:sym typeface="Inter"/>
                </a:rPr>
                <a:t> for active nodes, 0 for static.</a:t>
              </a:r>
              <a:endParaRPr b="0" i="0" sz="1000" u="none" cap="none" strike="noStrike">
                <a:solidFill>
                  <a:srgbClr val="CAF0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2" name="Google Shape;862;p34"/>
          <p:cNvGrpSpPr/>
          <p:nvPr/>
        </p:nvGrpSpPr>
        <p:grpSpPr>
          <a:xfrm>
            <a:off x="731520" y="3952875"/>
            <a:ext cx="7772400" cy="666900"/>
            <a:chOff x="731520" y="3952875"/>
            <a:chExt cx="7772400" cy="666900"/>
          </a:xfrm>
        </p:grpSpPr>
        <p:sp>
          <p:nvSpPr>
            <p:cNvPr id="863" name="Google Shape;863;p34"/>
            <p:cNvSpPr/>
            <p:nvPr/>
          </p:nvSpPr>
          <p:spPr>
            <a:xfrm>
              <a:off x="731520" y="3952875"/>
              <a:ext cx="7772400" cy="666900"/>
            </a:xfrm>
            <a:prstGeom prst="roundRect">
              <a:avLst>
                <a:gd fmla="val 14285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876300" y="4114800"/>
              <a:ext cx="342900" cy="342900"/>
            </a:xfrm>
            <a:prstGeom prst="ellipse">
              <a:avLst/>
            </a:prstGeom>
            <a:solidFill>
              <a:srgbClr val="FFB703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4"/>
            <p:cNvSpPr txBox="1"/>
            <p:nvPr/>
          </p:nvSpPr>
          <p:spPr>
            <a:xfrm>
              <a:off x="876300" y="4141089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B703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866" name="Google Shape;866;p34"/>
            <p:cNvSpPr txBox="1"/>
            <p:nvPr/>
          </p:nvSpPr>
          <p:spPr>
            <a:xfrm>
              <a:off x="1381125" y="3952875"/>
              <a:ext cx="685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FFB703"/>
                  </a:solidFill>
                  <a:latin typeface="Inter"/>
                  <a:ea typeface="Inter"/>
                  <a:cs typeface="Inter"/>
                  <a:sym typeface="Inter"/>
                </a:rPr>
                <a:t>Scheduler: </a:t>
              </a:r>
              <a:r>
                <a:rPr b="0" i="0" lang="en-US" sz="11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Cosine Annealing with Warm Restarts (T₀=20) — avoids learning rate plateaus and helps optimization escape sharp local minima.</a:t>
              </a:r>
              <a:endParaRPr b="1" i="0" sz="1100" u="none" cap="none" strike="noStrike">
                <a:solidFill>
                  <a:srgbClr val="FFB70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67" name="Google Shape;867;p34"/>
          <p:cNvSpPr txBox="1"/>
          <p:nvPr/>
        </p:nvSpPr>
        <p:spPr>
          <a:xfrm>
            <a:off x="731520" y="4714875"/>
            <a:ext cx="7772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Inter"/>
                <a:ea typeface="Inter"/>
                <a:cs typeface="Inter"/>
                <a:sym typeface="Inter"/>
              </a:rPr>
              <a:t>Strategic optimization via variance-aware weighting ensures robust learning in highly sparse spatial domains.</a:t>
            </a:r>
            <a:endParaRPr b="0" i="1" sz="1000" u="none" cap="none" strike="noStrike">
              <a:solidFill>
                <a:srgbClr val="90AFC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5"/>
          <p:cNvSpPr/>
          <p:nvPr/>
        </p:nvSpPr>
        <p:spPr>
          <a:xfrm>
            <a:off x="0" y="0"/>
            <a:ext cx="548700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5"/>
          <p:cNvSpPr/>
          <p:nvPr/>
        </p:nvSpPr>
        <p:spPr>
          <a:xfrm>
            <a:off x="548640" y="0"/>
            <a:ext cx="8595300" cy="5143500"/>
          </a:xfrm>
          <a:prstGeom prst="rect">
            <a:avLst/>
          </a:prstGeom>
          <a:solidFill>
            <a:srgbClr val="1B2E45">
              <a:alpha val="85098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4" name="Google Shape;874;p35"/>
          <p:cNvGrpSpPr/>
          <p:nvPr/>
        </p:nvGrpSpPr>
        <p:grpSpPr>
          <a:xfrm>
            <a:off x="731520" y="320040"/>
            <a:ext cx="7772400" cy="861060"/>
            <a:chOff x="0" y="0"/>
            <a:chExt cx="7772400" cy="861060"/>
          </a:xfrm>
        </p:grpSpPr>
        <p:sp>
          <p:nvSpPr>
            <p:cNvPr id="875" name="Google Shape;875;p35"/>
            <p:cNvSpPr txBox="1"/>
            <p:nvPr/>
          </p:nvSpPr>
          <p:spPr>
            <a:xfrm>
              <a:off x="0" y="0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RESULTS, CHALLENGES &amp; CONCLUSIONS</a:t>
              </a:r>
              <a:endParaRPr b="1" i="0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5"/>
            <p:cNvSpPr txBox="1"/>
            <p:nvPr/>
          </p:nvSpPr>
          <p:spPr>
            <a:xfrm>
              <a:off x="0" y="274320"/>
              <a:ext cx="7620000" cy="4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1" i="0" lang="en-US" sz="2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Performance Metrics &amp; Model Optimization Insights</a:t>
              </a:r>
              <a:endParaRPr b="1" i="0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5"/>
            <p:cNvSpPr/>
            <p:nvPr/>
          </p:nvSpPr>
          <p:spPr>
            <a:xfrm>
              <a:off x="0" y="822960"/>
              <a:ext cx="7772400" cy="38100"/>
            </a:xfrm>
            <a:prstGeom prst="rect">
              <a:avLst/>
            </a:prstGeom>
            <a:solidFill>
              <a:srgbClr val="00B4D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8" name="Google Shape;878;p35"/>
          <p:cNvGrpSpPr/>
          <p:nvPr/>
        </p:nvGrpSpPr>
        <p:grpSpPr>
          <a:xfrm>
            <a:off x="731520" y="1333500"/>
            <a:ext cx="2476500" cy="3048000"/>
            <a:chOff x="0" y="0"/>
            <a:chExt cx="2476500" cy="3048000"/>
          </a:xfrm>
        </p:grpSpPr>
        <p:sp>
          <p:nvSpPr>
            <p:cNvPr id="879" name="Google Shape;879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35"/>
            <p:cNvSpPr txBox="1"/>
            <p:nvPr/>
          </p:nvSpPr>
          <p:spPr>
            <a:xfrm>
              <a:off x="95250" y="952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Absolute Density (ALL)</a:t>
              </a:r>
              <a:endParaRPr b="1" i="0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Metric 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MAE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0.000094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RMSE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0.000378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NRMSE % 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0.000192</a:t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MAPE %:  </a:t>
              </a:r>
              <a:r>
                <a:rPr b="1" i="0" lang="en-US" sz="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162.09</a:t>
              </a:r>
              <a:endParaRPr b="1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Accuracy Thresholds</a:t>
              </a:r>
              <a:endParaRPr b="1" i="0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0.1%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71.51%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0.5%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82.73%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1.0%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84.42%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5.0%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87.99%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1" name="Google Shape;881;p35"/>
          <p:cNvGrpSpPr/>
          <p:nvPr/>
        </p:nvGrpSpPr>
        <p:grpSpPr>
          <a:xfrm>
            <a:off x="3375660" y="1333500"/>
            <a:ext cx="2476500" cy="3048000"/>
            <a:chOff x="0" y="0"/>
            <a:chExt cx="2476500" cy="3048000"/>
          </a:xfrm>
        </p:grpSpPr>
        <p:sp>
          <p:nvSpPr>
            <p:cNvPr id="882" name="Google Shape;882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5"/>
            <p:cNvSpPr txBox="1"/>
            <p:nvPr/>
          </p:nvSpPr>
          <p:spPr>
            <a:xfrm>
              <a:off x="95250" y="95250"/>
              <a:ext cx="2286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Absolute Density (ACTIVE) ★</a:t>
              </a:r>
              <a:endParaRPr b="1" i="0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Metric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rgbClr val="CAF0F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MAE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0.000151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RMSE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0.000485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NRMSE %  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0.000248</a:t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MAPE % :  </a:t>
              </a:r>
              <a:r>
                <a:rPr b="1" i="0" lang="en-US" sz="9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0.0045</a:t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1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Accuracy Thresholds</a:t>
              </a:r>
              <a:endParaRPr b="1" i="0" sz="1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0.1%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89.07%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0.5%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100.00%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1.0%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100.00%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Within 5.0%</a:t>
              </a:r>
              <a:r>
                <a:rPr b="1" i="0" lang="en-US" sz="9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100.00%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35"/>
          <p:cNvGrpSpPr/>
          <p:nvPr/>
        </p:nvGrpSpPr>
        <p:grpSpPr>
          <a:xfrm>
            <a:off x="6019800" y="1333500"/>
            <a:ext cx="2476500" cy="3048000"/>
            <a:chOff x="0" y="0"/>
            <a:chExt cx="2476500" cy="3048000"/>
          </a:xfrm>
        </p:grpSpPr>
        <p:sp>
          <p:nvSpPr>
            <p:cNvPr id="885" name="Google Shape;885;p35"/>
            <p:cNvSpPr/>
            <p:nvPr/>
          </p:nvSpPr>
          <p:spPr>
            <a:xfrm>
              <a:off x="0" y="0"/>
              <a:ext cx="2476500" cy="3048000"/>
            </a:xfrm>
            <a:prstGeom prst="roundRect">
              <a:avLst>
                <a:gd fmla="val 3076" name="adj"/>
              </a:avLst>
            </a:prstGeom>
            <a:solidFill>
              <a:srgbClr val="15253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5"/>
            <p:cNvSpPr txBox="1"/>
            <p:nvPr/>
          </p:nvSpPr>
          <p:spPr>
            <a:xfrm>
              <a:off x="114300" y="114300"/>
              <a:ext cx="2247900" cy="281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Key Observations</a:t>
              </a:r>
              <a:endParaRPr b="1" i="0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Char char="●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Absolute predictions are </a:t>
              </a:r>
              <a:r>
                <a:rPr b="0" i="0" lang="en-US" sz="1000" u="none" cap="none" strike="noStrike">
                  <a:solidFill>
                    <a:srgbClr val="06D6A0"/>
                  </a:solidFill>
                  <a:latin typeface="Calibri"/>
                  <a:ea typeface="Calibri"/>
                  <a:cs typeface="Calibri"/>
                  <a:sym typeface="Calibri"/>
                </a:rPr>
                <a:t>excellent</a:t>
              </a: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2100" lvl="0" marL="4572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Calibri"/>
                <a:buChar char="●"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Delta predictions: weak signal but non-random.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-US" sz="1100" u="none" cap="none" strike="noStrike">
                  <a:solidFill>
                    <a:srgbClr val="00B4D8"/>
                  </a:solidFill>
                  <a:latin typeface="Calibri"/>
                  <a:ea typeface="Calibri"/>
                  <a:cs typeface="Calibri"/>
                  <a:sym typeface="Calibri"/>
                </a:rPr>
                <a:t>Challenges &amp; Solutions</a:t>
              </a:r>
              <a:endParaRPr b="1" i="0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Skewed Data: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log1p transform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Dominant Nodes: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weighted loss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Tiny Signal: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normalization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AF0F8"/>
                  </a:solidFill>
                  <a:latin typeface="Calibri"/>
                  <a:ea typeface="Calibri"/>
                  <a:cs typeface="Calibri"/>
                  <a:sym typeface="Calibri"/>
                </a:rPr>
                <a:t>Static Nodes:</a:t>
              </a:r>
              <a:b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1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masking</a:t>
              </a:r>
              <a:endParaRPr b="0" i="0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7" name="Google Shape;887;p35"/>
          <p:cNvSpPr txBox="1"/>
          <p:nvPr/>
        </p:nvSpPr>
        <p:spPr>
          <a:xfrm>
            <a:off x="731520" y="4524375"/>
            <a:ext cx="7772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0AFC5"/>
                </a:solidFill>
                <a:latin typeface="Calibri"/>
                <a:ea typeface="Calibri"/>
                <a:cs typeface="Calibri"/>
                <a:sym typeface="Calibri"/>
              </a:rPr>
              <a:t>Impact of Data Scale: Increased dataset size is projected to drive superior model generalization and robustness across heterogeneous spatial domains.</a:t>
            </a:r>
            <a:endParaRPr b="0" i="1" sz="1000" u="none" cap="none" strike="noStrike">
              <a:solidFill>
                <a:srgbClr val="90AFC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