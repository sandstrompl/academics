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0"/>
            <a:ext cx="850392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82880"/>
            <a:ext cx="2926080" cy="2926080"/>
          </a:xfrm>
          <a:prstGeom prst="ellipse">
            <a:avLst/>
          </a:prstGeom>
          <a:solidFill>
            <a:srgbClr val="0077A8">
              <a:alpha val="30000"/>
            </a:srgbClr>
          </a:solidFill>
          <a:ln w="254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103120"/>
            <a:ext cx="1828800" cy="18288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200400"/>
            <a:ext cx="1097280" cy="1097280"/>
          </a:xfrm>
          <a:prstGeom prst="ellipse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914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Interaction Prediction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Evolving Graphs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Dual-Approach Study: Sparse Spectral Set Prediction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Dense Electron-Density Forecasting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944368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domain: ML-accelerated quantum dynamics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repositories, two formulations, one shared scientific objective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in scope: ammonia (39 peaks) and water (55 peaks)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Five-section structured technical 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E0F2F8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612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161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Framing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 surrogate models matter for quantum spectroscopy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56232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9202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Electron-GNN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194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architecture evolution V1→V3, results and failure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8503920" cy="658368"/>
          </a:xfrm>
          <a:prstGeom prst="rect">
            <a:avLst/>
          </a:prstGeom>
          <a:solidFill>
            <a:srgbClr val="E0F2F8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15184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67919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679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Evolving Graphs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9535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electron-density forecasting across multiple time horizons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74136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7413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4381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Cross-Approach Comparison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7124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metrics, output forms, deployment profiles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33088"/>
            <a:ext cx="8503920" cy="658368"/>
          </a:xfrm>
          <a:prstGeom prst="rect">
            <a:avLst/>
          </a:prstGeom>
          <a:solidFill>
            <a:srgbClr val="E0F2F8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3308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41970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4197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Future 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4714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roadmap, benchmark priority, dataset scaling plan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Scientific, engineering, and modeling rationale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4864" cy="17190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7043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444752"/>
            <a:ext cx="3995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RT-TDDFT workflows are expensive for iterative exploration — each run requires real-time electron propagation at quantum accuracy.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17190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17043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Acceleration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44752"/>
            <a:ext cx="3995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ML surrogates can dramatically accelerate spectroscopy and dynamics workflows, enabling rapid molecular screening.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54864" cy="17190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9067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3364992"/>
            <a:ext cx="3995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utility requires outputs that connect back to chemistry: peak frequencies, amplitudes, and spectral shape carry physical meaning.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7190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09067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364992"/>
            <a:ext cx="3995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graphs align naturally with relational structure — atoms as nodes, bonds and interactions as edges.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alone is insufficient — scientific utility requires outputs that are physically meaningful and interpretable.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Theme, Two Prediction Targets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formulations of the same underlying electron dynamics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206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Spectral Prediction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374904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transition frequencies {ωₖ}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transition amplitudes {Bₖ}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absorption spectrum via Lorentzian sum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compact peak-set representation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7448" y="105156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051560"/>
            <a:ext cx="420624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Density Forecasting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64608" y="1856232"/>
            <a:ext cx="374904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electron density at future timesteps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temporal predictions (t+5, t+10, t+15)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full spatial density field evolution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continuous physical state trajectory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07408" y="2560320"/>
            <a:ext cx="320040" cy="73152"/>
          </a:xfrm>
          <a:prstGeom prst="rect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343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Challenge: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5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Low-data, high-dimensional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5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learning via GNNs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Characteristics and Constraints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RT-TDDFT simulation outputs to learning targets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508760" cy="749808"/>
          </a:xfrm>
          <a:prstGeom prst="rect">
            <a:avLst/>
          </a:prstGeom>
          <a:solidFill>
            <a:srgbClr val="0077A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RT-TDDFT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Run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10512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39112" y="1188720"/>
            <a:ext cx="1508760" cy="749808"/>
          </a:xfrm>
          <a:prstGeom prst="rect">
            <a:avLst/>
          </a:prstGeom>
          <a:solidFill>
            <a:srgbClr val="1B2E45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1188720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9584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8184" y="1188720"/>
            <a:ext cx="1508760" cy="749808"/>
          </a:xfrm>
          <a:prstGeom prst="rect">
            <a:avLst/>
          </a:prstGeom>
          <a:solidFill>
            <a:srgbClr val="1B2E45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1188720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extract_peaks.py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48656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7256" y="1188720"/>
            <a:ext cx="1508760" cy="749808"/>
          </a:xfrm>
          <a:prstGeom prst="rect">
            <a:avLst/>
          </a:prstGeom>
          <a:solidFill>
            <a:srgbClr val="0077A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77256" y="1188720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data/processed/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*.pt files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67728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96328" y="1188720"/>
            <a:ext cx="1508760" cy="749808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96328" y="1188720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148840"/>
            <a:ext cx="4206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148840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A: Physics-Guided Peak Labels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67919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 response decomposed into transition components via Padé roots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and positive LASSO identify active oscillations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extraction: {(ωₖ, Bₖ)} — frequency + amplitude pairs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focuses on structure-to-parameter mapping, not raw denoising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7448" y="2148840"/>
            <a:ext cx="4206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2148840"/>
            <a:ext cx="420624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B: Raw Temporal Density Files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267919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Time-indexed electron density files (rvlab.tdscf.rho.XXXXX)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files spanning timesteps 0–2000 with increment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file: grid index + density value (scientific notation)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built as supervised temporal samples with normalization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646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scarcity is the central bottleneck — only 2 processed molecules (ammonia: 39 peaks, water: 55 peaks)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Physics Becomes Graph Learning Inputs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choices drive architectural divergence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1005840"/>
            <a:ext cx="32918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Electron-GNN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Evolving Graphs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8503920" cy="658368"/>
          </a:xfrm>
          <a:prstGeom prst="rect">
            <a:avLst/>
          </a:prstGeom>
          <a:solidFill>
            <a:srgbClr val="EAF3F8"/>
          </a:solidFill>
          <a:ln w="6350">
            <a:solidFill>
              <a:srgbClr val="DD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38528" y="1472184"/>
            <a:ext cx="36576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417320"/>
            <a:ext cx="32461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— typed with one-hot element encoding over [H, C, N, O, F]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1472184"/>
            <a:ext cx="36576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417320"/>
            <a:ext cx="3383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grid points — electron density values at each grid location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130552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30552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38528" y="2185416"/>
            <a:ext cx="36576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2130552"/>
            <a:ext cx="32461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neighborhood: directed edge (i→j) if ‖rᵢ - rⱼ‖₂ ≤ 5.0 a.u.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21808" y="2185416"/>
            <a:ext cx="36576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130552"/>
            <a:ext cx="3383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local neighborhood + feature-similarity logic across spatial grid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43784"/>
            <a:ext cx="8503920" cy="658368"/>
          </a:xfrm>
          <a:prstGeom prst="rect">
            <a:avLst/>
          </a:prstGeom>
          <a:solidFill>
            <a:srgbClr val="EAF3F8"/>
          </a:solidFill>
          <a:ln w="6350">
            <a:solidFill>
              <a:srgbClr val="DD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43784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38528" y="2898648"/>
            <a:ext cx="36576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843784"/>
            <a:ext cx="32461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vector: [dᵢⱼ, Δx, Δy, Δz] — distance and directional displacement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21808" y="2898648"/>
            <a:ext cx="36576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843784"/>
            <a:ext cx="3383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adjacency encoding with density-based similarity measures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57016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38528" y="3611880"/>
            <a:ext cx="36576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3557016"/>
            <a:ext cx="32461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sparse set: {(ωₖ, Bₖ)} — variable-length per molecule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21808" y="3611880"/>
            <a:ext cx="36576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557016"/>
            <a:ext cx="3383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node-level field: ρ(r, t+Δt) for future timestep(s)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70248"/>
            <a:ext cx="8503920" cy="658368"/>
          </a:xfrm>
          <a:prstGeom prst="rect">
            <a:avLst/>
          </a:prstGeom>
          <a:solidFill>
            <a:srgbClr val="EAF3F8"/>
          </a:solidFill>
          <a:ln w="6350">
            <a:solidFill>
              <a:srgbClr val="DD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70248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38528" y="4325112"/>
            <a:ext cx="36576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4270248"/>
            <a:ext cx="32461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Permutation-invariant Hungarian bipartite matching loss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21808" y="4325112"/>
            <a:ext cx="36576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4270248"/>
            <a:ext cx="3383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MSE regression over all spatial grid nodes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to Spectrum-Relevant Peak Sets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Electron-GNN: Version evolution V1 → V2 → V3 (Hybrid)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Extraction Before Learning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Physics-guided pre-processing for tiny-data tractability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E0F2F8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88720"/>
            <a:ext cx="475488" cy="47548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61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RT-TDDFT Dipole Traces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35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μₐ = {(tₙ, μₐ(tₙ))} for a ∈ {x, y, z}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7190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938528"/>
            <a:ext cx="475488" cy="47548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Padé Root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1854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approximation identifies candidate oscillation frequencies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468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8503920" cy="658368"/>
          </a:xfrm>
          <a:prstGeom prst="rect">
            <a:avLst/>
          </a:prstGeom>
          <a:solidFill>
            <a:srgbClr val="E0F2F8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688336"/>
            <a:ext cx="475488" cy="47548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660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Clustering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935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frequencies grouped to remove near-duplicates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32186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346704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438144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38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410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LASSO Regression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685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μₓ(t) ≈ Σ Bₖ sin(ωₖt), Bₖ ≥ 0, threshold Bₖ &gt; 1e-8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39684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096512"/>
            <a:ext cx="8503920" cy="658368"/>
          </a:xfrm>
          <a:prstGeom prst="rect">
            <a:avLst/>
          </a:prstGeom>
          <a:solidFill>
            <a:srgbClr val="E0F2F8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418795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Peak Labels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4434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{(ωₖ, Bₖ)} stored as .pt files in data/processed/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Anatomy: V1, V2, Hybrid V3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tower design for stable small-data learning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560320" cy="3474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FREQUENCY TOWER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SpectralEquivariantGNNV1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GNN encoder backbone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K_max=50 frequency slots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Outputs: probabilities + frequencies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frequency prior behavior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 loss weight: 12×Lω + Lprob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560320" cy="3474720"/>
          </a:xfrm>
          <a:prstGeom prst="rect">
            <a:avLst/>
          </a:prstGeom>
          <a:solidFill>
            <a:srgbClr val="FFF8E8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56032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9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AMPLITUDE TOWER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SpectralEquivariantGNN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GATv2 encoder + set decoder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DETR-style learned query slots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Heads: prob / freq / amp / count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Log-scale amplitude supervision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Amp loss: 8×Lω + 8×Lamp + Lspec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651760" cy="3474720"/>
          </a:xfrm>
          <a:prstGeom prst="rect">
            <a:avLst/>
          </a:prstGeom>
          <a:solidFill>
            <a:srgbClr val="F0F8E8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88720"/>
            <a:ext cx="26517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HYBRID COMBINER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combine_two_tower_predictions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 candidates from V1 slots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 signal from V2 head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Frequency-aware assignment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Overflow: borrows amp freqs</a:t>
            </a:r>
            <a:endParaRPr lang="en-US" sz="950" dirty="0"/>
          </a:p>
          <a:p>
            <a:pPr indent="0" marL="0">
              <a:buNone/>
            </a:pPr>
            <a:r>
              <a:rPr lang="en-US" sz="9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Conservative confidence fusion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5216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Permutation-Invariant Supervision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matching and bipartite loss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3840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HUNGARIAN MATCHING?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form an unordered set — slot index has no physical meaning.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Slot-index supervision would be ambiguous: the 3rd predicted slot has no reason to match the 3rd true peak.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solves the bipartite assignment optimally in O(n³), giving a non-ambiguous matched loss.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non-negotiable for correct gradient flow in set-prediction.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078992"/>
            <a:ext cx="4434840" cy="38404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EQUATIONS (from losses.py)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cost: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7360"/>
            <a:ext cx="4114800" cy="228600"/>
          </a:xfrm>
          <a:prstGeom prst="rect">
            <a:avLst/>
          </a:prstGeom>
          <a:solidFill>
            <a:srgbClr val="1D3248"/>
          </a:solidFill>
          <a:ln w="12700">
            <a:solidFill>
              <a:srgbClr val="1D32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737360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Cᵢⱼ = 10|ωᵢ − ωⱼᵗ| + |Bᵢ − Bⱼᵗ|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loss: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2258568"/>
            <a:ext cx="4114800" cy="228600"/>
          </a:xfrm>
          <a:prstGeom prst="rect">
            <a:avLst/>
          </a:prstGeom>
          <a:solidFill>
            <a:srgbClr val="1D3248"/>
          </a:solidFill>
          <a:ln w="12700">
            <a:solidFill>
              <a:srgbClr val="1D32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258568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L_bip = 8Lω + 8L_amp + 1.2L_prob + 1.0L_unmatched + 6.0L_sum + 0.5L_count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551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Log-amplitude: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779776"/>
            <a:ext cx="4114800" cy="228600"/>
          </a:xfrm>
          <a:prstGeom prst="rect">
            <a:avLst/>
          </a:prstGeom>
          <a:solidFill>
            <a:srgbClr val="1D3248"/>
          </a:solidFill>
          <a:ln w="12700">
            <a:solidFill>
              <a:srgbClr val="1D32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779776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L_amp = SmoothL1(log(1+10⁴B_pred), log(1+10⁴B_true))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072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tower: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300984"/>
            <a:ext cx="4114800" cy="228600"/>
          </a:xfrm>
          <a:prstGeom prst="rect">
            <a:avLst/>
          </a:prstGeom>
          <a:solidFill>
            <a:srgbClr val="1D3248"/>
          </a:solidFill>
          <a:ln w="12700">
            <a:solidFill>
              <a:srgbClr val="1D32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300984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L_freq = 12Lω + Lprob + 0.3L_count + 0.02L_unmatched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593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amp obj: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822192"/>
            <a:ext cx="4114800" cy="228600"/>
          </a:xfrm>
          <a:prstGeom prst="rect">
            <a:avLst/>
          </a:prstGeom>
          <a:solidFill>
            <a:srgbClr val="1D3248"/>
          </a:solidFill>
          <a:ln w="12700">
            <a:solidFill>
              <a:srgbClr val="1D32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822192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L_bip + 0.3 × L_spec_auto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auto: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343400"/>
            <a:ext cx="4114800" cy="228600"/>
          </a:xfrm>
          <a:prstGeom prst="rect">
            <a:avLst/>
          </a:prstGeom>
          <a:solidFill>
            <a:srgbClr val="1D3248"/>
          </a:solidFill>
          <a:ln w="12700">
            <a:solidFill>
              <a:srgbClr val="1D3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343400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L_spec_auto = L_time + 0.5L_spec + 0.5L_area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Tactics Under Data Scarcity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training protocol — engineering for reproducibility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76656"/>
          </a:xfrm>
          <a:prstGeom prst="rect">
            <a:avLst/>
          </a:prstGeom>
          <a:solidFill>
            <a:srgbClr val="EBF6FA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1978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61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Tower-Separate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amplitude towers are trained with independent schedules. epochs_freq=0 by default — V1 frequency prior is frozen to preserve stability on tiny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1965960"/>
            <a:ext cx="457200" cy="4572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929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Freezing + Teacher Regularization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12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High-capacity frequency retraining uses warmup freeze phase, then unfreeze transition with teacher slot anchoring to V1 predictions to prevent drift.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33472"/>
            <a:ext cx="8503920" cy="676656"/>
          </a:xfrm>
          <a:prstGeom prst="rect">
            <a:avLst/>
          </a:prstGeom>
          <a:solidFill>
            <a:srgbClr val="EB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2734056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Quality-Gated Checkpointing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980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checkpoints promoted using Q = overlap − 0.25 × count_error. Best quality checkpoint selected, not most recent.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01568"/>
            <a:ext cx="850392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502152"/>
            <a:ext cx="457200" cy="4572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4655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749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Patience-controlled amp_early_stop_patience (default 12) with minimum delta guard. Prevents overfitting on tiny 2-molecule dataset.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69664"/>
            <a:ext cx="8503920" cy="676656"/>
          </a:xfrm>
          <a:prstGeom prst="rect">
            <a:avLst/>
          </a:prstGeom>
          <a:solidFill>
            <a:srgbClr val="EBF6FA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048" y="4270248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233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 Policy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5171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fresh retraining underperforms best_model.pth in hybrid eval, production keeps historical baseline. Never silently promote a weaker checkpoint.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Peak Decoding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V3 inference — from towers to reconstructed spectrum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100584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508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Freq Slots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prob threshold (0.65) or count head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100584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508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7432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Amp Slots + 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Confidence-ranked amplitude and count estimate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143000"/>
            <a:ext cx="2743200" cy="100584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508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143000"/>
            <a:ext cx="2743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Assignment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|ωf − ωa| + 0.05(1−pa) → linear_sum_assignment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90672" y="15087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25312" y="15087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8503920" cy="11430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3172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Handling (enabled by default)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2697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desired count (from V2 head) exceeds available V1 frequency slots, additional candidates are borrowed from the amplitude tower's predicted frequencies subject to minimum separation δ_min = 0.005. This prevents artificial peak-count truncation when water's 55 true peaks exceed V1's 50 slots.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13258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508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Reconstruction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069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S(ω) = Σₖ Bₖ · γ / [(ω − ωₖ)² + γ²]    where γ = 0.015 (Lorentzian broadening)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grid: ω ∈ [0.01, 5.0], 1024 points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Evidence for Electron-GNN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snapshot — latest stable evaluation baseline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292608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097280"/>
                <a:gridCol w="1097280"/>
                <a:gridCol w="1005840"/>
                <a:gridCol w="777240"/>
                <a:gridCol w="7772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Ammonia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Ammonia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Ammonia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6.50e-5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9.33e-5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160520"/>
            <a:ext cx="8503920" cy="274320"/>
          </a:xfrm>
          <a:prstGeom prst="rect">
            <a:avLst/>
          </a:prstGeom>
          <a:solidFill>
            <a:srgbClr val="F5FAFE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160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1788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remains strongest frequency prior on this tiny dataset (Freq MAE ~0.03 for ammonia)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solidFill>
            <a:srgbClr val="F5FAFE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4480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4988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delivers lowest amplitude MAE but weaker frequency quality (Freq MAE up to 0.72)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solidFill>
            <a:srgbClr val="E8F8F0"/>
          </a:solidFill>
          <a:ln w="3810">
            <a:solidFill>
              <a:srgbClr val="DDE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4800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4818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achieves best spectral overlap — the operationally relevant metric for spectroscopy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Diagnostic Plots Show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model behavior beyond aggregate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Training &amp; Validation Loss Curves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184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monitoring across amplitude tower epochs. Early stopping at epoch 28 in latest retrain — best quality checkpoint reached around epoch 16 with quality score 0.547.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27448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097280"/>
            <a:ext cx="64008" cy="17373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Parity Plots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64608" y="1536192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6184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true frequency scatter after Hungarian matching. Reveals frequency drift — key indicator when V1 prior would outperform retrained tower. Water shows larger deviation due to 55-peak complexity.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64008" cy="1737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  Spectrum Overlay Plots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387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reconstructed vs. true Lorentzian spectrum curves. Overlap = ⟨Spred, Strue⟩ / (‖Spred‖‖Strue‖). Shape-level agreement more diagnostic than isolated MAE values.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3017520"/>
            <a:ext cx="64008" cy="1737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Checkpoint Quality Dashboard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64608" y="3456432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5387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Auto-scores amplitude checkpoints using Q = overlap − 0.25×count_error. Dashboard displays checkpoint comparison table before model selection. Protects against silently promoting weak models.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V4 Was Archived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engineering decision — not a negative outcome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931920" cy="3886200"/>
          </a:xfrm>
          <a:prstGeom prst="rect">
            <a:avLst/>
          </a:prstGeom>
          <a:solidFill>
            <a:srgbClr val="FFF3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38862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B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INTENDED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module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post-decode physics checking to verify peak consistency and physical plausibility.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refiner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of peak positions to improve spectral reconstruction quality.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7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enforce physics consistency and improve decode-stage precision.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078992"/>
            <a:ext cx="4434840" cy="38862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078992"/>
            <a:ext cx="64008" cy="3886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FAILURE MODES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4568" y="1508760"/>
            <a:ext cx="4114800" cy="65836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1536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Training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1801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complexity exceeded the data regime — tiny 2-molecule dataset insufficient to train verifier and refiner reliably.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44568" y="2286000"/>
            <a:ext cx="4114800" cy="65836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008" y="2313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Fragility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6008" y="25786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stage introduced additional failure points. Small prediction errors amplified through iterative refinement.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44568" y="3063240"/>
            <a:ext cx="4114800" cy="65836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4636008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Robust Gain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3355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evaluation: no reproducible improvement over V3 hybrid overlap or frequency quality in controlled benchmarks.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44568" y="3840480"/>
            <a:ext cx="4114800" cy="65836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4636008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Archive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6008" y="4133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preserved in archive/v4_failed_experiment/ for traceability, but excluded from dashboard, training, and evaluation paths.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Electron-Density Forecasting on Evolving Graphs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node-level field prediction across temporal horizons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Density Files to Learning Graphs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format, graph construction, and normalization strategy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858768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pattern: rvlab.tdscf.rho.XXXXX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contains: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 1: Grid point index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 2: Density value (scientific notation)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401 files, timesteps 0–2000, Δt=5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Molecules: ammonia_x/, water_x/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applied to stabilize optimization and enable cross-timestep comparability.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206240" cy="3858768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78992"/>
            <a:ext cx="64008" cy="3858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73168" y="1508760"/>
            <a:ext cx="3931920" cy="594360"/>
          </a:xfrm>
          <a:prstGeom prst="rect">
            <a:avLst/>
          </a:prstGeom>
          <a:solidFill>
            <a:srgbClr val="E0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5270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grid points carrying density signal as node features: ρ(r, 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2167128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21854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 1: Local Neighborhood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connectivity based on spatial proximity between grid points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2825496"/>
            <a:ext cx="3931920" cy="594360"/>
          </a:xfrm>
          <a:prstGeom prst="rect">
            <a:avLst/>
          </a:prstGeom>
          <a:solidFill>
            <a:srgbClr val="E0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28437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 2: Sequential Neighbors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adjacency along grid ordering for local density continuity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3483864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3502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Graph Convolutional layers with batch normalization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4142232"/>
            <a:ext cx="3931920" cy="594360"/>
          </a:xfrm>
          <a:prstGeom prst="rect">
            <a:avLst/>
          </a:prstGeom>
          <a:solidFill>
            <a:srgbClr val="E0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4160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Samples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4398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built as (input_timesteps, target_timestep) supervised pairs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1: Multi-Input → Single-Future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electron_density_gnn_multi_input.ipynb — Contextual near-term forecasting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77240" cy="7772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1188720"/>
            <a:ext cx="777240" cy="7772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188720"/>
            <a:ext cx="777240" cy="7772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536192"/>
            <a:ext cx="640080" cy="91440"/>
          </a:xfrm>
          <a:prstGeom prst="rect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8036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188720"/>
            <a:ext cx="1097280" cy="77724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11887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(num_nodes, 3) — 3 historical timestep channels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(num_nodes, 1) — predicted density at t+5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078992"/>
            <a:ext cx="3703320" cy="3858768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0" y="1078992"/>
            <a:ext cx="64008" cy="3858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1170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USE CASES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76088" y="150876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historical trajectory context for improved short-term accuracy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for near-term predictions (t+5)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Short-horizon stability — contextual smoothing reduces noise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local autoregressive conditioning through graph message passing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sequential observations available, high short-term accuracy required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2: Single-Input → Multi-Horizon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electron_density_gnn_multi_future.ipynb — Deployment-flexible trajectory prediction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7772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887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1188720"/>
            <a:ext cx="1417320" cy="777240"/>
          </a:xfrm>
          <a:prstGeom prst="rect">
            <a:avLst/>
          </a:prstGeom>
          <a:solidFill>
            <a:srgbClr val="1B2E45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1188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914400"/>
            <a:ext cx="1005840" cy="68580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9144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16152"/>
            <a:ext cx="411480" cy="73152"/>
          </a:xfrm>
          <a:prstGeom prst="rect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828800"/>
            <a:ext cx="1005840" cy="68580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18288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130552"/>
            <a:ext cx="411480" cy="73152"/>
          </a:xfrm>
          <a:prstGeom prst="rect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2743200"/>
            <a:ext cx="1005840" cy="68580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2743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044952"/>
            <a:ext cx="411480" cy="73152"/>
          </a:xfrm>
          <a:prstGeom prst="rect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(num_nodes, 1) — current state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(num_nodes, 3) — densities at t+5, t+10, t+15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078992"/>
            <a:ext cx="3703320" cy="3858768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1078992"/>
            <a:ext cx="64008" cy="38587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1170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76088" y="150876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input requirements — only current state needed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full 3-horizon trajectory in single forward pass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 + 3 separate output heads is parameter-efficient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long-term planning when historical buffers unavailable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some contextual accuracy for deployment flexibility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only current state or multiple future steps needed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Design for Dense Forecasting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metrics, baselines, and visual diagnostics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over node-level density predictions with horizon-aware reporting. Each of the 3 future heads supervised independently against ground-truth density files.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27448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097280"/>
            <a:ext cx="64008" cy="1737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64608" y="1499616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57276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 &gt;0.85 = Excellent, 0.70–0.85 = Good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per horizon: should be &lt;2% of data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improvement: should exceed trivial predictors by &gt;10%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64008" cy="17373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9300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baseline (predict current state as future) and mean baseline evaluated to verify model learns non-trivial temporal dynamics — not just persistence.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3017520"/>
            <a:ext cx="64008" cy="1737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Diagnostics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64608" y="3419856"/>
            <a:ext cx="3931920" cy="27432"/>
          </a:xfrm>
          <a:prstGeom prst="rect">
            <a:avLst/>
          </a:prstGeom>
          <a:solidFill>
            <a:srgbClr val="DDE8EE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49300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overlays: predicted vs. true density curves across timesteps.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diagnostics: predicted density value distributions.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checks per horizon.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Performance and Caution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within-domain fit — generalization remains open 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828800" cy="100584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8288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527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R² across all horizons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1143000"/>
            <a:ext cx="1828800" cy="100584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1143000"/>
            <a:ext cx="1828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2527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1755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1 MAE (t+5)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1143000"/>
            <a:ext cx="1828800" cy="100584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143000"/>
            <a:ext cx="1828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2527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0" y="1755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2 MAE (t+10)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55080" y="1143000"/>
            <a:ext cx="1828800" cy="100584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143000"/>
            <a:ext cx="1828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2527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1755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3 MAE (t+15)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331720"/>
            <a:ext cx="8503920" cy="731520"/>
          </a:xfrm>
          <a:prstGeom prst="rect">
            <a:avLst/>
          </a:prstGeom>
          <a:solidFill>
            <a:srgbClr val="FFF8E8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331720"/>
            <a:ext cx="64008" cy="7315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Grade: C ⚠ — "NEEDS IMPROVEMENT" (automated grader verdict from model_performance_summary.txt)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2715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R²=0.998 looks excellent by regression standards, but "Improvement over Baseline: −305,636.8%" indicates the model may not beat trivial predictors on absolute density scale. Physics constraints recommended.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200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20040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310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R² Interpretation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37033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R²=0.998 indicates extremely strong variance explanation within the current molecular domain. MAE stability across horizons (0.342–0.345) suggests no significant degradation with forecast distance.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200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200400"/>
            <a:ext cx="274320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3310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Caution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9272" y="37033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evaluated only on ammonia and water. External generalization to diverse chemistry cannot be claimed without broader validation. Data diversity is the open bottleneck.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3200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3200400"/>
            <a:ext cx="2743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310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 (per summary)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9632" y="37033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physics conservation law constraints to loss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Ensemble multiple model predictions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Document and prepare results for publication once constraints added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vs Approach B: Side-by-Side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strengths — not competing approaches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1005840"/>
            <a:ext cx="324612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005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Electron-GNN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Evolving Graphs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8503920" cy="493776"/>
          </a:xfrm>
          <a:prstGeom prst="rect">
            <a:avLst/>
          </a:prstGeom>
          <a:solidFill>
            <a:srgbClr val="EBF6FA"/>
          </a:solidFill>
          <a:ln w="5080">
            <a:solidFill>
              <a:srgbClr val="DD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15544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38528" y="142646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371600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peak-set: {(ωₖ, Bₖ)} + reconstructed absorption spectrum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76088" y="1426464"/>
            <a:ext cx="36576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37160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spatial field: ρ(r, t+Δt) at every grid node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897380"/>
            <a:ext cx="8503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D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97380"/>
            <a:ext cx="15544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38528" y="195224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897380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Permutation-invariant Hungarian bipartite matching loss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76088" y="1952244"/>
            <a:ext cx="36576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89738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MSE regression across all spatial nodes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23160"/>
            <a:ext cx="8503920" cy="493776"/>
          </a:xfrm>
          <a:prstGeom prst="rect">
            <a:avLst/>
          </a:prstGeom>
          <a:solidFill>
            <a:srgbClr val="EBF6FA"/>
          </a:solidFill>
          <a:ln w="5080">
            <a:solidFill>
              <a:srgbClr val="DD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23160"/>
            <a:ext cx="15544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38528" y="247802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423160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overlap, matched Freq-MAE, matched Amp-MAE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76088" y="2478024"/>
            <a:ext cx="36576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42316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per horizon, MAE per horizon, baseline comparison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948940"/>
            <a:ext cx="8503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D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48940"/>
            <a:ext cx="15544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Results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38528" y="300380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948940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overlap 0.647 (ammonia), 0.492 (water)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76088" y="3003804"/>
            <a:ext cx="36576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294894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R²=0.998 across t+5, t+10, t+15 horizons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474720"/>
            <a:ext cx="8503920" cy="493776"/>
          </a:xfrm>
          <a:prstGeom prst="rect">
            <a:avLst/>
          </a:prstGeom>
          <a:solidFill>
            <a:srgbClr val="EBF6FA"/>
          </a:solidFill>
          <a:ln w="5080">
            <a:solidFill>
              <a:srgbClr val="DD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74720"/>
            <a:ext cx="15544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Profile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38528" y="352958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3474720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interpretable — peaks map to quantum transitions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76088" y="3529584"/>
            <a:ext cx="36576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47472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State-complete — full density field retained at each step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000500"/>
            <a:ext cx="850392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D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00500"/>
            <a:ext cx="15544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38528" y="405536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4000500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Spectroscopy workflow: structure → predicted spectrum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76088" y="4055364"/>
            <a:ext cx="36576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400050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forecasting: current state → future density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526280"/>
            <a:ext cx="8503920" cy="493776"/>
          </a:xfrm>
          <a:prstGeom prst="rect">
            <a:avLst/>
          </a:prstGeom>
          <a:solidFill>
            <a:srgbClr val="EBF6FA"/>
          </a:solidFill>
          <a:ln w="5080">
            <a:solidFill>
              <a:srgbClr val="DDE8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526280"/>
            <a:ext cx="15544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938528" y="4581144"/>
            <a:ext cx="36576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4526280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calibration on tiny dataset (2 molecules)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76088" y="4581144"/>
            <a:ext cx="36576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452628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improvement and physics constraint enforcement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Two Pipelines Can Be Unified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roadmap: benchmark rigor and uncertainty-aware scaling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8892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88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536192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shared benchmark splits across both formulations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per-sample quality flags in processed .pt files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multi-checkpoint A/B selector to dashboard sidebar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true validation split once dataset grows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078992"/>
            <a:ext cx="278892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078992"/>
            <a:ext cx="278892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0789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536192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transfer: dense density forecasts → spectral-set priors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uncertainty calibration heads for both sparse and dense outputs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molecule diversity before adding deeper architectural complexity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frequency tower at K_max ≥ 64 on larger 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1078992"/>
            <a:ext cx="278892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1078992"/>
            <a:ext cx="278892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0789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536192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2 molecules to multi-molecule benchmark set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physics constraints selectively where empirically stabilizing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RT-TDDFT and linear-response baselines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automated dataset generation for HPC campaign control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859536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7772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61872"/>
            <a:ext cx="8046720" cy="621792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335024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53312" y="1298448"/>
            <a:ext cx="7315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learning is effective for electron-interaction modeling in two complementary output regimes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1993392"/>
            <a:ext cx="8046720" cy="621792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" y="206654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53312" y="2029968"/>
            <a:ext cx="7315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sparse-set modeling (V3) is the most robust spectroscopy-oriented workflow currently available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2724912"/>
            <a:ext cx="8046720" cy="621792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" y="27980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2761488"/>
            <a:ext cx="7315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multi-horizon forecasting demonstrates strong local predictive fidelity (R²=0.998 across 3 horizons)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3456432"/>
            <a:ext cx="8046720" cy="621792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3529584"/>
            <a:ext cx="457200" cy="4572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3493008"/>
            <a:ext cx="7315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 (2 molecules) is the dominant limitation — drives all next-phase planning decisions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8046720" cy="621792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" y="4261104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53312" y="4224528"/>
            <a:ext cx="7315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next step: integrated, reproducible cross-approach benchmark with broader chemistry diversity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8646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are valuable — the next scientific gain comes from disciplined integration and broader validation.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 Interaction Prediction as Evolving Graphs</dc:title>
  <dc:subject>PptxGenJS Presentation</dc:subject>
  <dc:creator>Research Team</dc:creator>
  <cp:lastModifiedBy>Research Team</cp:lastModifiedBy>
  <cp:revision>1</cp:revision>
  <dcterms:created xsi:type="dcterms:W3CDTF">2026-04-12T15:31:58Z</dcterms:created>
  <dcterms:modified xsi:type="dcterms:W3CDTF">2026-04-12T15:31:58Z</dcterms:modified>
</cp:coreProperties>
</file>